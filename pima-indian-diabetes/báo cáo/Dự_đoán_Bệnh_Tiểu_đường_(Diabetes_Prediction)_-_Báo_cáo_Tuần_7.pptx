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3" d="100"/>
          <a:sy n="103" d="100"/>
        </p:scale>
        <p:origin x="76"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052121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mừng thầy và các bạn đến với buổi báo cáo tuần 7 của nhóm chúng em. Hôm nay, chúng ta sẽ cùng tìm hiểu về dự án dự đoán bệnh tiểu đường. Chúng em sẽ trình bày tiến độ và những kết quả đã đạt được. Dự án này tập trung vào việc sử dụng các chỉ số sinh học để đưa ra dự đoán. Chúng ta sẽ khám phá cách trí tuệ nhân tạo có thể hỗ trợ trong lĩnh vực y tế. Tiếp theo, chúng ta sẽ đi sâu vào bối cảnh và vấn đề mà dự án này giải quyết.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Trong y học truyền thống, việc chẩn đoán tiểu đường thường gặp nhiều bất tiện. Bệnh nhân phải trải qua các xét nghiệm xâm lấn và chờ đợi kết quả lâu. Điều này gây ra sự không thoải mái và đôi khi kết quả còn bị ảnh hưởng bởi yếu tố thời điểm. Để giải quyết những thách thức này, chúng em đề xuất một giải pháp dựa trên Machine Learning. Chúng tôi sẽ sử dụng các chỉ số sinh học sẵn có để dự đoán nguy cơ mắc bệnh. Phương pháp này giúp giảm thiểu sự xâm lấn và tăng tính khách quan. Bây giờ, chúng ta sẽ xem xét quy trình mà chúng em đã thực hiện để đạt được mục tiêu này.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đảm bảo tính chính xác và khách quan, chúng em đã xây dựng một quy trình thử nghiệm tịnh tiến gồm 6 giai đoạn. Quy trình này giúp chúng em kiểm soát chặt chẽ các biến số và đánh giá chính xác đóng góp của từng kỹ thuật. Chúng em cũng đảm bảo tránh rò rỉ dữ liệu, một yếu tố quan trọng để mô hình hoạt động hiệu quả. Việc này giúp chúng em tối ưu hóa tài nguyên, chỉ tập trung tinh chỉnh những mô hình tiềm năng nhất. Tiếp theo, chúng ta sẽ đi vào chi tiết về phân tích dữ liệu ban đầu.</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 phân tích dữ liệu khám phá, chúng em nhận thấy Glucose và BMI có mối tương quan cao nhất với kết quả. Tuy nhiên, dữ liệu cũng tồn tại nhiều thách thức, đặc biệt là các giá trị thiếu ở cột Insulin. Chúng em đã xử lý bằng cách điền khuyết bằng giá trị trung vị để bảo toàn kích thước mẫu. Một vấn đề khác là sự mất cân bằng lớp, với số lượng người không mắc bệnh nhiều gấp đôi người mắc bệnh. Điều này đòi hỏi chúng em phải sử dụng các chỉ số đánh giá chuyên sâu hơn. Tiếp theo, chúng ta sẽ tìm hiểu về cách chúng em đã nâng cao chất lượng dữ liệu thông qua kỹ nghệ đặc trưng.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mô hình có thể học hỏi tốt hơn, chúng em đã thực hiện các bước chuẩn hóa và kỹ nghệ đặc trưng nâng cao. Việc sử dụng StandardScaler giúp đưa dữ liệu về cùng một thang đo, rất quan trọng cho các mô hình nhạy cảm với khoảng cách. Chúng em cũng xử lý các giá trị ngoại lai bằng Clipping và Log transform để giảm độ lệch. Đặc biệt, chúng em đã tạo ra các biến tương tác mới như BMI_Age và Glucose_BMI. Những biến này giúp mô hình khai thác các mối quan hệ phi tuyến tính phức tạp giữa các chỉ số sinh học. Bây giờ, chúng ta sẽ xem xét kết quả thực nghiệm của các mô hình khác nhau.</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Sau khi thực hiện kỹ nghệ đặc trưng, chúng ta cần đánh giá xem phương pháp nào hiệu quả nhất. Random Forest đã vượt trội hơn hẳn các mô hình truyền thống sau khi được tinh chỉnh. Mô hình này đạt độ chính xác 77.06% và F1-score là 0.6748. Điều này cho thấy sự cải thiện đáng kể so với mô hình Baseline Logistic Regression. Kết quả này khẳng định rằng các bước tiền xử lý và tối ưu hóa tham số của chúng ta đã đi đúng hướng. Bây giờ, hãy cùng xem chi tiết hơn về hiệu suất của mô hình qua ma trận nhầm lẫn.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Từ kết quả của Random Forest, ma trận nhầm lẫn cho thấy khả năng nhận diện nhóm không bệnh rất tốt. Cụ thể, mô hình đã dự đoán đúng 123 trường hợp không bệnh trong tổng số 148 mẫu. Tuy nhiên, chúng ta vẫn còn 28 trường hợp bị bệnh nhưng mô hình lại dự đoán là không bệnh. Đây là một vấn đề quan trọng cần cải thiện, đặc biệt trong lĩnh vực y tế. Việc bỏ sót bệnh nhân có thể gây ra những hậu quả nghiêm trọng. Tiếp theo, chúng ta sẽ tìm hiểu những yếu tố nào đã đóng góp nhiều nhất vào kết quả dự đoán này.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tầm quan trọng của đặc trưng cho thấy Glucose và các biến tương tác đóng vai trò quyết định trong dự báo. Glucose là chỉ số quan trọng nhất, điều này hoàn toàn phù hợp với kiến thức y khoa. Đáng chú ý, biến tương tác Glucose_BMI mà chúng ta tạo ra cũng nằm trong nhóm có trọng số cao. Điều này chứng minh hiệu quả của kỹ thuật Feature Engineering. Các chỉ số như BMI và Age cũng rất quan trọng, phản ánh mối liên hệ giữa thể trạng và lão hóa. Vậy làm thế nào để chúng ta có thể cải thiện hơn nữa mô hình này?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nâng cao độ chính xác trong tương lai, SMOTE và Boosting là những chìa khóa quan trọng. Chúng ta sẽ áp dụng kỹ thuật SMOTE để cân bằng lại dữ liệu, giúp mô hình nhận diện tốt hơn các trường hợp bệnh. Đồng thời, nhóm sẽ thử nghiệm các thuật toán Boosting mạnh mẽ hơn như XGBoost hoặc LightGBM. Việc nghiên cứu thêm các biến tương tác dựa trên kiến thức y khoa cũng rất cần thiết. Cuối cùng, mở rộng kích thước mẫu sẽ giúp mô hình tổng quát hóa tốt hơn. Và đó là toàn bộ phần trình bày của nhóm.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Cảm ơn thầy và các bạn đã lắng nghe bài báo cáo của nhóm chúng em. Chúng em rất mong nhận được những câu hỏi và ý kiến đóng góp từ mọi người. Mọi thắc mắc xin mời đặt câu hỏi.</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jpe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jpe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7.xml.rels><?xml version="1.0" encoding="UTF-8" standalone="yes"?>
<Relationships xmlns="http://schemas.openxmlformats.org/package/2006/relationships"><Relationship Id="rId3" Type="http://schemas.openxmlformats.org/officeDocument/2006/relationships/image" Target="../media/image31.jpe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8.xml.rels><?xml version="1.0" encoding="UTF-8" standalone="yes"?>
<Relationships xmlns="http://schemas.openxmlformats.org/package/2006/relationships"><Relationship Id="rId3" Type="http://schemas.openxmlformats.org/officeDocument/2006/relationships/image" Target="../media/image36.jpeg"/><Relationship Id="rId7" Type="http://schemas.openxmlformats.org/officeDocument/2006/relationships/image" Target="../media/image4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9.xml.rels><?xml version="1.0" encoding="UTF-8" standalone="yes"?>
<Relationships xmlns="http://schemas.openxmlformats.org/package/2006/relationships"><Relationship Id="rId3" Type="http://schemas.openxmlformats.org/officeDocument/2006/relationships/image" Target="../media/image41.jpeg"/><Relationship Id="rId7" Type="http://schemas.openxmlformats.org/officeDocument/2006/relationships/image" Target="../media/image4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0.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642938" y="785813"/>
            <a:ext cx="7858125" cy="3571875"/>
          </a:xfrm>
          <a:prstGeom prst="rect">
            <a:avLst/>
          </a:prstGeom>
          <a:solidFill>
            <a:srgbClr val="FFFFFF"/>
          </a:solidFill>
          <a:ln/>
        </p:spPr>
      </p:sp>
      <p:sp>
        <p:nvSpPr>
          <p:cNvPr id="5" name="Shape 1"/>
          <p:cNvSpPr/>
          <p:nvPr/>
        </p:nvSpPr>
        <p:spPr>
          <a:xfrm>
            <a:off x="642938" y="785813"/>
            <a:ext cx="4677733" cy="3571875"/>
          </a:xfrm>
          <a:prstGeom prst="rect">
            <a:avLst/>
          </a:prstGeom>
          <a:solidFill>
            <a:srgbClr val="1A365D"/>
          </a:solidFill>
          <a:ln/>
        </p:spPr>
      </p:sp>
      <p:sp>
        <p:nvSpPr>
          <p:cNvPr id="6" name="Text 2"/>
          <p:cNvSpPr/>
          <p:nvPr/>
        </p:nvSpPr>
        <p:spPr>
          <a:xfrm>
            <a:off x="928688" y="1727727"/>
            <a:ext cx="4106233" cy="1234390"/>
          </a:xfrm>
          <a:prstGeom prst="rect">
            <a:avLst/>
          </a:prstGeom>
          <a:noFill/>
          <a:ln/>
        </p:spPr>
        <p:txBody>
          <a:bodyPr wrap="square" lIns="0" tIns="0" rIns="0" bIns="0" rtlCol="0" anchor="t">
            <a:spAutoFit/>
          </a:bodyPr>
          <a:lstStyle/>
          <a:p>
            <a:pPr marL="0" indent="0" algn="l">
              <a:lnSpc>
                <a:spcPts val="3200"/>
              </a:lnSpc>
              <a:buNone/>
            </a:pPr>
            <a:r>
              <a:rPr lang="en-US" sz="2436" b="1" dirty="0">
                <a:solidFill>
                  <a:srgbClr val="FFFFFF"/>
                </a:solidFill>
                <a:latin typeface="Montserrat" pitchFamily="34" charset="0"/>
                <a:ea typeface="Montserrat" pitchFamily="34" charset="-122"/>
                <a:cs typeface="Montserrat" pitchFamily="34" charset="-120"/>
              </a:rPr>
              <a:t>Dự đoán Bệnh Tiểu đường
(Diabetes Prediction)</a:t>
            </a:r>
            <a:endParaRPr lang="en-US" sz="2436" dirty="0"/>
          </a:p>
        </p:txBody>
      </p:sp>
      <p:sp>
        <p:nvSpPr>
          <p:cNvPr id="7" name="Text 3"/>
          <p:cNvSpPr/>
          <p:nvPr/>
        </p:nvSpPr>
        <p:spPr>
          <a:xfrm>
            <a:off x="928688" y="3104992"/>
            <a:ext cx="4106233" cy="208955"/>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3182CE"/>
                </a:solidFill>
                <a:latin typeface="Montserrat" pitchFamily="34" charset="0"/>
                <a:ea typeface="Montserrat" pitchFamily="34" charset="-122"/>
                <a:cs typeface="Montserrat" pitchFamily="34" charset="-120"/>
              </a:rPr>
              <a:t>Báo cáo Tuần 7 - Môn Cơ sở Trí tuệ Nhân tạo</a:t>
            </a:r>
            <a:endParaRPr lang="en-US" sz="1193" dirty="0"/>
          </a:p>
        </p:txBody>
      </p:sp>
      <p:sp>
        <p:nvSpPr>
          <p:cNvPr id="8" name="Text 4"/>
          <p:cNvSpPr/>
          <p:nvPr/>
        </p:nvSpPr>
        <p:spPr>
          <a:xfrm>
            <a:off x="928688" y="3456822"/>
            <a:ext cx="4106233" cy="17323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FFFFFF">
                    <a:alpha val="80000"/>
                  </a:srgbClr>
                </a:solidFill>
                <a:latin typeface="Inter" pitchFamily="34" charset="0"/>
                <a:ea typeface="Inter" pitchFamily="34" charset="-122"/>
                <a:cs typeface="Inter" pitchFamily="34" charset="-120"/>
              </a:rPr>
              <a:t>Giảng viên hướng dẫn: TS. Đỗ Như Tài</a:t>
            </a:r>
            <a:endParaRPr lang="en-US" sz="1050" dirty="0"/>
          </a:p>
        </p:txBody>
      </p:sp>
      <p:pic>
        <p:nvPicPr>
          <p:cNvPr id="9" name="Image 1" descr="preencoded.png"/>
          <p:cNvPicPr>
            <a:picLocks noChangeAspect="1"/>
          </p:cNvPicPr>
          <p:nvPr/>
        </p:nvPicPr>
        <p:blipFill>
          <a:blip r:embed="rId4"/>
          <a:stretch>
            <a:fillRect/>
          </a:stretch>
        </p:blipFill>
        <p:spPr>
          <a:xfrm>
            <a:off x="5549271" y="2268141"/>
            <a:ext cx="128588" cy="128588"/>
          </a:xfrm>
          <a:prstGeom prst="rect">
            <a:avLst/>
          </a:prstGeom>
        </p:spPr>
      </p:pic>
      <p:sp>
        <p:nvSpPr>
          <p:cNvPr id="10" name="Text 5"/>
          <p:cNvSpPr/>
          <p:nvPr/>
        </p:nvSpPr>
        <p:spPr>
          <a:xfrm>
            <a:off x="5763583" y="2177058"/>
            <a:ext cx="1068688" cy="310753"/>
          </a:xfrm>
          <a:prstGeom prst="rect">
            <a:avLst/>
          </a:prstGeom>
          <a:noFill/>
          <a:ln/>
        </p:spPr>
        <p:txBody>
          <a:bodyPr wrap="square" lIns="0" tIns="0" rIns="0" bIns="0" rtlCol="0" anchor="t">
            <a:spAutoFit/>
          </a:bodyPr>
          <a:lstStyle/>
          <a:p>
            <a:pPr marL="0" indent="0" algn="l">
              <a:lnSpc>
                <a:spcPts val="1200"/>
              </a:lnSpc>
              <a:buNone/>
            </a:pPr>
            <a:r>
              <a:rPr lang="en-US" sz="942" dirty="0">
                <a:solidFill>
                  <a:srgbClr val="2D3748"/>
                </a:solidFill>
                <a:latin typeface="Inter" pitchFamily="34" charset="0"/>
                <a:ea typeface="Inter" pitchFamily="34" charset="-122"/>
                <a:cs typeface="Inter" pitchFamily="34" charset="-120"/>
              </a:rPr>
              <a:t>Cao Nguyễn Yên Hòa - 3124410101</a:t>
            </a:r>
            <a:endParaRPr lang="en-US" sz="942" dirty="0"/>
          </a:p>
        </p:txBody>
      </p:sp>
      <p:pic>
        <p:nvPicPr>
          <p:cNvPr id="11" name="Image 2" descr="preencoded.png"/>
          <p:cNvPicPr>
            <a:picLocks noChangeAspect="1"/>
          </p:cNvPicPr>
          <p:nvPr/>
        </p:nvPicPr>
        <p:blipFill>
          <a:blip r:embed="rId5"/>
          <a:stretch>
            <a:fillRect/>
          </a:stretch>
        </p:blipFill>
        <p:spPr>
          <a:xfrm>
            <a:off x="5549271" y="2728020"/>
            <a:ext cx="128588" cy="128588"/>
          </a:xfrm>
          <a:prstGeom prst="rect">
            <a:avLst/>
          </a:prstGeom>
        </p:spPr>
      </p:pic>
      <p:sp>
        <p:nvSpPr>
          <p:cNvPr id="12" name="Text 6"/>
          <p:cNvSpPr/>
          <p:nvPr/>
        </p:nvSpPr>
        <p:spPr>
          <a:xfrm>
            <a:off x="5763583" y="2559248"/>
            <a:ext cx="1068688" cy="466130"/>
          </a:xfrm>
          <a:prstGeom prst="rect">
            <a:avLst/>
          </a:prstGeom>
          <a:noFill/>
          <a:ln/>
        </p:spPr>
        <p:txBody>
          <a:bodyPr wrap="square" lIns="0" tIns="0" rIns="0" bIns="0" rtlCol="0" anchor="t">
            <a:spAutoFit/>
          </a:bodyPr>
          <a:lstStyle/>
          <a:p>
            <a:pPr marL="0" indent="0" algn="l">
              <a:lnSpc>
                <a:spcPts val="1200"/>
              </a:lnSpc>
              <a:buNone/>
            </a:pPr>
            <a:r>
              <a:rPr lang="en-US" sz="942" dirty="0">
                <a:solidFill>
                  <a:srgbClr val="2D3748"/>
                </a:solidFill>
                <a:latin typeface="Inter" pitchFamily="34" charset="0"/>
                <a:ea typeface="Inter" pitchFamily="34" charset="-122"/>
                <a:cs typeface="Inter" pitchFamily="34" charset="-120"/>
              </a:rPr>
              <a:t>Trần Nguyễn Đăng Khoa - 3124560042</a:t>
            </a:r>
            <a:endParaRPr lang="en-US" sz="942" dirty="0"/>
          </a:p>
        </p:txBody>
      </p:sp>
      <p:pic>
        <p:nvPicPr>
          <p:cNvPr id="13" name="Image 3" descr="preencoded.png"/>
          <p:cNvPicPr>
            <a:picLocks noChangeAspect="1"/>
          </p:cNvPicPr>
          <p:nvPr/>
        </p:nvPicPr>
        <p:blipFill>
          <a:blip r:embed="rId6"/>
          <a:stretch>
            <a:fillRect/>
          </a:stretch>
        </p:blipFill>
        <p:spPr>
          <a:xfrm>
            <a:off x="7003721" y="2268141"/>
            <a:ext cx="128588" cy="128588"/>
          </a:xfrm>
          <a:prstGeom prst="rect">
            <a:avLst/>
          </a:prstGeom>
        </p:spPr>
      </p:pic>
      <p:sp>
        <p:nvSpPr>
          <p:cNvPr id="14" name="Text 7"/>
          <p:cNvSpPr/>
          <p:nvPr/>
        </p:nvSpPr>
        <p:spPr>
          <a:xfrm>
            <a:off x="7218034" y="2177058"/>
            <a:ext cx="1068688" cy="310753"/>
          </a:xfrm>
          <a:prstGeom prst="rect">
            <a:avLst/>
          </a:prstGeom>
          <a:noFill/>
          <a:ln/>
        </p:spPr>
        <p:txBody>
          <a:bodyPr wrap="square" lIns="0" tIns="0" rIns="0" bIns="0" rtlCol="0" anchor="t">
            <a:spAutoFit/>
          </a:bodyPr>
          <a:lstStyle/>
          <a:p>
            <a:pPr marL="0" indent="0" algn="l">
              <a:lnSpc>
                <a:spcPts val="1200"/>
              </a:lnSpc>
              <a:buNone/>
            </a:pPr>
            <a:r>
              <a:rPr lang="en-US" sz="942" dirty="0">
                <a:solidFill>
                  <a:srgbClr val="2D3748"/>
                </a:solidFill>
                <a:latin typeface="Inter" pitchFamily="34" charset="0"/>
                <a:ea typeface="Inter" pitchFamily="34" charset="-122"/>
                <a:cs typeface="Inter" pitchFamily="34" charset="-120"/>
              </a:rPr>
              <a:t>Lưu Gia Bảo - 3124410016</a:t>
            </a:r>
            <a:endParaRPr lang="en-US" sz="942" dirty="0"/>
          </a:p>
        </p:txBody>
      </p:sp>
      <p:pic>
        <p:nvPicPr>
          <p:cNvPr id="15" name="Image 4" descr="preencoded.png"/>
          <p:cNvPicPr>
            <a:picLocks noChangeAspect="1"/>
          </p:cNvPicPr>
          <p:nvPr/>
        </p:nvPicPr>
        <p:blipFill>
          <a:blip r:embed="rId7"/>
          <a:stretch>
            <a:fillRect/>
          </a:stretch>
        </p:blipFill>
        <p:spPr>
          <a:xfrm>
            <a:off x="7003721" y="2650331"/>
            <a:ext cx="128588" cy="128588"/>
          </a:xfrm>
          <a:prstGeom prst="rect">
            <a:avLst/>
          </a:prstGeom>
        </p:spPr>
      </p:pic>
      <p:sp>
        <p:nvSpPr>
          <p:cNvPr id="16" name="Text 8"/>
          <p:cNvSpPr/>
          <p:nvPr/>
        </p:nvSpPr>
        <p:spPr>
          <a:xfrm>
            <a:off x="7218034" y="2559248"/>
            <a:ext cx="1068688" cy="310753"/>
          </a:xfrm>
          <a:prstGeom prst="rect">
            <a:avLst/>
          </a:prstGeom>
          <a:noFill/>
          <a:ln/>
        </p:spPr>
        <p:txBody>
          <a:bodyPr wrap="square" lIns="0" tIns="0" rIns="0" bIns="0" rtlCol="0" anchor="t">
            <a:spAutoFit/>
          </a:bodyPr>
          <a:lstStyle/>
          <a:p>
            <a:pPr marL="0" indent="0" algn="l">
              <a:lnSpc>
                <a:spcPts val="1200"/>
              </a:lnSpc>
              <a:buNone/>
            </a:pPr>
            <a:r>
              <a:rPr lang="en-US" sz="942" dirty="0">
                <a:solidFill>
                  <a:srgbClr val="2D3748"/>
                </a:solidFill>
                <a:latin typeface="Inter" pitchFamily="34" charset="0"/>
                <a:ea typeface="Inter" pitchFamily="34" charset="-122"/>
                <a:cs typeface="Inter" pitchFamily="34" charset="-120"/>
              </a:rPr>
              <a:t>Lâm Hán Đạt - 3124410055</a:t>
            </a:r>
            <a:endParaRPr lang="en-US" sz="942" dirty="0"/>
          </a:p>
        </p:txBody>
      </p:sp>
      <p:pic>
        <p:nvPicPr>
          <p:cNvPr id="17" name="Image 5" descr="preencoded.png"/>
          <p:cNvPicPr>
            <a:picLocks noChangeAspect="1"/>
          </p:cNvPicPr>
          <p:nvPr/>
        </p:nvPicPr>
        <p:blipFill>
          <a:blip r:embed="rId6"/>
          <a:stretch>
            <a:fillRect/>
          </a:stretch>
        </p:blipFill>
        <p:spPr>
          <a:xfrm>
            <a:off x="7003721" y="3032522"/>
            <a:ext cx="128588" cy="128588"/>
          </a:xfrm>
          <a:prstGeom prst="rect">
            <a:avLst/>
          </a:prstGeom>
        </p:spPr>
      </p:pic>
      <p:sp>
        <p:nvSpPr>
          <p:cNvPr id="18" name="Text 9"/>
          <p:cNvSpPr/>
          <p:nvPr/>
        </p:nvSpPr>
        <p:spPr>
          <a:xfrm>
            <a:off x="7218034" y="2941439"/>
            <a:ext cx="1068688" cy="310753"/>
          </a:xfrm>
          <a:prstGeom prst="rect">
            <a:avLst/>
          </a:prstGeom>
          <a:noFill/>
          <a:ln/>
        </p:spPr>
        <p:txBody>
          <a:bodyPr wrap="square" lIns="0" tIns="0" rIns="0" bIns="0" rtlCol="0" anchor="t">
            <a:spAutoFit/>
          </a:bodyPr>
          <a:lstStyle/>
          <a:p>
            <a:pPr marL="0" indent="0" algn="l">
              <a:lnSpc>
                <a:spcPts val="1200"/>
              </a:lnSpc>
              <a:buNone/>
            </a:pPr>
            <a:r>
              <a:rPr lang="en-US" sz="942" dirty="0">
                <a:solidFill>
                  <a:srgbClr val="2D3748"/>
                </a:solidFill>
                <a:latin typeface="Inter" pitchFamily="34" charset="0"/>
                <a:ea typeface="Inter" pitchFamily="34" charset="-122"/>
                <a:cs typeface="Inter" pitchFamily="34" charset="-120"/>
              </a:rPr>
              <a:t>Hồ Trung Tín - 3124410355</a:t>
            </a:r>
            <a:endParaRPr lang="en-US" sz="942"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428625" y="285750"/>
            <a:ext cx="8286750" cy="557213"/>
          </a:xfrm>
          <a:prstGeom prst="rect">
            <a:avLst/>
          </a:prstGeom>
          <a:noFill/>
          <a:ln/>
        </p:spPr>
        <p:txBody>
          <a:bodyPr wrap="square" lIns="0" tIns="0" rIns="0" bIns="0" rtlCol="0" anchor="t">
            <a:spAutoFit/>
          </a:bodyPr>
          <a:lstStyle/>
          <a:p>
            <a:pPr marL="0" indent="0" algn="l">
              <a:lnSpc>
                <a:spcPts val="2200"/>
              </a:lnSpc>
              <a:buNone/>
            </a:pPr>
            <a:r>
              <a:rPr lang="en-US" sz="1602" b="1" dirty="0">
                <a:solidFill>
                  <a:srgbClr val="1A365D"/>
                </a:solidFill>
                <a:latin typeface="Montserrat" pitchFamily="34" charset="0"/>
                <a:ea typeface="Montserrat" pitchFamily="34" charset="-122"/>
                <a:cs typeface="Montserrat" pitchFamily="34" charset="-120"/>
              </a:rPr>
              <a:t>Chẩn đoán truyền thống gặp nhiều bất cập về thời gian và tính xâm lấn</a:t>
            </a:r>
            <a:endParaRPr lang="en-US" sz="1602" dirty="0"/>
          </a:p>
        </p:txBody>
      </p:sp>
      <p:pic>
        <p:nvPicPr>
          <p:cNvPr id="5" name="Image 1" descr="preencoded.png"/>
          <p:cNvPicPr>
            <a:picLocks noChangeAspect="1"/>
          </p:cNvPicPr>
          <p:nvPr/>
        </p:nvPicPr>
        <p:blipFill>
          <a:blip r:embed="rId4"/>
          <a:stretch>
            <a:fillRect/>
          </a:stretch>
        </p:blipFill>
        <p:spPr>
          <a:xfrm>
            <a:off x="428625" y="1146879"/>
            <a:ext cx="171450" cy="171450"/>
          </a:xfrm>
          <a:prstGeom prst="rect">
            <a:avLst/>
          </a:prstGeom>
        </p:spPr>
      </p:pic>
      <p:sp>
        <p:nvSpPr>
          <p:cNvPr id="6" name="Text 1"/>
          <p:cNvSpPr/>
          <p:nvPr/>
        </p:nvSpPr>
        <p:spPr>
          <a:xfrm>
            <a:off x="707231" y="1128126"/>
            <a:ext cx="2955937" cy="205184"/>
          </a:xfrm>
          <a:prstGeom prst="rect">
            <a:avLst/>
          </a:prstGeom>
          <a:noFill/>
          <a:ln/>
        </p:spPr>
        <p:txBody>
          <a:bodyPr wrap="none" lIns="0" tIns="0" rIns="0" bIns="0" rtlCol="0" anchor="t">
            <a:spAutoFit/>
          </a:bodyPr>
          <a:lstStyle/>
          <a:p>
            <a:pPr marL="0" indent="0" algn="l">
              <a:lnSpc>
                <a:spcPts val="1600"/>
              </a:lnSpc>
              <a:buNone/>
            </a:pPr>
            <a:r>
              <a:rPr lang="en-US" sz="1400" b="1" dirty="0">
                <a:solidFill>
                  <a:srgbClr val="E53E3E"/>
                </a:solidFill>
                <a:latin typeface="Montserrat" pitchFamily="34" charset="0"/>
                <a:ea typeface="Montserrat" pitchFamily="34" charset="-122"/>
                <a:cs typeface="Montserrat" pitchFamily="34" charset="-120"/>
              </a:rPr>
              <a:t>Thách thức Y học Truyền thống</a:t>
            </a:r>
            <a:endParaRPr lang="en-US" sz="1400" dirty="0"/>
          </a:p>
        </p:txBody>
      </p:sp>
      <p:pic>
        <p:nvPicPr>
          <p:cNvPr id="7" name="Image 2" descr="preencoded.png"/>
          <p:cNvPicPr>
            <a:picLocks noChangeAspect="1"/>
          </p:cNvPicPr>
          <p:nvPr/>
        </p:nvPicPr>
        <p:blipFill>
          <a:blip r:embed="rId5"/>
          <a:stretch>
            <a:fillRect/>
          </a:stretch>
        </p:blipFill>
        <p:spPr>
          <a:xfrm>
            <a:off x="428625" y="1515675"/>
            <a:ext cx="128588" cy="128588"/>
          </a:xfrm>
          <a:prstGeom prst="rect">
            <a:avLst/>
          </a:prstGeom>
        </p:spPr>
      </p:pic>
      <p:sp>
        <p:nvSpPr>
          <p:cNvPr id="8" name="Text 2"/>
          <p:cNvSpPr/>
          <p:nvPr/>
        </p:nvSpPr>
        <p:spPr>
          <a:xfrm>
            <a:off x="664369" y="1479956"/>
            <a:ext cx="1224694" cy="153888"/>
          </a:xfrm>
          <a:prstGeom prst="rect">
            <a:avLst/>
          </a:prstGeom>
          <a:noFill/>
          <a:ln/>
        </p:spPr>
        <p:txBody>
          <a:bodyPr wrap="none" lIns="0" tIns="0" rIns="0" bIns="0" rtlCol="0" anchor="t">
            <a:spAutoFit/>
          </a:bodyPr>
          <a:lstStyle/>
          <a:p>
            <a:pPr marL="0" indent="0" algn="l">
              <a:lnSpc>
                <a:spcPts val="1200"/>
              </a:lnSpc>
              <a:buNone/>
            </a:pPr>
            <a:r>
              <a:rPr lang="en-US" sz="1000" b="1" dirty="0">
                <a:solidFill>
                  <a:srgbClr val="2D3748"/>
                </a:solidFill>
                <a:latin typeface="Inter" pitchFamily="34" charset="0"/>
                <a:ea typeface="Inter" pitchFamily="34" charset="-122"/>
                <a:cs typeface="Inter" pitchFamily="34" charset="-120"/>
              </a:rPr>
              <a:t>Tính xâm lấn (Invasive)</a:t>
            </a:r>
            <a:endParaRPr lang="en-US" sz="1000" dirty="0"/>
          </a:p>
        </p:txBody>
      </p:sp>
      <p:sp>
        <p:nvSpPr>
          <p:cNvPr id="9" name="Text 3"/>
          <p:cNvSpPr/>
          <p:nvPr/>
        </p:nvSpPr>
        <p:spPr>
          <a:xfrm>
            <a:off x="664369" y="1671051"/>
            <a:ext cx="3757613" cy="348044"/>
          </a:xfrm>
          <a:prstGeom prst="rect">
            <a:avLst/>
          </a:prstGeom>
          <a:noFill/>
          <a:ln/>
        </p:spPr>
        <p:txBody>
          <a:bodyPr wrap="square" lIns="0" tIns="0" rIns="0" bIns="0" rtlCol="0" anchor="t">
            <a:spAutoFit/>
          </a:bodyPr>
          <a:lstStyle/>
          <a:p>
            <a:pPr marL="0" indent="0" algn="l">
              <a:lnSpc>
                <a:spcPts val="1400"/>
              </a:lnSpc>
              <a:buNone/>
            </a:pPr>
            <a:r>
              <a:rPr lang="en-US" sz="1000" dirty="0">
                <a:solidFill>
                  <a:srgbClr val="4A5568"/>
                </a:solidFill>
                <a:latin typeface="Inter" pitchFamily="34" charset="0"/>
                <a:ea typeface="Inter" pitchFamily="34" charset="-122"/>
                <a:cs typeface="Inter" pitchFamily="34" charset="-120"/>
              </a:rPr>
              <a:t>Bệnh nhân bắt buộc phải lấy máu để xét nghiệm đường huyết lúc đói hoặc HbA1c.</a:t>
            </a:r>
            <a:endParaRPr lang="en-US" sz="1000" dirty="0"/>
          </a:p>
        </p:txBody>
      </p:sp>
      <p:pic>
        <p:nvPicPr>
          <p:cNvPr id="10" name="Image 3" descr="preencoded.png"/>
          <p:cNvPicPr>
            <a:picLocks noChangeAspect="1"/>
          </p:cNvPicPr>
          <p:nvPr/>
        </p:nvPicPr>
        <p:blipFill>
          <a:blip r:embed="rId6"/>
          <a:stretch>
            <a:fillRect/>
          </a:stretch>
        </p:blipFill>
        <p:spPr>
          <a:xfrm>
            <a:off x="428625" y="2149683"/>
            <a:ext cx="128588" cy="128588"/>
          </a:xfrm>
          <a:prstGeom prst="rect">
            <a:avLst/>
          </a:prstGeom>
        </p:spPr>
      </p:pic>
      <p:sp>
        <p:nvSpPr>
          <p:cNvPr id="11" name="Text 4"/>
          <p:cNvSpPr/>
          <p:nvPr/>
        </p:nvSpPr>
        <p:spPr>
          <a:xfrm>
            <a:off x="664369" y="2113964"/>
            <a:ext cx="843180" cy="153888"/>
          </a:xfrm>
          <a:prstGeom prst="rect">
            <a:avLst/>
          </a:prstGeom>
          <a:noFill/>
          <a:ln/>
        </p:spPr>
        <p:txBody>
          <a:bodyPr wrap="none" lIns="0" tIns="0" rIns="0" bIns="0" rtlCol="0" anchor="t">
            <a:spAutoFit/>
          </a:bodyPr>
          <a:lstStyle/>
          <a:p>
            <a:pPr marL="0" indent="0" algn="l">
              <a:lnSpc>
                <a:spcPts val="1200"/>
              </a:lnSpc>
              <a:buNone/>
            </a:pPr>
            <a:r>
              <a:rPr lang="en-US" sz="1000" b="1" dirty="0">
                <a:solidFill>
                  <a:srgbClr val="2D3748"/>
                </a:solidFill>
                <a:latin typeface="Inter" pitchFamily="34" charset="0"/>
                <a:ea typeface="Inter" pitchFamily="34" charset="-122"/>
                <a:cs typeface="Inter" pitchFamily="34" charset="-120"/>
              </a:rPr>
              <a:t>Độ trễ thời gian</a:t>
            </a:r>
            <a:endParaRPr lang="en-US" sz="1000" dirty="0"/>
          </a:p>
        </p:txBody>
      </p:sp>
      <p:sp>
        <p:nvSpPr>
          <p:cNvPr id="12" name="Text 5"/>
          <p:cNvSpPr/>
          <p:nvPr/>
        </p:nvSpPr>
        <p:spPr>
          <a:xfrm>
            <a:off x="664369" y="2305059"/>
            <a:ext cx="3757613" cy="348044"/>
          </a:xfrm>
          <a:prstGeom prst="rect">
            <a:avLst/>
          </a:prstGeom>
          <a:noFill/>
          <a:ln/>
        </p:spPr>
        <p:txBody>
          <a:bodyPr wrap="square" lIns="0" tIns="0" rIns="0" bIns="0" rtlCol="0" anchor="t">
            <a:spAutoFit/>
          </a:bodyPr>
          <a:lstStyle/>
          <a:p>
            <a:pPr marL="0" indent="0" algn="l">
              <a:lnSpc>
                <a:spcPts val="1400"/>
              </a:lnSpc>
              <a:buNone/>
            </a:pPr>
            <a:r>
              <a:rPr lang="en-US" sz="1000" dirty="0">
                <a:solidFill>
                  <a:srgbClr val="4A5568"/>
                </a:solidFill>
                <a:latin typeface="Inter" pitchFamily="34" charset="0"/>
                <a:ea typeface="Inter" pitchFamily="34" charset="-122"/>
                <a:cs typeface="Inter" pitchFamily="34" charset="-120"/>
              </a:rPr>
              <a:t>Cần nhịn ăn 8-12 tiếng trước khi xét nghiệm và chờ kết quả từ phòng Lab.</a:t>
            </a:r>
            <a:endParaRPr lang="en-US" sz="1000" dirty="0"/>
          </a:p>
        </p:txBody>
      </p:sp>
      <p:pic>
        <p:nvPicPr>
          <p:cNvPr id="13" name="Image 4" descr="preencoded.png"/>
          <p:cNvPicPr>
            <a:picLocks noChangeAspect="1"/>
          </p:cNvPicPr>
          <p:nvPr/>
        </p:nvPicPr>
        <p:blipFill>
          <a:blip r:embed="rId7"/>
          <a:stretch>
            <a:fillRect/>
          </a:stretch>
        </p:blipFill>
        <p:spPr>
          <a:xfrm>
            <a:off x="428625" y="2783691"/>
            <a:ext cx="128588" cy="128588"/>
          </a:xfrm>
          <a:prstGeom prst="rect">
            <a:avLst/>
          </a:prstGeom>
        </p:spPr>
      </p:pic>
      <p:sp>
        <p:nvSpPr>
          <p:cNvPr id="14" name="Text 6"/>
          <p:cNvSpPr/>
          <p:nvPr/>
        </p:nvSpPr>
        <p:spPr>
          <a:xfrm>
            <a:off x="664369" y="2747972"/>
            <a:ext cx="793487" cy="153888"/>
          </a:xfrm>
          <a:prstGeom prst="rect">
            <a:avLst/>
          </a:prstGeom>
          <a:noFill/>
          <a:ln/>
        </p:spPr>
        <p:txBody>
          <a:bodyPr wrap="none" lIns="0" tIns="0" rIns="0" bIns="0" rtlCol="0" anchor="t">
            <a:spAutoFit/>
          </a:bodyPr>
          <a:lstStyle/>
          <a:p>
            <a:pPr marL="0" indent="0" algn="l">
              <a:lnSpc>
                <a:spcPts val="1200"/>
              </a:lnSpc>
              <a:buNone/>
            </a:pPr>
            <a:r>
              <a:rPr lang="en-US" sz="1000" b="1" dirty="0">
                <a:solidFill>
                  <a:srgbClr val="2D3748"/>
                </a:solidFill>
                <a:latin typeface="Inter" pitchFamily="34" charset="0"/>
                <a:ea typeface="Inter" pitchFamily="34" charset="-122"/>
                <a:cs typeface="Inter" pitchFamily="34" charset="-120"/>
              </a:rPr>
              <a:t>Tính thời điểm</a:t>
            </a:r>
            <a:endParaRPr lang="en-US" sz="1000" dirty="0"/>
          </a:p>
        </p:txBody>
      </p:sp>
      <p:sp>
        <p:nvSpPr>
          <p:cNvPr id="15" name="Text 7"/>
          <p:cNvSpPr/>
          <p:nvPr/>
        </p:nvSpPr>
        <p:spPr>
          <a:xfrm>
            <a:off x="664369" y="2939067"/>
            <a:ext cx="3757613" cy="348044"/>
          </a:xfrm>
          <a:prstGeom prst="rect">
            <a:avLst/>
          </a:prstGeom>
          <a:noFill/>
          <a:ln/>
        </p:spPr>
        <p:txBody>
          <a:bodyPr wrap="square" lIns="0" tIns="0" rIns="0" bIns="0" rtlCol="0" anchor="t">
            <a:spAutoFit/>
          </a:bodyPr>
          <a:lstStyle/>
          <a:p>
            <a:pPr marL="0" indent="0" algn="l">
              <a:lnSpc>
                <a:spcPts val="1400"/>
              </a:lnSpc>
              <a:buNone/>
            </a:pPr>
            <a:r>
              <a:rPr lang="en-US" sz="1000" dirty="0">
                <a:solidFill>
                  <a:srgbClr val="4A5568"/>
                </a:solidFill>
                <a:latin typeface="Inter" pitchFamily="34" charset="0"/>
                <a:ea typeface="Inter" pitchFamily="34" charset="-122"/>
                <a:cs typeface="Inter" pitchFamily="34" charset="-120"/>
              </a:rPr>
              <a:t>Chỉ số đường huyết biến động theo tâm lý hoặc bữa ăn gần nhất, dễ dẫn đến sai số.</a:t>
            </a:r>
            <a:endParaRPr lang="en-US" sz="1000" dirty="0"/>
          </a:p>
        </p:txBody>
      </p:sp>
      <p:pic>
        <p:nvPicPr>
          <p:cNvPr id="16" name="Image 5" descr="preencoded.png"/>
          <p:cNvPicPr>
            <a:picLocks noChangeAspect="1"/>
          </p:cNvPicPr>
          <p:nvPr/>
        </p:nvPicPr>
        <p:blipFill>
          <a:blip r:embed="rId8"/>
          <a:stretch>
            <a:fillRect/>
          </a:stretch>
        </p:blipFill>
        <p:spPr>
          <a:xfrm>
            <a:off x="4722019" y="1146879"/>
            <a:ext cx="128588" cy="171450"/>
          </a:xfrm>
          <a:prstGeom prst="rect">
            <a:avLst/>
          </a:prstGeom>
        </p:spPr>
      </p:pic>
      <p:sp>
        <p:nvSpPr>
          <p:cNvPr id="17" name="Text 8"/>
          <p:cNvSpPr/>
          <p:nvPr/>
        </p:nvSpPr>
        <p:spPr>
          <a:xfrm>
            <a:off x="4957763" y="1128126"/>
            <a:ext cx="2460610" cy="205184"/>
          </a:xfrm>
          <a:prstGeom prst="rect">
            <a:avLst/>
          </a:prstGeom>
          <a:noFill/>
          <a:ln/>
        </p:spPr>
        <p:txBody>
          <a:bodyPr wrap="none" lIns="0" tIns="0" rIns="0" bIns="0" rtlCol="0" anchor="t">
            <a:spAutoFit/>
          </a:bodyPr>
          <a:lstStyle/>
          <a:p>
            <a:pPr marL="0" indent="0" algn="l">
              <a:lnSpc>
                <a:spcPts val="1600"/>
              </a:lnSpc>
              <a:buNone/>
            </a:pPr>
            <a:r>
              <a:rPr lang="en-US" sz="1400" b="1" dirty="0">
                <a:solidFill>
                  <a:srgbClr val="3182CE"/>
                </a:solidFill>
                <a:latin typeface="Montserrat" pitchFamily="34" charset="0"/>
                <a:ea typeface="Montserrat" pitchFamily="34" charset="-122"/>
                <a:cs typeface="Montserrat" pitchFamily="34" charset="-120"/>
              </a:rPr>
              <a:t>Giải pháp Trí tuệ Nhân tạo</a:t>
            </a:r>
            <a:endParaRPr lang="en-US" sz="1400" dirty="0"/>
          </a:p>
        </p:txBody>
      </p:sp>
      <p:pic>
        <p:nvPicPr>
          <p:cNvPr id="18" name="Image 6" descr="preencoded.png"/>
          <p:cNvPicPr>
            <a:picLocks noChangeAspect="1"/>
          </p:cNvPicPr>
          <p:nvPr/>
        </p:nvPicPr>
        <p:blipFill>
          <a:blip r:embed="rId9"/>
          <a:stretch>
            <a:fillRect/>
          </a:stretch>
        </p:blipFill>
        <p:spPr>
          <a:xfrm>
            <a:off x="4722019" y="1515675"/>
            <a:ext cx="128588" cy="128588"/>
          </a:xfrm>
          <a:prstGeom prst="rect">
            <a:avLst/>
          </a:prstGeom>
        </p:spPr>
      </p:pic>
      <p:sp>
        <p:nvSpPr>
          <p:cNvPr id="19" name="Text 9"/>
          <p:cNvSpPr/>
          <p:nvPr/>
        </p:nvSpPr>
        <p:spPr>
          <a:xfrm>
            <a:off x="4957763" y="1479956"/>
            <a:ext cx="1938031" cy="153888"/>
          </a:xfrm>
          <a:prstGeom prst="rect">
            <a:avLst/>
          </a:prstGeom>
          <a:noFill/>
          <a:ln/>
        </p:spPr>
        <p:txBody>
          <a:bodyPr wrap="none" lIns="0" tIns="0" rIns="0" bIns="0" rtlCol="0" anchor="t">
            <a:spAutoFit/>
          </a:bodyPr>
          <a:lstStyle/>
          <a:p>
            <a:pPr marL="0" indent="0" algn="l">
              <a:lnSpc>
                <a:spcPts val="1200"/>
              </a:lnSpc>
              <a:buNone/>
            </a:pPr>
            <a:r>
              <a:rPr lang="en-US" sz="1000" b="1" dirty="0">
                <a:solidFill>
                  <a:srgbClr val="2D3748"/>
                </a:solidFill>
                <a:latin typeface="Inter" pitchFamily="34" charset="0"/>
                <a:ea typeface="Inter" pitchFamily="34" charset="-122"/>
                <a:cs typeface="Inter" pitchFamily="34" charset="-120"/>
              </a:rPr>
              <a:t>Dự đoán dựa trên Machine Learning</a:t>
            </a:r>
            <a:endParaRPr lang="en-US" sz="1000" dirty="0"/>
          </a:p>
        </p:txBody>
      </p:sp>
      <p:sp>
        <p:nvSpPr>
          <p:cNvPr id="20" name="Text 10"/>
          <p:cNvSpPr/>
          <p:nvPr/>
        </p:nvSpPr>
        <p:spPr>
          <a:xfrm>
            <a:off x="4957763" y="1671051"/>
            <a:ext cx="3757613" cy="348044"/>
          </a:xfrm>
          <a:prstGeom prst="rect">
            <a:avLst/>
          </a:prstGeom>
          <a:noFill/>
          <a:ln/>
        </p:spPr>
        <p:txBody>
          <a:bodyPr wrap="square" lIns="0" tIns="0" rIns="0" bIns="0" rtlCol="0" anchor="t">
            <a:spAutoFit/>
          </a:bodyPr>
          <a:lstStyle/>
          <a:p>
            <a:pPr marL="0" indent="0" algn="l">
              <a:lnSpc>
                <a:spcPts val="1400"/>
              </a:lnSpc>
              <a:buNone/>
            </a:pPr>
            <a:r>
              <a:rPr lang="en-US" sz="1000" dirty="0">
                <a:solidFill>
                  <a:srgbClr val="4A5568"/>
                </a:solidFill>
                <a:latin typeface="Inter" pitchFamily="34" charset="0"/>
                <a:ea typeface="Inter" pitchFamily="34" charset="-122"/>
                <a:cs typeface="Inter" pitchFamily="34" charset="-120"/>
              </a:rPr>
              <a:t>Sử dụng các chỉ số sinh học sẵn có để dự đoán nguy cơ mà không cần xét nghiệm xâm lấn liên tục.</a:t>
            </a:r>
            <a:endParaRPr lang="en-US" sz="1000" dirty="0"/>
          </a:p>
        </p:txBody>
      </p:sp>
      <p:pic>
        <p:nvPicPr>
          <p:cNvPr id="21" name="Image 7" descr="preencoded.png"/>
          <p:cNvPicPr>
            <a:picLocks noChangeAspect="1"/>
          </p:cNvPicPr>
          <p:nvPr/>
        </p:nvPicPr>
        <p:blipFill>
          <a:blip r:embed="rId10"/>
          <a:stretch>
            <a:fillRect/>
          </a:stretch>
        </p:blipFill>
        <p:spPr>
          <a:xfrm>
            <a:off x="4722019" y="2149683"/>
            <a:ext cx="128588" cy="128588"/>
          </a:xfrm>
          <a:prstGeom prst="rect">
            <a:avLst/>
          </a:prstGeom>
        </p:spPr>
      </p:pic>
      <p:sp>
        <p:nvSpPr>
          <p:cNvPr id="22" name="Text 11"/>
          <p:cNvSpPr/>
          <p:nvPr/>
        </p:nvSpPr>
        <p:spPr>
          <a:xfrm>
            <a:off x="4957763" y="2113964"/>
            <a:ext cx="1681551" cy="153888"/>
          </a:xfrm>
          <a:prstGeom prst="rect">
            <a:avLst/>
          </a:prstGeom>
          <a:noFill/>
          <a:ln/>
        </p:spPr>
        <p:txBody>
          <a:bodyPr wrap="none" lIns="0" tIns="0" rIns="0" bIns="0" rtlCol="0" anchor="t">
            <a:spAutoFit/>
          </a:bodyPr>
          <a:lstStyle/>
          <a:p>
            <a:pPr marL="0" indent="0" algn="l">
              <a:lnSpc>
                <a:spcPts val="1200"/>
              </a:lnSpc>
              <a:buNone/>
            </a:pPr>
            <a:r>
              <a:rPr lang="en-US" sz="1000" b="1" dirty="0">
                <a:solidFill>
                  <a:srgbClr val="2D3748"/>
                </a:solidFill>
                <a:latin typeface="Inter" pitchFamily="34" charset="0"/>
                <a:ea typeface="Inter" pitchFamily="34" charset="-122"/>
                <a:cs typeface="Inter" pitchFamily="34" charset="-120"/>
              </a:rPr>
              <a:t>Quy trình Thử nghiệm Tịnh tiến</a:t>
            </a:r>
            <a:endParaRPr lang="en-US" sz="1000" dirty="0"/>
          </a:p>
        </p:txBody>
      </p:sp>
      <p:sp>
        <p:nvSpPr>
          <p:cNvPr id="23" name="Text 12"/>
          <p:cNvSpPr/>
          <p:nvPr/>
        </p:nvSpPr>
        <p:spPr>
          <a:xfrm>
            <a:off x="4957763" y="2305059"/>
            <a:ext cx="3757613" cy="348044"/>
          </a:xfrm>
          <a:prstGeom prst="rect">
            <a:avLst/>
          </a:prstGeom>
          <a:noFill/>
          <a:ln/>
        </p:spPr>
        <p:txBody>
          <a:bodyPr wrap="square" lIns="0" tIns="0" rIns="0" bIns="0" rtlCol="0" anchor="t">
            <a:spAutoFit/>
          </a:bodyPr>
          <a:lstStyle/>
          <a:p>
            <a:pPr marL="0" indent="0" algn="l">
              <a:lnSpc>
                <a:spcPts val="1400"/>
              </a:lnSpc>
              <a:buNone/>
            </a:pPr>
            <a:r>
              <a:rPr lang="en-US" sz="1000" dirty="0">
                <a:solidFill>
                  <a:srgbClr val="4A5568"/>
                </a:solidFill>
                <a:latin typeface="Inter" pitchFamily="34" charset="0"/>
                <a:ea typeface="Inter" pitchFamily="34" charset="-122"/>
                <a:cs typeface="Inter" pitchFamily="34" charset="-120"/>
              </a:rPr>
              <a:t>Thực hiện qua 6 giai đoạn từ thiết lập Baseline đến tối ưu hóa mô hình cuối cùng.</a:t>
            </a:r>
            <a:endParaRPr lang="en-US" sz="1000" dirty="0"/>
          </a:p>
        </p:txBody>
      </p:sp>
      <p:pic>
        <p:nvPicPr>
          <p:cNvPr id="24" name="Image 8" descr="preencoded.png"/>
          <p:cNvPicPr>
            <a:picLocks noChangeAspect="1"/>
          </p:cNvPicPr>
          <p:nvPr/>
        </p:nvPicPr>
        <p:blipFill>
          <a:blip r:embed="rId11"/>
          <a:stretch>
            <a:fillRect/>
          </a:stretch>
        </p:blipFill>
        <p:spPr>
          <a:xfrm>
            <a:off x="4722019" y="2783691"/>
            <a:ext cx="128588" cy="128588"/>
          </a:xfrm>
          <a:prstGeom prst="rect">
            <a:avLst/>
          </a:prstGeom>
        </p:spPr>
      </p:pic>
      <p:sp>
        <p:nvSpPr>
          <p:cNvPr id="25" name="Text 13"/>
          <p:cNvSpPr/>
          <p:nvPr/>
        </p:nvSpPr>
        <p:spPr>
          <a:xfrm>
            <a:off x="4957763" y="2747972"/>
            <a:ext cx="1362552" cy="153888"/>
          </a:xfrm>
          <a:prstGeom prst="rect">
            <a:avLst/>
          </a:prstGeom>
          <a:noFill/>
          <a:ln/>
        </p:spPr>
        <p:txBody>
          <a:bodyPr wrap="none" lIns="0" tIns="0" rIns="0" bIns="0" rtlCol="0" anchor="t">
            <a:spAutoFit/>
          </a:bodyPr>
          <a:lstStyle/>
          <a:p>
            <a:pPr marL="0" indent="0" algn="l">
              <a:lnSpc>
                <a:spcPts val="1200"/>
              </a:lnSpc>
              <a:buNone/>
            </a:pPr>
            <a:r>
              <a:rPr lang="en-US" sz="1000" b="1" dirty="0">
                <a:solidFill>
                  <a:srgbClr val="2D3748"/>
                </a:solidFill>
                <a:latin typeface="Inter" pitchFamily="34" charset="0"/>
                <a:ea typeface="Inter" pitchFamily="34" charset="-122"/>
                <a:cs typeface="Inter" pitchFamily="34" charset="-120"/>
              </a:rPr>
              <a:t>Đảm bảo tính khách quan</a:t>
            </a:r>
            <a:endParaRPr lang="en-US" sz="1000" dirty="0"/>
          </a:p>
        </p:txBody>
      </p:sp>
      <p:sp>
        <p:nvSpPr>
          <p:cNvPr id="26" name="Text 14"/>
          <p:cNvSpPr/>
          <p:nvPr/>
        </p:nvSpPr>
        <p:spPr>
          <a:xfrm>
            <a:off x="4957763" y="2939067"/>
            <a:ext cx="3757613" cy="348044"/>
          </a:xfrm>
          <a:prstGeom prst="rect">
            <a:avLst/>
          </a:prstGeom>
          <a:noFill/>
          <a:ln/>
        </p:spPr>
        <p:txBody>
          <a:bodyPr wrap="square" lIns="0" tIns="0" rIns="0" bIns="0" rtlCol="0" anchor="t">
            <a:spAutoFit/>
          </a:bodyPr>
          <a:lstStyle/>
          <a:p>
            <a:pPr marL="0" indent="0" algn="l">
              <a:lnSpc>
                <a:spcPts val="1400"/>
              </a:lnSpc>
              <a:buNone/>
            </a:pPr>
            <a:r>
              <a:rPr lang="en-US" sz="1000" dirty="0">
                <a:solidFill>
                  <a:srgbClr val="4A5568"/>
                </a:solidFill>
                <a:latin typeface="Inter" pitchFamily="34" charset="0"/>
                <a:ea typeface="Inter" pitchFamily="34" charset="-122"/>
                <a:cs typeface="Inter" pitchFamily="34" charset="-120"/>
              </a:rPr>
              <a:t>Kiểm soát biến số chặt chẽ và tránh rò rỉ dữ liệu (Data Leakage) trong quá trình huấn luyện.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14300" y="-8689"/>
            <a:ext cx="9029700" cy="5143500"/>
          </a:xfrm>
          <a:prstGeom prst="rect">
            <a:avLst/>
          </a:prstGeom>
        </p:spPr>
      </p:pic>
      <p:sp>
        <p:nvSpPr>
          <p:cNvPr id="25" name="Shape 21"/>
          <p:cNvSpPr/>
          <p:nvPr/>
        </p:nvSpPr>
        <p:spPr>
          <a:xfrm>
            <a:off x="4586259" y="1137643"/>
            <a:ext cx="1333509" cy="2196703"/>
          </a:xfrm>
          <a:prstGeom prst="rect">
            <a:avLst/>
          </a:prstGeom>
          <a:solidFill>
            <a:srgbClr val="FFFFFF"/>
          </a:solidFill>
          <a:ln/>
        </p:spPr>
      </p:sp>
      <p:sp>
        <p:nvSpPr>
          <p:cNvPr id="27" name="Text 23"/>
          <p:cNvSpPr/>
          <p:nvPr/>
        </p:nvSpPr>
        <p:spPr>
          <a:xfrm>
            <a:off x="4657697" y="1209080"/>
            <a:ext cx="1190634"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3182CE"/>
                </a:solidFill>
                <a:latin typeface="Montserrat" pitchFamily="34" charset="0"/>
                <a:ea typeface="Montserrat" pitchFamily="34" charset="-122"/>
                <a:cs typeface="Montserrat" pitchFamily="34" charset="-120"/>
              </a:rPr>
              <a:t>GIAI ĐOẠN 4</a:t>
            </a:r>
            <a:endParaRPr lang="en-US" sz="727" dirty="0"/>
          </a:p>
        </p:txBody>
      </p:sp>
      <p:sp>
        <p:nvSpPr>
          <p:cNvPr id="28" name="Text 24"/>
          <p:cNvSpPr/>
          <p:nvPr/>
        </p:nvSpPr>
        <p:spPr>
          <a:xfrm>
            <a:off x="4657697" y="1373387"/>
            <a:ext cx="1190634" cy="314325"/>
          </a:xfrm>
          <a:prstGeom prst="rect">
            <a:avLst/>
          </a:prstGeom>
          <a:noFill/>
          <a:ln/>
        </p:spPr>
        <p:txBody>
          <a:bodyPr wrap="square" lIns="0" tIns="0" rIns="0" bIns="0" rtlCol="0" anchor="t">
            <a:spAutoFit/>
          </a:bodyPr>
          <a:lstStyle/>
          <a:p>
            <a:pPr marL="0" indent="0" algn="l">
              <a:lnSpc>
                <a:spcPts val="1200"/>
              </a:lnSpc>
              <a:buNone/>
            </a:pPr>
            <a:r>
              <a:rPr lang="en-US" sz="942" dirty="0">
                <a:solidFill>
                  <a:srgbClr val="1A365D"/>
                </a:solidFill>
                <a:latin typeface="Montserrat" pitchFamily="34" charset="0"/>
                <a:ea typeface="Montserrat" pitchFamily="34" charset="-122"/>
                <a:cs typeface="Montserrat" pitchFamily="34" charset="-120"/>
              </a:rPr>
              <a:t>Kỹ nghệ đặc trưng</a:t>
            </a:r>
            <a:endParaRPr lang="en-US" sz="942" dirty="0"/>
          </a:p>
        </p:txBody>
      </p:sp>
      <p:sp>
        <p:nvSpPr>
          <p:cNvPr id="29" name="Text 25"/>
          <p:cNvSpPr/>
          <p:nvPr/>
        </p:nvSpPr>
        <p:spPr>
          <a:xfrm>
            <a:off x="4657697" y="1730574"/>
            <a:ext cx="1190634" cy="508024"/>
          </a:xfrm>
          <a:prstGeom prst="rect">
            <a:avLst/>
          </a:prstGeom>
          <a:noFill/>
          <a:ln/>
        </p:spPr>
        <p:txBody>
          <a:bodyPr wrap="square" lIns="0" tIns="0" rIns="0" bIns="0" rtlCol="0" anchor="t">
            <a:spAutoFit/>
          </a:bodyPr>
          <a:lstStyle/>
          <a:p>
            <a:pPr marL="0" indent="0" algn="l">
              <a:lnSpc>
                <a:spcPts val="1000"/>
              </a:lnSpc>
              <a:buNone/>
            </a:pPr>
            <a:r>
              <a:rPr lang="en-US" sz="800" dirty="0">
                <a:solidFill>
                  <a:srgbClr val="4A5568"/>
                </a:solidFill>
                <a:latin typeface="Inter" pitchFamily="34" charset="0"/>
                <a:ea typeface="Inter" pitchFamily="34" charset="-122"/>
                <a:cs typeface="Inter" pitchFamily="34" charset="-120"/>
              </a:rPr>
              <a:t>Tạo biến tương tác mới như BMI_Age và Glucose_BMI để khai thác quan hệ phi tuyến.</a:t>
            </a:r>
            <a:endParaRPr lang="en-US" sz="800" dirty="0"/>
          </a:p>
        </p:txBody>
      </p:sp>
      <p:sp>
        <p:nvSpPr>
          <p:cNvPr id="4" name="Text 0"/>
          <p:cNvSpPr/>
          <p:nvPr/>
        </p:nvSpPr>
        <p:spPr>
          <a:xfrm>
            <a:off x="485775" y="342900"/>
            <a:ext cx="8286750" cy="278606"/>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365D"/>
                </a:solidFill>
                <a:latin typeface="Montserrat" pitchFamily="34" charset="0"/>
                <a:ea typeface="Montserrat" pitchFamily="34" charset="-122"/>
                <a:cs typeface="Montserrat" pitchFamily="34" charset="-120"/>
              </a:rPr>
              <a:t>Quy trình thử nghiệm tịnh tiến giúp kiểm soát biến số chặt chẽ</a:t>
            </a:r>
            <a:endParaRPr lang="en-US" sz="1602" dirty="0"/>
          </a:p>
        </p:txBody>
      </p:sp>
      <p:sp>
        <p:nvSpPr>
          <p:cNvPr id="5" name="Shape 1"/>
          <p:cNvSpPr/>
          <p:nvPr/>
        </p:nvSpPr>
        <p:spPr>
          <a:xfrm>
            <a:off x="400021" y="1143001"/>
            <a:ext cx="1333481" cy="2196703"/>
          </a:xfrm>
          <a:prstGeom prst="rect">
            <a:avLst/>
          </a:prstGeom>
          <a:solidFill>
            <a:srgbClr val="FFFFFF"/>
          </a:solidFill>
          <a:ln/>
        </p:spPr>
      </p:sp>
      <p:sp>
        <p:nvSpPr>
          <p:cNvPr id="6" name="Shape 2"/>
          <p:cNvSpPr/>
          <p:nvPr/>
        </p:nvSpPr>
        <p:spPr>
          <a:xfrm>
            <a:off x="400021" y="1143001"/>
            <a:ext cx="28575" cy="2196703"/>
          </a:xfrm>
          <a:prstGeom prst="rect">
            <a:avLst/>
          </a:prstGeom>
          <a:solidFill>
            <a:srgbClr val="3182CE"/>
          </a:solidFill>
          <a:ln/>
        </p:spPr>
      </p:sp>
      <p:sp>
        <p:nvSpPr>
          <p:cNvPr id="7" name="Text 3"/>
          <p:cNvSpPr/>
          <p:nvPr/>
        </p:nvSpPr>
        <p:spPr>
          <a:xfrm>
            <a:off x="471459" y="1214438"/>
            <a:ext cx="1190606"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3182CE"/>
                </a:solidFill>
                <a:latin typeface="Montserrat" pitchFamily="34" charset="0"/>
                <a:ea typeface="Montserrat" pitchFamily="34" charset="-122"/>
                <a:cs typeface="Montserrat" pitchFamily="34" charset="-120"/>
              </a:rPr>
              <a:t>GIAI ĐOẠN 1</a:t>
            </a:r>
            <a:endParaRPr lang="en-US" sz="727" dirty="0"/>
          </a:p>
        </p:txBody>
      </p:sp>
      <p:sp>
        <p:nvSpPr>
          <p:cNvPr id="8" name="Text 4"/>
          <p:cNvSpPr/>
          <p:nvPr/>
        </p:nvSpPr>
        <p:spPr>
          <a:xfrm>
            <a:off x="471459" y="1378745"/>
            <a:ext cx="1190606" cy="157163"/>
          </a:xfrm>
          <a:prstGeom prst="rect">
            <a:avLst/>
          </a:prstGeom>
          <a:noFill/>
          <a:ln/>
        </p:spPr>
        <p:txBody>
          <a:bodyPr wrap="none" lIns="0" tIns="0" rIns="0" bIns="0" rtlCol="0" anchor="t">
            <a:spAutoFit/>
          </a:bodyPr>
          <a:lstStyle/>
          <a:p>
            <a:pPr marL="0" indent="0" algn="l">
              <a:lnSpc>
                <a:spcPts val="1200"/>
              </a:lnSpc>
              <a:buNone/>
            </a:pPr>
            <a:r>
              <a:rPr lang="en-US" sz="942" dirty="0">
                <a:solidFill>
                  <a:srgbClr val="1A365D"/>
                </a:solidFill>
                <a:latin typeface="Montserrat" pitchFamily="34" charset="0"/>
                <a:ea typeface="Montserrat" pitchFamily="34" charset="-122"/>
                <a:cs typeface="Montserrat" pitchFamily="34" charset="-120"/>
              </a:rPr>
              <a:t>Thiết lập Baseline</a:t>
            </a:r>
            <a:endParaRPr lang="en-US" sz="942" dirty="0"/>
          </a:p>
        </p:txBody>
      </p:sp>
      <p:sp>
        <p:nvSpPr>
          <p:cNvPr id="9" name="Text 5"/>
          <p:cNvSpPr/>
          <p:nvPr/>
        </p:nvSpPr>
        <p:spPr>
          <a:xfrm>
            <a:off x="471459" y="1578770"/>
            <a:ext cx="1190606" cy="379784"/>
          </a:xfrm>
          <a:prstGeom prst="rect">
            <a:avLst/>
          </a:prstGeom>
          <a:noFill/>
          <a:ln/>
        </p:spPr>
        <p:txBody>
          <a:bodyPr wrap="square" lIns="0" tIns="0" rIns="0" bIns="0" rtlCol="0" anchor="t">
            <a:spAutoFit/>
          </a:bodyPr>
          <a:lstStyle/>
          <a:p>
            <a:pPr marL="0" indent="0" algn="l">
              <a:lnSpc>
                <a:spcPts val="1000"/>
              </a:lnSpc>
              <a:buNone/>
            </a:pPr>
            <a:r>
              <a:rPr lang="en-US" sz="800" dirty="0">
                <a:solidFill>
                  <a:srgbClr val="4A5568"/>
                </a:solidFill>
                <a:latin typeface="Inter" pitchFamily="34" charset="0"/>
                <a:ea typeface="Inter" pitchFamily="34" charset="-122"/>
                <a:cs typeface="Inter" pitchFamily="34" charset="-120"/>
              </a:rPr>
              <a:t>Xây dựng mô hình Logistic Regression đơn giản để làm cột mốc so sánh.</a:t>
            </a:r>
            <a:endParaRPr lang="en-US" sz="800" dirty="0"/>
          </a:p>
        </p:txBody>
      </p:sp>
      <p:sp>
        <p:nvSpPr>
          <p:cNvPr id="10" name="Shape 6"/>
          <p:cNvSpPr/>
          <p:nvPr/>
        </p:nvSpPr>
        <p:spPr>
          <a:xfrm>
            <a:off x="1790652" y="1143001"/>
            <a:ext cx="1333509" cy="2196703"/>
          </a:xfrm>
          <a:prstGeom prst="rect">
            <a:avLst/>
          </a:prstGeom>
          <a:solidFill>
            <a:srgbClr val="FFFFFF"/>
          </a:solidFill>
          <a:ln/>
        </p:spPr>
      </p:sp>
      <p:sp>
        <p:nvSpPr>
          <p:cNvPr id="11" name="Shape 7"/>
          <p:cNvSpPr/>
          <p:nvPr/>
        </p:nvSpPr>
        <p:spPr>
          <a:xfrm>
            <a:off x="1790652" y="1143001"/>
            <a:ext cx="28575" cy="2196703"/>
          </a:xfrm>
          <a:prstGeom prst="rect">
            <a:avLst/>
          </a:prstGeom>
          <a:solidFill>
            <a:srgbClr val="3182CE"/>
          </a:solidFill>
          <a:ln/>
        </p:spPr>
      </p:sp>
      <p:sp>
        <p:nvSpPr>
          <p:cNvPr id="12" name="Text 8"/>
          <p:cNvSpPr/>
          <p:nvPr/>
        </p:nvSpPr>
        <p:spPr>
          <a:xfrm>
            <a:off x="1862090" y="1214438"/>
            <a:ext cx="1190634"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3182CE"/>
                </a:solidFill>
                <a:latin typeface="Montserrat" pitchFamily="34" charset="0"/>
                <a:ea typeface="Montserrat" pitchFamily="34" charset="-122"/>
                <a:cs typeface="Montserrat" pitchFamily="34" charset="-120"/>
              </a:rPr>
              <a:t>GIAI ĐOẠN 2</a:t>
            </a:r>
            <a:endParaRPr lang="en-US" sz="727" dirty="0"/>
          </a:p>
        </p:txBody>
      </p:sp>
      <p:sp>
        <p:nvSpPr>
          <p:cNvPr id="13" name="Text 9"/>
          <p:cNvSpPr/>
          <p:nvPr/>
        </p:nvSpPr>
        <p:spPr>
          <a:xfrm>
            <a:off x="1862090" y="1378745"/>
            <a:ext cx="1190634" cy="314325"/>
          </a:xfrm>
          <a:prstGeom prst="rect">
            <a:avLst/>
          </a:prstGeom>
          <a:noFill/>
          <a:ln/>
        </p:spPr>
        <p:txBody>
          <a:bodyPr wrap="square" lIns="0" tIns="0" rIns="0" bIns="0" rtlCol="0" anchor="t">
            <a:spAutoFit/>
          </a:bodyPr>
          <a:lstStyle/>
          <a:p>
            <a:pPr marL="0" indent="0" algn="l">
              <a:lnSpc>
                <a:spcPts val="1200"/>
              </a:lnSpc>
              <a:buNone/>
            </a:pPr>
            <a:r>
              <a:rPr lang="en-US" sz="942" dirty="0">
                <a:solidFill>
                  <a:srgbClr val="1A365D"/>
                </a:solidFill>
                <a:latin typeface="Montserrat" pitchFamily="34" charset="0"/>
                <a:ea typeface="Montserrat" pitchFamily="34" charset="-122"/>
                <a:cs typeface="Montserrat" pitchFamily="34" charset="-120"/>
              </a:rPr>
              <a:t>Chuẩn hóa dữ liệu</a:t>
            </a:r>
            <a:endParaRPr lang="en-US" sz="942" dirty="0"/>
          </a:p>
        </p:txBody>
      </p:sp>
      <p:sp>
        <p:nvSpPr>
          <p:cNvPr id="14" name="Text 10"/>
          <p:cNvSpPr/>
          <p:nvPr/>
        </p:nvSpPr>
        <p:spPr>
          <a:xfrm>
            <a:off x="1862090" y="1735932"/>
            <a:ext cx="1190634" cy="379015"/>
          </a:xfrm>
          <a:prstGeom prst="rect">
            <a:avLst/>
          </a:prstGeom>
          <a:noFill/>
          <a:ln/>
        </p:spPr>
        <p:txBody>
          <a:bodyPr wrap="square" lIns="0" tIns="0" rIns="0" bIns="0" rtlCol="0" anchor="t">
            <a:spAutoFit/>
          </a:bodyPr>
          <a:lstStyle/>
          <a:p>
            <a:pPr marL="0" indent="0" algn="l">
              <a:lnSpc>
                <a:spcPts val="1000"/>
              </a:lnSpc>
              <a:buNone/>
            </a:pPr>
            <a:r>
              <a:rPr lang="en-US" sz="800" dirty="0">
                <a:solidFill>
                  <a:srgbClr val="4A5568"/>
                </a:solidFill>
                <a:latin typeface="Inter" pitchFamily="34" charset="0"/>
                <a:ea typeface="Inter" pitchFamily="34" charset="-122"/>
                <a:cs typeface="Inter" pitchFamily="34" charset="-120"/>
              </a:rPr>
              <a:t>Áp dụng StandardScaler để đưa các đặc trưng về cùng một thang đo.</a:t>
            </a:r>
            <a:endParaRPr lang="en-US" sz="800" dirty="0"/>
          </a:p>
        </p:txBody>
      </p:sp>
      <p:sp>
        <p:nvSpPr>
          <p:cNvPr id="15" name="Shape 11"/>
          <p:cNvSpPr/>
          <p:nvPr/>
        </p:nvSpPr>
        <p:spPr>
          <a:xfrm>
            <a:off x="3181312" y="1143001"/>
            <a:ext cx="1333509" cy="2196703"/>
          </a:xfrm>
          <a:prstGeom prst="rect">
            <a:avLst/>
          </a:prstGeom>
          <a:solidFill>
            <a:srgbClr val="FFFFFF"/>
          </a:solidFill>
          <a:ln/>
        </p:spPr>
      </p:sp>
      <p:sp>
        <p:nvSpPr>
          <p:cNvPr id="16" name="Shape 12"/>
          <p:cNvSpPr/>
          <p:nvPr/>
        </p:nvSpPr>
        <p:spPr>
          <a:xfrm>
            <a:off x="3181312" y="1143001"/>
            <a:ext cx="28575" cy="2196703"/>
          </a:xfrm>
          <a:prstGeom prst="rect">
            <a:avLst/>
          </a:prstGeom>
          <a:solidFill>
            <a:srgbClr val="3182CE"/>
          </a:solidFill>
          <a:ln/>
        </p:spPr>
      </p:sp>
      <p:sp>
        <p:nvSpPr>
          <p:cNvPr id="17" name="Text 13"/>
          <p:cNvSpPr/>
          <p:nvPr/>
        </p:nvSpPr>
        <p:spPr>
          <a:xfrm>
            <a:off x="3252749" y="1214438"/>
            <a:ext cx="1190634"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3182CE"/>
                </a:solidFill>
                <a:latin typeface="Montserrat" pitchFamily="34" charset="0"/>
                <a:ea typeface="Montserrat" pitchFamily="34" charset="-122"/>
                <a:cs typeface="Montserrat" pitchFamily="34" charset="-120"/>
              </a:rPr>
              <a:t>GIAI ĐOẠN 3</a:t>
            </a:r>
            <a:endParaRPr lang="en-US" sz="727" dirty="0"/>
          </a:p>
        </p:txBody>
      </p:sp>
      <p:sp>
        <p:nvSpPr>
          <p:cNvPr id="18" name="Text 14"/>
          <p:cNvSpPr/>
          <p:nvPr/>
        </p:nvSpPr>
        <p:spPr>
          <a:xfrm>
            <a:off x="3252749" y="1378745"/>
            <a:ext cx="1190634" cy="157163"/>
          </a:xfrm>
          <a:prstGeom prst="rect">
            <a:avLst/>
          </a:prstGeom>
          <a:noFill/>
          <a:ln/>
        </p:spPr>
        <p:txBody>
          <a:bodyPr wrap="none" lIns="0" tIns="0" rIns="0" bIns="0" rtlCol="0" anchor="t">
            <a:spAutoFit/>
          </a:bodyPr>
          <a:lstStyle/>
          <a:p>
            <a:pPr marL="0" indent="0" algn="l">
              <a:lnSpc>
                <a:spcPts val="1200"/>
              </a:lnSpc>
              <a:buNone/>
            </a:pPr>
            <a:r>
              <a:rPr lang="en-US" sz="942" dirty="0">
                <a:solidFill>
                  <a:srgbClr val="1A365D"/>
                </a:solidFill>
                <a:latin typeface="Montserrat" pitchFamily="34" charset="0"/>
                <a:ea typeface="Montserrat" pitchFamily="34" charset="-122"/>
                <a:cs typeface="Montserrat" pitchFamily="34" charset="-120"/>
              </a:rPr>
              <a:t>Xử lý nhiễu</a:t>
            </a:r>
            <a:endParaRPr lang="en-US" sz="942" dirty="0"/>
          </a:p>
        </p:txBody>
      </p:sp>
      <p:sp>
        <p:nvSpPr>
          <p:cNvPr id="19" name="Text 15"/>
          <p:cNvSpPr/>
          <p:nvPr/>
        </p:nvSpPr>
        <p:spPr>
          <a:xfrm>
            <a:off x="3252749" y="1578770"/>
            <a:ext cx="1190634" cy="507255"/>
          </a:xfrm>
          <a:prstGeom prst="rect">
            <a:avLst/>
          </a:prstGeom>
          <a:noFill/>
          <a:ln/>
        </p:spPr>
        <p:txBody>
          <a:bodyPr wrap="square" lIns="0" tIns="0" rIns="0" bIns="0" rtlCol="0" anchor="t">
            <a:spAutoFit/>
          </a:bodyPr>
          <a:lstStyle/>
          <a:p>
            <a:pPr marL="0" indent="0" algn="l">
              <a:lnSpc>
                <a:spcPts val="1000"/>
              </a:lnSpc>
              <a:buNone/>
            </a:pPr>
            <a:r>
              <a:rPr lang="en-US" sz="800" dirty="0">
                <a:solidFill>
                  <a:srgbClr val="4A5568"/>
                </a:solidFill>
                <a:latin typeface="Inter" pitchFamily="34" charset="0"/>
                <a:ea typeface="Inter" pitchFamily="34" charset="-122"/>
                <a:cs typeface="Inter" pitchFamily="34" charset="-120"/>
              </a:rPr>
              <a:t>Loại bỏ hoặc biến đổi các giá trị ngoại lai (Outliers) qua Clipping/Log transform.</a:t>
            </a:r>
            <a:endParaRPr lang="en-US" sz="800" dirty="0"/>
          </a:p>
        </p:txBody>
      </p:sp>
      <p:sp>
        <p:nvSpPr>
          <p:cNvPr id="21" name="Shape 17"/>
          <p:cNvSpPr/>
          <p:nvPr/>
        </p:nvSpPr>
        <p:spPr>
          <a:xfrm>
            <a:off x="4571971" y="1143001"/>
            <a:ext cx="28575" cy="2196703"/>
          </a:xfrm>
          <a:prstGeom prst="rect">
            <a:avLst/>
          </a:prstGeom>
          <a:solidFill>
            <a:srgbClr val="3182CE"/>
          </a:solidFill>
          <a:ln/>
        </p:spPr>
      </p:sp>
      <p:sp>
        <p:nvSpPr>
          <p:cNvPr id="30" name="Shape 26"/>
          <p:cNvSpPr/>
          <p:nvPr/>
        </p:nvSpPr>
        <p:spPr>
          <a:xfrm>
            <a:off x="5891165" y="1143001"/>
            <a:ext cx="1333509" cy="2196703"/>
          </a:xfrm>
          <a:prstGeom prst="rect">
            <a:avLst/>
          </a:prstGeom>
          <a:solidFill>
            <a:srgbClr val="FFFFFF"/>
          </a:solidFill>
          <a:ln/>
        </p:spPr>
      </p:sp>
      <p:sp>
        <p:nvSpPr>
          <p:cNvPr id="31" name="Shape 27"/>
          <p:cNvSpPr/>
          <p:nvPr/>
        </p:nvSpPr>
        <p:spPr>
          <a:xfrm>
            <a:off x="5905423" y="1136244"/>
            <a:ext cx="28575" cy="2196703"/>
          </a:xfrm>
          <a:prstGeom prst="rect">
            <a:avLst/>
          </a:prstGeom>
          <a:solidFill>
            <a:srgbClr val="3182CE"/>
          </a:solidFill>
          <a:ln/>
        </p:spPr>
      </p:sp>
      <p:sp>
        <p:nvSpPr>
          <p:cNvPr id="32" name="Text 28"/>
          <p:cNvSpPr/>
          <p:nvPr/>
        </p:nvSpPr>
        <p:spPr>
          <a:xfrm>
            <a:off x="5962602" y="1214438"/>
            <a:ext cx="1190634"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3182CE"/>
                </a:solidFill>
                <a:latin typeface="Montserrat" pitchFamily="34" charset="0"/>
                <a:ea typeface="Montserrat" pitchFamily="34" charset="-122"/>
                <a:cs typeface="Montserrat" pitchFamily="34" charset="-120"/>
              </a:rPr>
              <a:t>GIAI ĐOẠN 5</a:t>
            </a:r>
            <a:endParaRPr lang="en-US" sz="727" dirty="0"/>
          </a:p>
        </p:txBody>
      </p:sp>
      <p:sp>
        <p:nvSpPr>
          <p:cNvPr id="33" name="Text 29"/>
          <p:cNvSpPr/>
          <p:nvPr/>
        </p:nvSpPr>
        <p:spPr>
          <a:xfrm>
            <a:off x="5962602" y="1378745"/>
            <a:ext cx="1190634" cy="314325"/>
          </a:xfrm>
          <a:prstGeom prst="rect">
            <a:avLst/>
          </a:prstGeom>
          <a:noFill/>
          <a:ln/>
        </p:spPr>
        <p:txBody>
          <a:bodyPr wrap="square" lIns="0" tIns="0" rIns="0" bIns="0" rtlCol="0" anchor="t">
            <a:spAutoFit/>
          </a:bodyPr>
          <a:lstStyle/>
          <a:p>
            <a:pPr marL="0" indent="0" algn="l">
              <a:lnSpc>
                <a:spcPts val="1200"/>
              </a:lnSpc>
              <a:buNone/>
            </a:pPr>
            <a:r>
              <a:rPr lang="en-US" sz="942" dirty="0">
                <a:solidFill>
                  <a:srgbClr val="1A365D"/>
                </a:solidFill>
                <a:latin typeface="Montserrat" pitchFamily="34" charset="0"/>
                <a:ea typeface="Montserrat" pitchFamily="34" charset="-122"/>
                <a:cs typeface="Montserrat" pitchFamily="34" charset="-120"/>
              </a:rPr>
              <a:t>Thử nghiệm đa mô hình</a:t>
            </a:r>
            <a:endParaRPr lang="en-US" sz="942" dirty="0"/>
          </a:p>
        </p:txBody>
      </p:sp>
      <p:sp>
        <p:nvSpPr>
          <p:cNvPr id="34" name="Text 30"/>
          <p:cNvSpPr/>
          <p:nvPr/>
        </p:nvSpPr>
        <p:spPr>
          <a:xfrm>
            <a:off x="5962602" y="1735932"/>
            <a:ext cx="1190634" cy="512961"/>
          </a:xfrm>
          <a:prstGeom prst="rect">
            <a:avLst/>
          </a:prstGeom>
          <a:noFill/>
          <a:ln/>
        </p:spPr>
        <p:txBody>
          <a:bodyPr wrap="square" lIns="0" tIns="0" rIns="0" bIns="0" rtlCol="0" anchor="t">
            <a:spAutoFit/>
          </a:bodyPr>
          <a:lstStyle/>
          <a:p>
            <a:pPr marL="0" indent="0" algn="l">
              <a:lnSpc>
                <a:spcPts val="1000"/>
              </a:lnSpc>
              <a:buNone/>
            </a:pPr>
            <a:r>
              <a:rPr lang="en-US" sz="800" dirty="0">
                <a:solidFill>
                  <a:srgbClr val="4A5568"/>
                </a:solidFill>
                <a:latin typeface="Inter" pitchFamily="34" charset="0"/>
                <a:ea typeface="Inter" pitchFamily="34" charset="-122"/>
                <a:cs typeface="Inter" pitchFamily="34" charset="-120"/>
              </a:rPr>
              <a:t>So sánh hiệu năng giữa SVM, KNN, Random Forest trên cùng tập dữ liệu.</a:t>
            </a:r>
            <a:endParaRPr lang="en-US" sz="800" dirty="0"/>
          </a:p>
        </p:txBody>
      </p:sp>
      <p:sp>
        <p:nvSpPr>
          <p:cNvPr id="35" name="Shape 31"/>
          <p:cNvSpPr/>
          <p:nvPr/>
        </p:nvSpPr>
        <p:spPr>
          <a:xfrm>
            <a:off x="7238990" y="1143001"/>
            <a:ext cx="1333481" cy="2196703"/>
          </a:xfrm>
          <a:prstGeom prst="rect">
            <a:avLst/>
          </a:prstGeom>
          <a:solidFill>
            <a:srgbClr val="FFFFFF"/>
          </a:solidFill>
          <a:ln/>
        </p:spPr>
      </p:sp>
      <p:sp>
        <p:nvSpPr>
          <p:cNvPr id="36" name="Shape 32"/>
          <p:cNvSpPr/>
          <p:nvPr/>
        </p:nvSpPr>
        <p:spPr>
          <a:xfrm>
            <a:off x="7224674" y="1132285"/>
            <a:ext cx="28575" cy="2196703"/>
          </a:xfrm>
          <a:prstGeom prst="rect">
            <a:avLst/>
          </a:prstGeom>
          <a:solidFill>
            <a:srgbClr val="3182CE"/>
          </a:solidFill>
          <a:ln/>
        </p:spPr>
      </p:sp>
      <p:sp>
        <p:nvSpPr>
          <p:cNvPr id="37" name="Text 33"/>
          <p:cNvSpPr/>
          <p:nvPr/>
        </p:nvSpPr>
        <p:spPr>
          <a:xfrm>
            <a:off x="7310428" y="1214438"/>
            <a:ext cx="1190606"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3182CE"/>
                </a:solidFill>
                <a:latin typeface="Montserrat" pitchFamily="34" charset="0"/>
                <a:ea typeface="Montserrat" pitchFamily="34" charset="-122"/>
                <a:cs typeface="Montserrat" pitchFamily="34" charset="-120"/>
              </a:rPr>
              <a:t>GIAI ĐOẠN 6</a:t>
            </a:r>
            <a:endParaRPr lang="en-US" sz="727" dirty="0"/>
          </a:p>
        </p:txBody>
      </p:sp>
      <p:sp>
        <p:nvSpPr>
          <p:cNvPr id="38" name="Text 34"/>
          <p:cNvSpPr/>
          <p:nvPr/>
        </p:nvSpPr>
        <p:spPr>
          <a:xfrm>
            <a:off x="7310428" y="1378745"/>
            <a:ext cx="1190606" cy="314325"/>
          </a:xfrm>
          <a:prstGeom prst="rect">
            <a:avLst/>
          </a:prstGeom>
          <a:noFill/>
          <a:ln/>
        </p:spPr>
        <p:txBody>
          <a:bodyPr wrap="square" lIns="0" tIns="0" rIns="0" bIns="0" rtlCol="0" anchor="t">
            <a:spAutoFit/>
          </a:bodyPr>
          <a:lstStyle/>
          <a:p>
            <a:pPr marL="0" indent="0" algn="l">
              <a:lnSpc>
                <a:spcPts val="1200"/>
              </a:lnSpc>
              <a:buNone/>
            </a:pPr>
            <a:r>
              <a:rPr lang="en-US" sz="942" dirty="0">
                <a:solidFill>
                  <a:srgbClr val="1A365D"/>
                </a:solidFill>
                <a:latin typeface="Montserrat" pitchFamily="34" charset="0"/>
                <a:ea typeface="Montserrat" pitchFamily="34" charset="-122"/>
                <a:cs typeface="Montserrat" pitchFamily="34" charset="-120"/>
              </a:rPr>
              <a:t>Tinh chỉnh &amp; Đóng gói</a:t>
            </a:r>
            <a:endParaRPr lang="en-US" sz="942" dirty="0"/>
          </a:p>
        </p:txBody>
      </p:sp>
      <p:sp>
        <p:nvSpPr>
          <p:cNvPr id="39" name="Text 35"/>
          <p:cNvSpPr/>
          <p:nvPr/>
        </p:nvSpPr>
        <p:spPr>
          <a:xfrm>
            <a:off x="7310428" y="1735932"/>
            <a:ext cx="1190606" cy="508024"/>
          </a:xfrm>
          <a:prstGeom prst="rect">
            <a:avLst/>
          </a:prstGeom>
          <a:noFill/>
          <a:ln/>
        </p:spPr>
        <p:txBody>
          <a:bodyPr wrap="square" lIns="0" tIns="0" rIns="0" bIns="0" rtlCol="0" anchor="t">
            <a:spAutoFit/>
          </a:bodyPr>
          <a:lstStyle/>
          <a:p>
            <a:pPr marL="0" indent="0" algn="l">
              <a:lnSpc>
                <a:spcPts val="1000"/>
              </a:lnSpc>
              <a:buNone/>
            </a:pPr>
            <a:r>
              <a:rPr lang="en-US" sz="800" dirty="0">
                <a:solidFill>
                  <a:srgbClr val="4A5568"/>
                </a:solidFill>
                <a:latin typeface="Inter" pitchFamily="34" charset="0"/>
                <a:ea typeface="Inter" pitchFamily="34" charset="-122"/>
                <a:cs typeface="Inter" pitchFamily="34" charset="-120"/>
              </a:rPr>
              <a:t>Sử dụng RandomizedSearchCV để tìm bộ tham số tối ưu và lưu trữ mô hình cuối.</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428625" y="285750"/>
            <a:ext cx="8286750" cy="557213"/>
          </a:xfrm>
          <a:prstGeom prst="rect">
            <a:avLst/>
          </a:prstGeom>
          <a:noFill/>
          <a:ln/>
        </p:spPr>
        <p:txBody>
          <a:bodyPr wrap="square" lIns="0" tIns="0" rIns="0" bIns="0" rtlCol="0" anchor="t">
            <a:spAutoFit/>
          </a:bodyPr>
          <a:lstStyle/>
          <a:p>
            <a:pPr marL="0" indent="0" algn="l">
              <a:lnSpc>
                <a:spcPts val="2200"/>
              </a:lnSpc>
              <a:buNone/>
            </a:pPr>
            <a:r>
              <a:rPr lang="en-US" sz="1602" b="1" dirty="0">
                <a:solidFill>
                  <a:srgbClr val="1A365D"/>
                </a:solidFill>
                <a:latin typeface="Montserrat" pitchFamily="34" charset="0"/>
                <a:ea typeface="Montserrat" pitchFamily="34" charset="-122"/>
                <a:cs typeface="Montserrat" pitchFamily="34" charset="-120"/>
              </a:rPr>
              <a:t>Phân tích EDA cho thấy sự mất cân bằng dữ liệu và tương quan đặc trưng</a:t>
            </a:r>
            <a:endParaRPr lang="en-US" sz="1602" dirty="0"/>
          </a:p>
        </p:txBody>
      </p:sp>
      <p:sp>
        <p:nvSpPr>
          <p:cNvPr id="5" name="Text 1"/>
          <p:cNvSpPr/>
          <p:nvPr/>
        </p:nvSpPr>
        <p:spPr>
          <a:xfrm>
            <a:off x="428625" y="1187704"/>
            <a:ext cx="2080698" cy="184346"/>
          </a:xfrm>
          <a:prstGeom prst="rect">
            <a:avLst/>
          </a:prstGeom>
          <a:noFill/>
          <a:ln/>
        </p:spPr>
        <p:txBody>
          <a:bodyPr wrap="none" lIns="0" tIns="0" rIns="0" bIns="0" rtlCol="0" anchor="t">
            <a:spAutoFit/>
          </a:bodyPr>
          <a:lstStyle/>
          <a:p>
            <a:pPr marL="0" indent="0" algn="l">
              <a:lnSpc>
                <a:spcPts val="1500"/>
              </a:lnSpc>
              <a:buNone/>
            </a:pPr>
            <a:r>
              <a:rPr lang="en-US" sz="1200" b="1" dirty="0">
                <a:solidFill>
                  <a:srgbClr val="3182CE"/>
                </a:solidFill>
                <a:latin typeface="Montserrat" pitchFamily="34" charset="0"/>
                <a:ea typeface="Montserrat" pitchFamily="34" charset="-122"/>
                <a:cs typeface="Montserrat" pitchFamily="34" charset="-120"/>
              </a:rPr>
              <a:t>Kết quả khám phá dữ liệu</a:t>
            </a:r>
            <a:endParaRPr lang="en-US" sz="1200" dirty="0"/>
          </a:p>
        </p:txBody>
      </p:sp>
      <p:sp>
        <p:nvSpPr>
          <p:cNvPr id="6" name="Text 2"/>
          <p:cNvSpPr/>
          <p:nvPr/>
        </p:nvSpPr>
        <p:spPr>
          <a:xfrm>
            <a:off x="428625" y="1521675"/>
            <a:ext cx="1207062" cy="153888"/>
          </a:xfrm>
          <a:prstGeom prst="rect">
            <a:avLst/>
          </a:prstGeom>
          <a:noFill/>
          <a:ln/>
        </p:spPr>
        <p:txBody>
          <a:bodyPr wrap="none" lIns="0" tIns="0" rIns="0" bIns="0" rtlCol="0" anchor="t">
            <a:spAutoFit/>
          </a:bodyPr>
          <a:lstStyle/>
          <a:p>
            <a:pPr marL="0" indent="0" algn="l">
              <a:lnSpc>
                <a:spcPts val="1200"/>
              </a:lnSpc>
              <a:buNone/>
            </a:pPr>
            <a:r>
              <a:rPr lang="en-US" sz="1000" b="1" dirty="0">
                <a:solidFill>
                  <a:srgbClr val="1A365D"/>
                </a:solidFill>
                <a:latin typeface="Inter" pitchFamily="34" charset="0"/>
                <a:ea typeface="Inter" pitchFamily="34" charset="-122"/>
                <a:cs typeface="Inter" pitchFamily="34" charset="-120"/>
              </a:rPr>
              <a:t>Tương quan đặc trưng</a:t>
            </a:r>
            <a:endParaRPr lang="en-US" sz="1000" dirty="0"/>
          </a:p>
        </p:txBody>
      </p:sp>
      <p:sp>
        <p:nvSpPr>
          <p:cNvPr id="7" name="Text 3"/>
          <p:cNvSpPr/>
          <p:nvPr/>
        </p:nvSpPr>
        <p:spPr>
          <a:xfrm>
            <a:off x="428625" y="1734201"/>
            <a:ext cx="3850481" cy="321469"/>
          </a:xfrm>
          <a:prstGeom prst="rect">
            <a:avLst/>
          </a:prstGeom>
          <a:noFill/>
          <a:ln/>
        </p:spPr>
        <p:txBody>
          <a:bodyPr wrap="square" lIns="0" tIns="0" rIns="0" bIns="0" rtlCol="0" anchor="t">
            <a:spAutoFit/>
          </a:bodyPr>
          <a:lstStyle/>
          <a:p>
            <a:pPr marL="0" indent="0" algn="l">
              <a:lnSpc>
                <a:spcPts val="1300"/>
              </a:lnSpc>
              <a:buNone/>
            </a:pPr>
            <a:r>
              <a:rPr lang="en-US" sz="900" dirty="0">
                <a:solidFill>
                  <a:srgbClr val="4A5568"/>
                </a:solidFill>
                <a:latin typeface="Inter" pitchFamily="34" charset="0"/>
                <a:ea typeface="Inter" pitchFamily="34" charset="-122"/>
                <a:cs typeface="Inter" pitchFamily="34" charset="-120"/>
              </a:rPr>
              <a:t>Glucose và BMI thể hiện sự tương quan đáng kể nhất đối với kết quả dự đoán (Outcome). Đây là hai chỉ số tiên quyết trong chẩn đoán.</a:t>
            </a:r>
            <a:endParaRPr lang="en-US" sz="900" dirty="0"/>
          </a:p>
        </p:txBody>
      </p:sp>
      <p:sp>
        <p:nvSpPr>
          <p:cNvPr id="8" name="Text 4"/>
          <p:cNvSpPr/>
          <p:nvPr/>
        </p:nvSpPr>
        <p:spPr>
          <a:xfrm>
            <a:off x="428625" y="2234264"/>
            <a:ext cx="1088439" cy="153888"/>
          </a:xfrm>
          <a:prstGeom prst="rect">
            <a:avLst/>
          </a:prstGeom>
          <a:noFill/>
          <a:ln/>
        </p:spPr>
        <p:txBody>
          <a:bodyPr wrap="none" lIns="0" tIns="0" rIns="0" bIns="0" rtlCol="0" anchor="t">
            <a:spAutoFit/>
          </a:bodyPr>
          <a:lstStyle/>
          <a:p>
            <a:pPr marL="0" indent="0" algn="l">
              <a:lnSpc>
                <a:spcPts val="1200"/>
              </a:lnSpc>
              <a:buNone/>
            </a:pPr>
            <a:r>
              <a:rPr lang="en-US" sz="1000" b="1" dirty="0">
                <a:solidFill>
                  <a:srgbClr val="1A365D"/>
                </a:solidFill>
                <a:latin typeface="Inter" pitchFamily="34" charset="0"/>
                <a:ea typeface="Inter" pitchFamily="34" charset="-122"/>
                <a:cs typeface="Inter" pitchFamily="34" charset="-120"/>
              </a:rPr>
              <a:t>Vấn đề dữ liệu thiếu</a:t>
            </a:r>
            <a:endParaRPr lang="en-US" sz="1000" dirty="0"/>
          </a:p>
        </p:txBody>
      </p:sp>
      <p:sp>
        <p:nvSpPr>
          <p:cNvPr id="9" name="Text 5"/>
          <p:cNvSpPr/>
          <p:nvPr/>
        </p:nvSpPr>
        <p:spPr>
          <a:xfrm>
            <a:off x="428625" y="2446790"/>
            <a:ext cx="3850481" cy="321469"/>
          </a:xfrm>
          <a:prstGeom prst="rect">
            <a:avLst/>
          </a:prstGeom>
          <a:noFill/>
          <a:ln/>
        </p:spPr>
        <p:txBody>
          <a:bodyPr wrap="square" lIns="0" tIns="0" rIns="0" bIns="0" rtlCol="0" anchor="t">
            <a:spAutoFit/>
          </a:bodyPr>
          <a:lstStyle/>
          <a:p>
            <a:pPr marL="0" indent="0" algn="l">
              <a:lnSpc>
                <a:spcPts val="1300"/>
              </a:lnSpc>
              <a:buNone/>
            </a:pPr>
            <a:r>
              <a:rPr lang="en-US" sz="900" dirty="0">
                <a:solidFill>
                  <a:srgbClr val="4A5568"/>
                </a:solidFill>
                <a:latin typeface="Inter" pitchFamily="34" charset="0"/>
                <a:ea typeface="Inter" pitchFamily="34" charset="-122"/>
                <a:cs typeface="Inter" pitchFamily="34" charset="-120"/>
              </a:rPr>
              <a:t>Cột Insulin có lượng giá trị thiếu (giá trị 0 lỗi) cao nhất, vượt mức 350 bản ghi. Cần xử lý điền khuyết bằng Median để bảo toàn mẫu.</a:t>
            </a:r>
            <a:endParaRPr lang="en-US" sz="900" dirty="0"/>
          </a:p>
        </p:txBody>
      </p:sp>
      <p:sp>
        <p:nvSpPr>
          <p:cNvPr id="10" name="Text 6"/>
          <p:cNvSpPr/>
          <p:nvPr/>
        </p:nvSpPr>
        <p:spPr>
          <a:xfrm>
            <a:off x="428625" y="2946853"/>
            <a:ext cx="1886735" cy="153888"/>
          </a:xfrm>
          <a:prstGeom prst="rect">
            <a:avLst/>
          </a:prstGeom>
          <a:noFill/>
          <a:ln/>
        </p:spPr>
        <p:txBody>
          <a:bodyPr wrap="none" lIns="0" tIns="0" rIns="0" bIns="0" rtlCol="0" anchor="t">
            <a:spAutoFit/>
          </a:bodyPr>
          <a:lstStyle/>
          <a:p>
            <a:pPr marL="0" indent="0" algn="l">
              <a:lnSpc>
                <a:spcPts val="1200"/>
              </a:lnSpc>
              <a:buNone/>
            </a:pPr>
            <a:r>
              <a:rPr lang="en-US" sz="1000" b="1" dirty="0">
                <a:solidFill>
                  <a:srgbClr val="1A365D"/>
                </a:solidFill>
                <a:latin typeface="Inter" pitchFamily="34" charset="0"/>
                <a:ea typeface="Inter" pitchFamily="34" charset="-122"/>
                <a:cs typeface="Inter" pitchFamily="34" charset="-120"/>
              </a:rPr>
              <a:t>Mất cân bằng lớp (Class Imbalance)</a:t>
            </a:r>
            <a:endParaRPr lang="en-US" sz="1000" dirty="0"/>
          </a:p>
        </p:txBody>
      </p:sp>
      <p:sp>
        <p:nvSpPr>
          <p:cNvPr id="11" name="Text 7"/>
          <p:cNvSpPr/>
          <p:nvPr/>
        </p:nvSpPr>
        <p:spPr>
          <a:xfrm>
            <a:off x="428625" y="3159379"/>
            <a:ext cx="3850481" cy="321469"/>
          </a:xfrm>
          <a:prstGeom prst="rect">
            <a:avLst/>
          </a:prstGeom>
          <a:noFill/>
          <a:ln/>
        </p:spPr>
        <p:txBody>
          <a:bodyPr wrap="square" lIns="0" tIns="0" rIns="0" bIns="0" rtlCol="0" anchor="t">
            <a:spAutoFit/>
          </a:bodyPr>
          <a:lstStyle/>
          <a:p>
            <a:pPr marL="0" indent="0" algn="l">
              <a:lnSpc>
                <a:spcPts val="1300"/>
              </a:lnSpc>
              <a:buNone/>
            </a:pPr>
            <a:r>
              <a:rPr lang="en-US" sz="900" dirty="0">
                <a:solidFill>
                  <a:srgbClr val="4A5568"/>
                </a:solidFill>
                <a:latin typeface="Inter" pitchFamily="34" charset="0"/>
                <a:ea typeface="Inter" pitchFamily="34" charset="-122"/>
                <a:cs typeface="Inter" pitchFamily="34" charset="-120"/>
              </a:rPr>
              <a:t>Số lượng mẫu "Không bị tiểu đường" nhiều gần gấp đôi nhóm "Bị tiểu đường". Điều này đòi hỏi sử dụng F1-score thay vì chỉ Accuracy.</a:t>
            </a:r>
            <a:endParaRPr lang="en-US" sz="900" dirty="0"/>
          </a:p>
        </p:txBody>
      </p:sp>
      <p:sp>
        <p:nvSpPr>
          <p:cNvPr id="12" name="Text 8"/>
          <p:cNvSpPr/>
          <p:nvPr/>
        </p:nvSpPr>
        <p:spPr>
          <a:xfrm>
            <a:off x="4864894" y="1187704"/>
            <a:ext cx="2984791" cy="184346"/>
          </a:xfrm>
          <a:prstGeom prst="rect">
            <a:avLst/>
          </a:prstGeom>
          <a:noFill/>
          <a:ln/>
        </p:spPr>
        <p:txBody>
          <a:bodyPr wrap="none" lIns="0" tIns="0" rIns="0" bIns="0" rtlCol="0" anchor="t">
            <a:spAutoFit/>
          </a:bodyPr>
          <a:lstStyle/>
          <a:p>
            <a:pPr marL="0" indent="0" algn="l">
              <a:lnSpc>
                <a:spcPts val="1500"/>
              </a:lnSpc>
              <a:buNone/>
            </a:pPr>
            <a:r>
              <a:rPr lang="en-US" sz="1200" b="1" dirty="0">
                <a:solidFill>
                  <a:srgbClr val="3182CE"/>
                </a:solidFill>
                <a:latin typeface="Montserrat" pitchFamily="34" charset="0"/>
                <a:ea typeface="Montserrat" pitchFamily="34" charset="-122"/>
                <a:cs typeface="Montserrat" pitchFamily="34" charset="-120"/>
              </a:rPr>
              <a:t>Thống kê giá trị thiếu (Số lượng 0 lỗi)</a:t>
            </a:r>
            <a:endParaRPr lang="en-US" sz="1200" dirty="0"/>
          </a:p>
        </p:txBody>
      </p:sp>
      <p:sp>
        <p:nvSpPr>
          <p:cNvPr id="13" name="Shape 9"/>
          <p:cNvSpPr/>
          <p:nvPr/>
        </p:nvSpPr>
        <p:spPr>
          <a:xfrm>
            <a:off x="4864894" y="1521675"/>
            <a:ext cx="3850481" cy="2857500"/>
          </a:xfrm>
          <a:prstGeom prst="rect">
            <a:avLst/>
          </a:prstGeom>
          <a:solidFill>
            <a:srgbClr val="FFFFFF"/>
          </a:solidFill>
          <a:ln/>
        </p:spPr>
      </p:sp>
      <p:pic>
        <p:nvPicPr>
          <p:cNvPr id="14" name="Image 1" descr="preencoded.png"/>
          <p:cNvPicPr>
            <a:picLocks noChangeAspect="1"/>
          </p:cNvPicPr>
          <p:nvPr/>
        </p:nvPicPr>
        <p:blipFill>
          <a:blip r:embed="rId4"/>
          <a:stretch>
            <a:fillRect/>
          </a:stretch>
        </p:blipFill>
        <p:spPr>
          <a:xfrm>
            <a:off x="5007769" y="1664550"/>
            <a:ext cx="3564731" cy="2571750"/>
          </a:xfrm>
          <a:prstGeom prst="rect">
            <a:avLst/>
          </a:prstGeom>
        </p:spPr>
      </p:pic>
      <p:sp>
        <p:nvSpPr>
          <p:cNvPr id="15" name="Text 10"/>
          <p:cNvSpPr/>
          <p:nvPr/>
        </p:nvSpPr>
        <p:spPr>
          <a:xfrm>
            <a:off x="4864894" y="4522050"/>
            <a:ext cx="3850481" cy="242888"/>
          </a:xfrm>
          <a:prstGeom prst="rect">
            <a:avLst/>
          </a:prstGeom>
          <a:noFill/>
          <a:ln/>
        </p:spPr>
        <p:txBody>
          <a:bodyPr wrap="square" lIns="0" tIns="0" rIns="0" bIns="0" rtlCol="0" anchor="t">
            <a:spAutoFit/>
          </a:bodyPr>
          <a:lstStyle/>
          <a:p>
            <a:pPr marL="0" indent="0" algn="l">
              <a:lnSpc>
                <a:spcPts val="900"/>
              </a:lnSpc>
              <a:buNone/>
            </a:pPr>
            <a:r>
              <a:rPr lang="en-US" sz="727" i="1" dirty="0">
                <a:solidFill>
                  <a:srgbClr val="718096"/>
                </a:solidFill>
                <a:latin typeface="Inter" pitchFamily="34" charset="0"/>
                <a:ea typeface="Inter" pitchFamily="34" charset="-122"/>
                <a:cs typeface="Inter" pitchFamily="34" charset="-120"/>
              </a:rPr>
              <a:t>* Insulin và SkinThickness là hai đặc trưng có dữ liệu thiếu trầm trọng nhất trong bộ dữ liệu Pima Indians.</a:t>
            </a:r>
            <a:endParaRPr lang="en-US" sz="727"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428625" y="285750"/>
            <a:ext cx="8286750" cy="278606"/>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365D"/>
                </a:solidFill>
                <a:latin typeface="Montserrat" pitchFamily="34" charset="0"/>
                <a:ea typeface="Montserrat" pitchFamily="34" charset="-122"/>
                <a:cs typeface="Montserrat" pitchFamily="34" charset="-120"/>
              </a:rPr>
              <a:t>Kỹ nghệ đặc trưng nâng cao giúp khai thác mối quan hệ phi tuyến</a:t>
            </a:r>
            <a:endParaRPr lang="en-US" sz="1602" dirty="0"/>
          </a:p>
        </p:txBody>
      </p:sp>
      <p:pic>
        <p:nvPicPr>
          <p:cNvPr id="5" name="Image 1" descr="preencoded.png"/>
          <p:cNvPicPr>
            <a:picLocks noChangeAspect="1"/>
          </p:cNvPicPr>
          <p:nvPr/>
        </p:nvPicPr>
        <p:blipFill>
          <a:blip r:embed="rId4"/>
          <a:stretch>
            <a:fillRect/>
          </a:stretch>
        </p:blipFill>
        <p:spPr>
          <a:xfrm>
            <a:off x="428625" y="876895"/>
            <a:ext cx="285750" cy="285750"/>
          </a:xfrm>
          <a:prstGeom prst="rect">
            <a:avLst/>
          </a:prstGeom>
        </p:spPr>
      </p:pic>
      <p:sp>
        <p:nvSpPr>
          <p:cNvPr id="6" name="Text 1"/>
          <p:cNvSpPr/>
          <p:nvPr/>
        </p:nvSpPr>
        <p:spPr>
          <a:xfrm>
            <a:off x="428625" y="1469882"/>
            <a:ext cx="2395528" cy="384721"/>
          </a:xfrm>
          <a:prstGeom prst="rect">
            <a:avLst/>
          </a:prstGeom>
          <a:noFill/>
          <a:ln/>
        </p:spPr>
        <p:txBody>
          <a:bodyPr wrap="square" lIns="0" tIns="0" rIns="0" bIns="0" rtlCol="0" anchor="t">
            <a:spAutoFit/>
          </a:bodyPr>
          <a:lstStyle/>
          <a:p>
            <a:pPr marL="0" indent="0" algn="l">
              <a:lnSpc>
                <a:spcPts val="1500"/>
              </a:lnSpc>
              <a:buNone/>
            </a:pPr>
            <a:r>
              <a:rPr lang="en-US" sz="1400" b="1" dirty="0">
                <a:solidFill>
                  <a:srgbClr val="1A365D"/>
                </a:solidFill>
                <a:latin typeface="Montserrat" pitchFamily="34" charset="0"/>
                <a:ea typeface="Montserrat" pitchFamily="34" charset="-122"/>
                <a:cs typeface="Montserrat" pitchFamily="34" charset="-120"/>
              </a:rPr>
              <a:t>Chuẩn hóa &amp; Biến đổi (Scaling)</a:t>
            </a:r>
            <a:endParaRPr lang="en-US" sz="1400" dirty="0"/>
          </a:p>
        </p:txBody>
      </p:sp>
      <p:pic>
        <p:nvPicPr>
          <p:cNvPr id="7" name="Image 2" descr="preencoded.png"/>
          <p:cNvPicPr>
            <a:picLocks noChangeAspect="1"/>
          </p:cNvPicPr>
          <p:nvPr/>
        </p:nvPicPr>
        <p:blipFill>
          <a:blip r:embed="rId5"/>
          <a:stretch>
            <a:fillRect/>
          </a:stretch>
        </p:blipFill>
        <p:spPr>
          <a:xfrm>
            <a:off x="428625" y="2069957"/>
            <a:ext cx="100013" cy="100013"/>
          </a:xfrm>
          <a:prstGeom prst="rect">
            <a:avLst/>
          </a:prstGeom>
        </p:spPr>
      </p:pic>
      <p:sp>
        <p:nvSpPr>
          <p:cNvPr id="8" name="Text 2"/>
          <p:cNvSpPr/>
          <p:nvPr/>
        </p:nvSpPr>
        <p:spPr>
          <a:xfrm>
            <a:off x="614363" y="2041382"/>
            <a:ext cx="799899" cy="141064"/>
          </a:xfrm>
          <a:prstGeom prst="rect">
            <a:avLst/>
          </a:prstGeom>
          <a:noFill/>
          <a:ln/>
        </p:spPr>
        <p:txBody>
          <a:bodyPr wrap="none" lIns="0" tIns="0" rIns="0" bIns="0" rtlCol="0" anchor="t">
            <a:spAutoFit/>
          </a:bodyPr>
          <a:lstStyle/>
          <a:p>
            <a:pPr marL="0" indent="0" algn="l">
              <a:lnSpc>
                <a:spcPts val="1100"/>
              </a:lnSpc>
              <a:buNone/>
            </a:pPr>
            <a:r>
              <a:rPr lang="en-US" sz="1000" b="1" dirty="0">
                <a:solidFill>
                  <a:srgbClr val="2D3748"/>
                </a:solidFill>
                <a:latin typeface="Inter" pitchFamily="34" charset="0"/>
                <a:ea typeface="Inter" pitchFamily="34" charset="-122"/>
                <a:cs typeface="Inter" pitchFamily="34" charset="-120"/>
              </a:rPr>
              <a:t>StandardScaler</a:t>
            </a:r>
            <a:endParaRPr lang="en-US" sz="1000" dirty="0"/>
          </a:p>
        </p:txBody>
      </p:sp>
      <p:sp>
        <p:nvSpPr>
          <p:cNvPr id="9" name="Text 3"/>
          <p:cNvSpPr/>
          <p:nvPr/>
        </p:nvSpPr>
        <p:spPr>
          <a:xfrm>
            <a:off x="614363" y="2207475"/>
            <a:ext cx="2209791" cy="280002"/>
          </a:xfrm>
          <a:prstGeom prst="rect">
            <a:avLst/>
          </a:prstGeom>
          <a:noFill/>
          <a:ln/>
        </p:spPr>
        <p:txBody>
          <a:bodyPr wrap="square" lIns="0" tIns="0" rIns="0" bIns="0" rtlCol="0" anchor="t">
            <a:spAutoFit/>
          </a:bodyPr>
          <a:lstStyle/>
          <a:p>
            <a:pPr marL="0" indent="0" algn="l">
              <a:lnSpc>
                <a:spcPts val="1100"/>
              </a:lnSpc>
              <a:buNone/>
            </a:pPr>
            <a:r>
              <a:rPr lang="en-US" sz="1000" dirty="0">
                <a:solidFill>
                  <a:srgbClr val="718096"/>
                </a:solidFill>
                <a:latin typeface="Inter" pitchFamily="34" charset="0"/>
                <a:ea typeface="Inter" pitchFamily="34" charset="-122"/>
                <a:cs typeface="Inter" pitchFamily="34" charset="-120"/>
              </a:rPr>
              <a:t>Đưa các thuộc tính về cùng thang đo (mean=0, std=1).</a:t>
            </a:r>
            <a:endParaRPr lang="en-US" sz="1000" dirty="0"/>
          </a:p>
        </p:txBody>
      </p:sp>
      <p:pic>
        <p:nvPicPr>
          <p:cNvPr id="10" name="Image 3" descr="preencoded.png"/>
          <p:cNvPicPr>
            <a:picLocks noChangeAspect="1"/>
          </p:cNvPicPr>
          <p:nvPr/>
        </p:nvPicPr>
        <p:blipFill>
          <a:blip r:embed="rId6"/>
          <a:stretch>
            <a:fillRect/>
          </a:stretch>
        </p:blipFill>
        <p:spPr>
          <a:xfrm>
            <a:off x="428625" y="2658926"/>
            <a:ext cx="100013" cy="100013"/>
          </a:xfrm>
          <a:prstGeom prst="rect">
            <a:avLst/>
          </a:prstGeom>
        </p:spPr>
      </p:pic>
      <p:sp>
        <p:nvSpPr>
          <p:cNvPr id="11" name="Text 4"/>
          <p:cNvSpPr/>
          <p:nvPr/>
        </p:nvSpPr>
        <p:spPr>
          <a:xfrm>
            <a:off x="614363" y="2630351"/>
            <a:ext cx="819135" cy="141064"/>
          </a:xfrm>
          <a:prstGeom prst="rect">
            <a:avLst/>
          </a:prstGeom>
          <a:noFill/>
          <a:ln/>
        </p:spPr>
        <p:txBody>
          <a:bodyPr wrap="none" lIns="0" tIns="0" rIns="0" bIns="0" rtlCol="0" anchor="t">
            <a:spAutoFit/>
          </a:bodyPr>
          <a:lstStyle/>
          <a:p>
            <a:pPr marL="0" indent="0" algn="l">
              <a:lnSpc>
                <a:spcPts val="1100"/>
              </a:lnSpc>
              <a:buNone/>
            </a:pPr>
            <a:r>
              <a:rPr lang="en-US" sz="1000" b="1" dirty="0">
                <a:solidFill>
                  <a:srgbClr val="2D3748"/>
                </a:solidFill>
                <a:latin typeface="Inter" pitchFamily="34" charset="0"/>
                <a:ea typeface="Inter" pitchFamily="34" charset="-122"/>
                <a:cs typeface="Inter" pitchFamily="34" charset="-120"/>
              </a:rPr>
              <a:t>Hỗ trợ mô hình</a:t>
            </a:r>
            <a:endParaRPr lang="en-US" sz="1000" dirty="0"/>
          </a:p>
        </p:txBody>
      </p:sp>
      <p:sp>
        <p:nvSpPr>
          <p:cNvPr id="12" name="Text 5"/>
          <p:cNvSpPr/>
          <p:nvPr/>
        </p:nvSpPr>
        <p:spPr>
          <a:xfrm>
            <a:off x="614363" y="2796443"/>
            <a:ext cx="2209791" cy="280002"/>
          </a:xfrm>
          <a:prstGeom prst="rect">
            <a:avLst/>
          </a:prstGeom>
          <a:noFill/>
          <a:ln/>
        </p:spPr>
        <p:txBody>
          <a:bodyPr wrap="square" lIns="0" tIns="0" rIns="0" bIns="0" rtlCol="0" anchor="t">
            <a:spAutoFit/>
          </a:bodyPr>
          <a:lstStyle/>
          <a:p>
            <a:pPr marL="0" indent="0" algn="l">
              <a:lnSpc>
                <a:spcPts val="1100"/>
              </a:lnSpc>
              <a:buNone/>
            </a:pPr>
            <a:r>
              <a:rPr lang="en-US" sz="1000" dirty="0">
                <a:solidFill>
                  <a:srgbClr val="718096"/>
                </a:solidFill>
                <a:latin typeface="Inter" pitchFamily="34" charset="0"/>
                <a:ea typeface="Inter" pitchFamily="34" charset="-122"/>
                <a:cs typeface="Inter" pitchFamily="34" charset="-120"/>
              </a:rPr>
              <a:t>Cực kỳ quan trọng cho SVM và KNN vốn nhạy cảm với khoảng cách.</a:t>
            </a:r>
            <a:endParaRPr lang="en-US" sz="1000" dirty="0"/>
          </a:p>
        </p:txBody>
      </p:sp>
      <p:pic>
        <p:nvPicPr>
          <p:cNvPr id="13" name="Image 4" descr="preencoded.png"/>
          <p:cNvPicPr>
            <a:picLocks noChangeAspect="1"/>
          </p:cNvPicPr>
          <p:nvPr/>
        </p:nvPicPr>
        <p:blipFill>
          <a:blip r:embed="rId7"/>
          <a:stretch>
            <a:fillRect/>
          </a:stretch>
        </p:blipFill>
        <p:spPr>
          <a:xfrm>
            <a:off x="3267066" y="876895"/>
            <a:ext cx="285750" cy="285750"/>
          </a:xfrm>
          <a:prstGeom prst="rect">
            <a:avLst/>
          </a:prstGeom>
        </p:spPr>
      </p:pic>
      <p:sp>
        <p:nvSpPr>
          <p:cNvPr id="14" name="Text 6"/>
          <p:cNvSpPr/>
          <p:nvPr/>
        </p:nvSpPr>
        <p:spPr>
          <a:xfrm>
            <a:off x="3267066" y="1469882"/>
            <a:ext cx="2395528" cy="192360"/>
          </a:xfrm>
          <a:prstGeom prst="rect">
            <a:avLst/>
          </a:prstGeom>
          <a:noFill/>
          <a:ln/>
        </p:spPr>
        <p:txBody>
          <a:bodyPr wrap="square" lIns="0" tIns="0" rIns="0" bIns="0" rtlCol="0" anchor="t">
            <a:spAutoFit/>
          </a:bodyPr>
          <a:lstStyle/>
          <a:p>
            <a:pPr marL="0" indent="0" algn="l">
              <a:lnSpc>
                <a:spcPts val="1500"/>
              </a:lnSpc>
              <a:buNone/>
            </a:pPr>
            <a:r>
              <a:rPr lang="en-US" sz="1400" b="1" dirty="0">
                <a:solidFill>
                  <a:srgbClr val="1A365D"/>
                </a:solidFill>
                <a:latin typeface="Montserrat" pitchFamily="34" charset="0"/>
                <a:ea typeface="Montserrat" pitchFamily="34" charset="-122"/>
                <a:cs typeface="Montserrat" pitchFamily="34" charset="-120"/>
              </a:rPr>
              <a:t>Xử lý ngoại lai (Outliers)</a:t>
            </a:r>
            <a:endParaRPr lang="en-US" sz="1400" dirty="0"/>
          </a:p>
        </p:txBody>
      </p:sp>
      <p:pic>
        <p:nvPicPr>
          <p:cNvPr id="15" name="Image 5" descr="preencoded.png"/>
          <p:cNvPicPr>
            <a:picLocks noChangeAspect="1"/>
          </p:cNvPicPr>
          <p:nvPr/>
        </p:nvPicPr>
        <p:blipFill>
          <a:blip r:embed="rId8"/>
          <a:stretch>
            <a:fillRect/>
          </a:stretch>
        </p:blipFill>
        <p:spPr>
          <a:xfrm>
            <a:off x="3267066" y="2069957"/>
            <a:ext cx="100013" cy="100013"/>
          </a:xfrm>
          <a:prstGeom prst="rect">
            <a:avLst/>
          </a:prstGeom>
        </p:spPr>
      </p:pic>
      <p:sp>
        <p:nvSpPr>
          <p:cNvPr id="16" name="Text 7"/>
          <p:cNvSpPr/>
          <p:nvPr/>
        </p:nvSpPr>
        <p:spPr>
          <a:xfrm>
            <a:off x="3452803" y="2041382"/>
            <a:ext cx="910506" cy="141064"/>
          </a:xfrm>
          <a:prstGeom prst="rect">
            <a:avLst/>
          </a:prstGeom>
          <a:noFill/>
          <a:ln/>
        </p:spPr>
        <p:txBody>
          <a:bodyPr wrap="none" lIns="0" tIns="0" rIns="0" bIns="0" rtlCol="0" anchor="t">
            <a:spAutoFit/>
          </a:bodyPr>
          <a:lstStyle/>
          <a:p>
            <a:pPr marL="0" indent="0" algn="l">
              <a:lnSpc>
                <a:spcPts val="1100"/>
              </a:lnSpc>
              <a:buNone/>
            </a:pPr>
            <a:r>
              <a:rPr lang="en-US" sz="1000" b="1" dirty="0">
                <a:solidFill>
                  <a:srgbClr val="2D3748"/>
                </a:solidFill>
                <a:latin typeface="Inter" pitchFamily="34" charset="0"/>
                <a:ea typeface="Inter" pitchFamily="34" charset="-122"/>
                <a:cs typeface="Inter" pitchFamily="34" charset="-120"/>
              </a:rPr>
              <a:t>Kỹ thuật Clipping</a:t>
            </a:r>
            <a:endParaRPr lang="en-US" sz="1000" dirty="0"/>
          </a:p>
        </p:txBody>
      </p:sp>
      <p:sp>
        <p:nvSpPr>
          <p:cNvPr id="17" name="Text 8"/>
          <p:cNvSpPr/>
          <p:nvPr/>
        </p:nvSpPr>
        <p:spPr>
          <a:xfrm>
            <a:off x="3452803" y="2207475"/>
            <a:ext cx="2209791" cy="280002"/>
          </a:xfrm>
          <a:prstGeom prst="rect">
            <a:avLst/>
          </a:prstGeom>
          <a:noFill/>
          <a:ln/>
        </p:spPr>
        <p:txBody>
          <a:bodyPr wrap="square" lIns="0" tIns="0" rIns="0" bIns="0" rtlCol="0" anchor="t">
            <a:spAutoFit/>
          </a:bodyPr>
          <a:lstStyle/>
          <a:p>
            <a:pPr marL="0" indent="0" algn="l">
              <a:lnSpc>
                <a:spcPts val="1100"/>
              </a:lnSpc>
              <a:buNone/>
            </a:pPr>
            <a:r>
              <a:rPr lang="en-US" sz="1000" dirty="0">
                <a:solidFill>
                  <a:srgbClr val="718096"/>
                </a:solidFill>
                <a:latin typeface="Inter" pitchFamily="34" charset="0"/>
                <a:ea typeface="Inter" pitchFamily="34" charset="-122"/>
                <a:cs typeface="Inter" pitchFamily="34" charset="-120"/>
              </a:rPr>
              <a:t>Giới hạn biên độ dữ liệu để giảm ảnh hưởng của các giá trị cực đoan.</a:t>
            </a:r>
            <a:endParaRPr lang="en-US" sz="1000" dirty="0"/>
          </a:p>
        </p:txBody>
      </p:sp>
      <p:pic>
        <p:nvPicPr>
          <p:cNvPr id="18" name="Image 6" descr="preencoded.png"/>
          <p:cNvPicPr>
            <a:picLocks noChangeAspect="1"/>
          </p:cNvPicPr>
          <p:nvPr/>
        </p:nvPicPr>
        <p:blipFill>
          <a:blip r:embed="rId9"/>
          <a:stretch>
            <a:fillRect/>
          </a:stretch>
        </p:blipFill>
        <p:spPr>
          <a:xfrm>
            <a:off x="3267066" y="2658926"/>
            <a:ext cx="100013" cy="100013"/>
          </a:xfrm>
          <a:prstGeom prst="rect">
            <a:avLst/>
          </a:prstGeom>
        </p:spPr>
      </p:pic>
      <p:sp>
        <p:nvSpPr>
          <p:cNvPr id="19" name="Text 9"/>
          <p:cNvSpPr/>
          <p:nvPr/>
        </p:nvSpPr>
        <p:spPr>
          <a:xfrm>
            <a:off x="3452803" y="2630351"/>
            <a:ext cx="1040349" cy="141064"/>
          </a:xfrm>
          <a:prstGeom prst="rect">
            <a:avLst/>
          </a:prstGeom>
          <a:noFill/>
          <a:ln/>
        </p:spPr>
        <p:txBody>
          <a:bodyPr wrap="none" lIns="0" tIns="0" rIns="0" bIns="0" rtlCol="0" anchor="t">
            <a:spAutoFit/>
          </a:bodyPr>
          <a:lstStyle/>
          <a:p>
            <a:pPr marL="0" indent="0" algn="l">
              <a:lnSpc>
                <a:spcPts val="1100"/>
              </a:lnSpc>
              <a:buNone/>
            </a:pPr>
            <a:r>
              <a:rPr lang="en-US" sz="1000" b="1" dirty="0">
                <a:solidFill>
                  <a:srgbClr val="2D3748"/>
                </a:solidFill>
                <a:latin typeface="Inter" pitchFamily="34" charset="0"/>
                <a:ea typeface="Inter" pitchFamily="34" charset="-122"/>
                <a:cs typeface="Inter" pitchFamily="34" charset="-120"/>
              </a:rPr>
              <a:t>Log Transformation</a:t>
            </a:r>
            <a:endParaRPr lang="en-US" sz="1000" dirty="0"/>
          </a:p>
        </p:txBody>
      </p:sp>
      <p:sp>
        <p:nvSpPr>
          <p:cNvPr id="20" name="Text 10"/>
          <p:cNvSpPr/>
          <p:nvPr/>
        </p:nvSpPr>
        <p:spPr>
          <a:xfrm>
            <a:off x="3452803" y="2796443"/>
            <a:ext cx="2209791" cy="280002"/>
          </a:xfrm>
          <a:prstGeom prst="rect">
            <a:avLst/>
          </a:prstGeom>
          <a:noFill/>
          <a:ln/>
        </p:spPr>
        <p:txBody>
          <a:bodyPr wrap="square" lIns="0" tIns="0" rIns="0" bIns="0" rtlCol="0" anchor="t">
            <a:spAutoFit/>
          </a:bodyPr>
          <a:lstStyle/>
          <a:p>
            <a:pPr marL="0" indent="0" algn="l">
              <a:lnSpc>
                <a:spcPts val="1100"/>
              </a:lnSpc>
              <a:buNone/>
            </a:pPr>
            <a:r>
              <a:rPr lang="en-US" sz="1000" dirty="0">
                <a:solidFill>
                  <a:srgbClr val="718096"/>
                </a:solidFill>
                <a:latin typeface="Inter" pitchFamily="34" charset="0"/>
                <a:ea typeface="Inter" pitchFamily="34" charset="-122"/>
                <a:cs typeface="Inter" pitchFamily="34" charset="-120"/>
              </a:rPr>
              <a:t>Áp dụng cho Insulin để giảm độ lệch (skewness) và thu hẹp dải giá trị.</a:t>
            </a:r>
            <a:endParaRPr lang="en-US" sz="1000" dirty="0"/>
          </a:p>
        </p:txBody>
      </p:sp>
      <p:pic>
        <p:nvPicPr>
          <p:cNvPr id="21" name="Image 7" descr="preencoded.png"/>
          <p:cNvPicPr>
            <a:picLocks noChangeAspect="1"/>
          </p:cNvPicPr>
          <p:nvPr/>
        </p:nvPicPr>
        <p:blipFill>
          <a:blip r:embed="rId10"/>
          <a:stretch>
            <a:fillRect/>
          </a:stretch>
        </p:blipFill>
        <p:spPr>
          <a:xfrm>
            <a:off x="6105506" y="876895"/>
            <a:ext cx="285750" cy="285750"/>
          </a:xfrm>
          <a:prstGeom prst="rect">
            <a:avLst/>
          </a:prstGeom>
        </p:spPr>
      </p:pic>
      <p:sp>
        <p:nvSpPr>
          <p:cNvPr id="22" name="Text 11"/>
          <p:cNvSpPr/>
          <p:nvPr/>
        </p:nvSpPr>
        <p:spPr>
          <a:xfrm>
            <a:off x="6105506" y="1469882"/>
            <a:ext cx="2395528" cy="384721"/>
          </a:xfrm>
          <a:prstGeom prst="rect">
            <a:avLst/>
          </a:prstGeom>
          <a:noFill/>
          <a:ln/>
        </p:spPr>
        <p:txBody>
          <a:bodyPr wrap="square" lIns="0" tIns="0" rIns="0" bIns="0" rtlCol="0" anchor="t">
            <a:spAutoFit/>
          </a:bodyPr>
          <a:lstStyle/>
          <a:p>
            <a:pPr marL="0" indent="0" algn="l">
              <a:lnSpc>
                <a:spcPts val="1500"/>
              </a:lnSpc>
              <a:buNone/>
            </a:pPr>
            <a:r>
              <a:rPr lang="en-US" sz="1400" b="1" dirty="0">
                <a:solidFill>
                  <a:srgbClr val="1A365D"/>
                </a:solidFill>
                <a:latin typeface="Montserrat" pitchFamily="34" charset="0"/>
                <a:ea typeface="Montserrat" pitchFamily="34" charset="-122"/>
                <a:cs typeface="Montserrat" pitchFamily="34" charset="-120"/>
              </a:rPr>
              <a:t>Tạo đặc trưng mới (Interaction)</a:t>
            </a:r>
            <a:endParaRPr lang="en-US" sz="1400" dirty="0"/>
          </a:p>
        </p:txBody>
      </p:sp>
      <p:pic>
        <p:nvPicPr>
          <p:cNvPr id="23" name="Image 8" descr="preencoded.png"/>
          <p:cNvPicPr>
            <a:picLocks noChangeAspect="1"/>
          </p:cNvPicPr>
          <p:nvPr/>
        </p:nvPicPr>
        <p:blipFill>
          <a:blip r:embed="rId11"/>
          <a:stretch>
            <a:fillRect/>
          </a:stretch>
        </p:blipFill>
        <p:spPr>
          <a:xfrm>
            <a:off x="6105506" y="2069957"/>
            <a:ext cx="100013" cy="100013"/>
          </a:xfrm>
          <a:prstGeom prst="rect">
            <a:avLst/>
          </a:prstGeom>
        </p:spPr>
      </p:pic>
      <p:sp>
        <p:nvSpPr>
          <p:cNvPr id="24" name="Text 12"/>
          <p:cNvSpPr/>
          <p:nvPr/>
        </p:nvSpPr>
        <p:spPr>
          <a:xfrm>
            <a:off x="6291244" y="2041382"/>
            <a:ext cx="484107" cy="141064"/>
          </a:xfrm>
          <a:prstGeom prst="rect">
            <a:avLst/>
          </a:prstGeom>
          <a:noFill/>
          <a:ln/>
        </p:spPr>
        <p:txBody>
          <a:bodyPr wrap="none" lIns="0" tIns="0" rIns="0" bIns="0" rtlCol="0" anchor="t">
            <a:spAutoFit/>
          </a:bodyPr>
          <a:lstStyle/>
          <a:p>
            <a:pPr marL="0" indent="0" algn="l">
              <a:lnSpc>
                <a:spcPts val="1100"/>
              </a:lnSpc>
              <a:buNone/>
            </a:pPr>
            <a:r>
              <a:rPr lang="en-US" sz="1000" b="1" dirty="0">
                <a:solidFill>
                  <a:srgbClr val="2D3748"/>
                </a:solidFill>
                <a:latin typeface="Inter" pitchFamily="34" charset="0"/>
                <a:ea typeface="Inter" pitchFamily="34" charset="-122"/>
                <a:cs typeface="Inter" pitchFamily="34" charset="-120"/>
              </a:rPr>
              <a:t>BMI_Age</a:t>
            </a:r>
            <a:endParaRPr lang="en-US" sz="1000" dirty="0"/>
          </a:p>
        </p:txBody>
      </p:sp>
      <p:sp>
        <p:nvSpPr>
          <p:cNvPr id="25" name="Text 13"/>
          <p:cNvSpPr/>
          <p:nvPr/>
        </p:nvSpPr>
        <p:spPr>
          <a:xfrm>
            <a:off x="6291244" y="2207475"/>
            <a:ext cx="2209791" cy="280002"/>
          </a:xfrm>
          <a:prstGeom prst="rect">
            <a:avLst/>
          </a:prstGeom>
          <a:noFill/>
          <a:ln/>
        </p:spPr>
        <p:txBody>
          <a:bodyPr wrap="square" lIns="0" tIns="0" rIns="0" bIns="0" rtlCol="0" anchor="t">
            <a:spAutoFit/>
          </a:bodyPr>
          <a:lstStyle/>
          <a:p>
            <a:pPr marL="0" indent="0" algn="l">
              <a:lnSpc>
                <a:spcPts val="1100"/>
              </a:lnSpc>
              <a:buNone/>
            </a:pPr>
            <a:r>
              <a:rPr lang="en-US" sz="1000" dirty="0">
                <a:solidFill>
                  <a:srgbClr val="718096"/>
                </a:solidFill>
                <a:latin typeface="Inter" pitchFamily="34" charset="0"/>
                <a:ea typeface="Inter" pitchFamily="34" charset="-122"/>
                <a:cs typeface="Inter" pitchFamily="34" charset="-120"/>
              </a:rPr>
              <a:t>Khai thác mối liên hệ giữa thể trạng và quá trình lão hóa.</a:t>
            </a:r>
            <a:endParaRPr lang="en-US" sz="1000" dirty="0"/>
          </a:p>
        </p:txBody>
      </p:sp>
      <p:pic>
        <p:nvPicPr>
          <p:cNvPr id="26" name="Image 9" descr="preencoded.png"/>
          <p:cNvPicPr>
            <a:picLocks noChangeAspect="1"/>
          </p:cNvPicPr>
          <p:nvPr/>
        </p:nvPicPr>
        <p:blipFill>
          <a:blip r:embed="rId12"/>
          <a:stretch>
            <a:fillRect/>
          </a:stretch>
        </p:blipFill>
        <p:spPr>
          <a:xfrm>
            <a:off x="6105506" y="2658926"/>
            <a:ext cx="100013" cy="100013"/>
          </a:xfrm>
          <a:prstGeom prst="rect">
            <a:avLst/>
          </a:prstGeom>
        </p:spPr>
      </p:pic>
      <p:sp>
        <p:nvSpPr>
          <p:cNvPr id="27" name="Text 14"/>
          <p:cNvSpPr/>
          <p:nvPr/>
        </p:nvSpPr>
        <p:spPr>
          <a:xfrm>
            <a:off x="6291244" y="2630351"/>
            <a:ext cx="702115" cy="141064"/>
          </a:xfrm>
          <a:prstGeom prst="rect">
            <a:avLst/>
          </a:prstGeom>
          <a:noFill/>
          <a:ln/>
        </p:spPr>
        <p:txBody>
          <a:bodyPr wrap="none" lIns="0" tIns="0" rIns="0" bIns="0" rtlCol="0" anchor="t">
            <a:spAutoFit/>
          </a:bodyPr>
          <a:lstStyle/>
          <a:p>
            <a:pPr marL="0" indent="0" algn="l">
              <a:lnSpc>
                <a:spcPts val="1100"/>
              </a:lnSpc>
              <a:buNone/>
            </a:pPr>
            <a:r>
              <a:rPr lang="en-US" sz="1000" b="1" dirty="0">
                <a:solidFill>
                  <a:srgbClr val="2D3748"/>
                </a:solidFill>
                <a:latin typeface="Inter" pitchFamily="34" charset="0"/>
                <a:ea typeface="Inter" pitchFamily="34" charset="-122"/>
                <a:cs typeface="Inter" pitchFamily="34" charset="-120"/>
              </a:rPr>
              <a:t>Glucose_BMI</a:t>
            </a:r>
            <a:endParaRPr lang="en-US" sz="1000" dirty="0"/>
          </a:p>
        </p:txBody>
      </p:sp>
      <p:sp>
        <p:nvSpPr>
          <p:cNvPr id="28" name="Text 15"/>
          <p:cNvSpPr/>
          <p:nvPr/>
        </p:nvSpPr>
        <p:spPr>
          <a:xfrm>
            <a:off x="6291244" y="2796443"/>
            <a:ext cx="2209791" cy="280002"/>
          </a:xfrm>
          <a:prstGeom prst="rect">
            <a:avLst/>
          </a:prstGeom>
          <a:noFill/>
          <a:ln/>
        </p:spPr>
        <p:txBody>
          <a:bodyPr wrap="square" lIns="0" tIns="0" rIns="0" bIns="0" rtlCol="0" anchor="t">
            <a:spAutoFit/>
          </a:bodyPr>
          <a:lstStyle/>
          <a:p>
            <a:pPr marL="0" indent="0" algn="l">
              <a:lnSpc>
                <a:spcPts val="1100"/>
              </a:lnSpc>
              <a:buNone/>
            </a:pPr>
            <a:r>
              <a:rPr lang="en-US" sz="1000" dirty="0">
                <a:solidFill>
                  <a:srgbClr val="718096"/>
                </a:solidFill>
                <a:latin typeface="Inter" pitchFamily="34" charset="0"/>
                <a:ea typeface="Inter" pitchFamily="34" charset="-122"/>
                <a:cs typeface="Inter" pitchFamily="34" charset="-120"/>
              </a:rPr>
              <a:t>Kết hợp hai chỉ số quan trọng nhất để tăng sức mạnh dự báo.</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428625" y="285750"/>
            <a:ext cx="8286750" cy="557213"/>
          </a:xfrm>
          <a:prstGeom prst="rect">
            <a:avLst/>
          </a:prstGeom>
          <a:noFill/>
          <a:ln/>
        </p:spPr>
        <p:txBody>
          <a:bodyPr wrap="square" lIns="0" tIns="0" rIns="0" bIns="0" rtlCol="0" anchor="t">
            <a:spAutoFit/>
          </a:bodyPr>
          <a:lstStyle/>
          <a:p>
            <a:pPr marL="0" indent="0" algn="l">
              <a:lnSpc>
                <a:spcPts val="2200"/>
              </a:lnSpc>
              <a:buNone/>
            </a:pPr>
            <a:r>
              <a:rPr lang="en-US" sz="1602" b="1" dirty="0">
                <a:solidFill>
                  <a:srgbClr val="1A365D"/>
                </a:solidFill>
                <a:latin typeface="Montserrat" pitchFamily="34" charset="0"/>
                <a:ea typeface="Montserrat" pitchFamily="34" charset="-122"/>
                <a:cs typeface="Montserrat" pitchFamily="34" charset="-120"/>
              </a:rPr>
              <a:t>Random Forest vượt trội hơn các mô hình truyền thống sau khi Tuning</a:t>
            </a:r>
            <a:endParaRPr lang="en-US" sz="1602" dirty="0"/>
          </a:p>
        </p:txBody>
      </p:sp>
      <p:sp>
        <p:nvSpPr>
          <p:cNvPr id="5" name="Shape 1"/>
          <p:cNvSpPr/>
          <p:nvPr/>
        </p:nvSpPr>
        <p:spPr>
          <a:xfrm>
            <a:off x="428625" y="1271588"/>
            <a:ext cx="4200525" cy="1807369"/>
          </a:xfrm>
          <a:prstGeom prst="rect">
            <a:avLst/>
          </a:prstGeom>
          <a:solidFill>
            <a:srgbClr val="FFFFFF"/>
          </a:solidFill>
          <a:ln/>
        </p:spPr>
      </p:sp>
      <p:sp>
        <p:nvSpPr>
          <p:cNvPr id="6" name="Shape 2"/>
          <p:cNvSpPr/>
          <p:nvPr/>
        </p:nvSpPr>
        <p:spPr>
          <a:xfrm>
            <a:off x="428625" y="1271588"/>
            <a:ext cx="525066" cy="371475"/>
          </a:xfrm>
          <a:prstGeom prst="rect">
            <a:avLst/>
          </a:prstGeom>
          <a:solidFill>
            <a:srgbClr val="1A365D"/>
          </a:solidFill>
          <a:ln/>
        </p:spPr>
      </p:sp>
      <p:sp>
        <p:nvSpPr>
          <p:cNvPr id="7" name="Text 3"/>
          <p:cNvSpPr/>
          <p:nvPr/>
        </p:nvSpPr>
        <p:spPr>
          <a:xfrm>
            <a:off x="428625" y="1271588"/>
            <a:ext cx="525066" cy="371475"/>
          </a:xfrm>
          <a:prstGeom prst="rect">
            <a:avLst/>
          </a:prstGeom>
          <a:noFill/>
          <a:ln/>
        </p:spPr>
        <p:txBody>
          <a:bodyPr wrap="square" lIns="127508" tIns="127508" rIns="127508" bIns="127508" rtlCol="0" anchor="ctr">
            <a:spAutoFit/>
          </a:bodyPr>
          <a:lstStyle/>
          <a:p>
            <a:pPr marL="0" indent="0" algn="l">
              <a:lnSpc>
                <a:spcPts val="1200"/>
              </a:lnSpc>
              <a:buNone/>
            </a:pPr>
            <a:r>
              <a:rPr lang="en-US" sz="885" b="1" dirty="0">
                <a:solidFill>
                  <a:srgbClr val="FFFFFF"/>
                </a:solidFill>
                <a:latin typeface="Montserrat" pitchFamily="34" charset="0"/>
                <a:ea typeface="Montserrat" pitchFamily="34" charset="-122"/>
                <a:cs typeface="Montserrat" pitchFamily="34" charset="-120"/>
              </a:rPr>
              <a:t>STT</a:t>
            </a:r>
            <a:endParaRPr lang="en-US" sz="885" dirty="0"/>
          </a:p>
        </p:txBody>
      </p:sp>
      <p:sp>
        <p:nvSpPr>
          <p:cNvPr id="8" name="Shape 4"/>
          <p:cNvSpPr/>
          <p:nvPr/>
        </p:nvSpPr>
        <p:spPr>
          <a:xfrm>
            <a:off x="953691" y="1271588"/>
            <a:ext cx="1832483" cy="371475"/>
          </a:xfrm>
          <a:prstGeom prst="rect">
            <a:avLst/>
          </a:prstGeom>
          <a:solidFill>
            <a:srgbClr val="1A365D"/>
          </a:solidFill>
          <a:ln/>
        </p:spPr>
      </p:sp>
      <p:sp>
        <p:nvSpPr>
          <p:cNvPr id="9" name="Text 5"/>
          <p:cNvSpPr/>
          <p:nvPr/>
        </p:nvSpPr>
        <p:spPr>
          <a:xfrm>
            <a:off x="953691" y="1271588"/>
            <a:ext cx="1832483" cy="371475"/>
          </a:xfrm>
          <a:prstGeom prst="rect">
            <a:avLst/>
          </a:prstGeom>
          <a:noFill/>
          <a:ln/>
        </p:spPr>
        <p:txBody>
          <a:bodyPr wrap="square" lIns="127508" tIns="127508" rIns="127508" bIns="127508" rtlCol="0" anchor="ctr">
            <a:spAutoFit/>
          </a:bodyPr>
          <a:lstStyle/>
          <a:p>
            <a:pPr marL="0" indent="0" algn="l">
              <a:lnSpc>
                <a:spcPts val="1200"/>
              </a:lnSpc>
              <a:buNone/>
            </a:pPr>
            <a:r>
              <a:rPr lang="en-US" sz="885" b="1" dirty="0">
                <a:solidFill>
                  <a:srgbClr val="FFFFFF"/>
                </a:solidFill>
                <a:latin typeface="Montserrat" pitchFamily="34" charset="0"/>
                <a:ea typeface="Montserrat" pitchFamily="34" charset="-122"/>
                <a:cs typeface="Montserrat" pitchFamily="34" charset="-120"/>
              </a:rPr>
              <a:t>Mô hình</a:t>
            </a:r>
            <a:endParaRPr lang="en-US" sz="885" dirty="0"/>
          </a:p>
        </p:txBody>
      </p:sp>
      <p:sp>
        <p:nvSpPr>
          <p:cNvPr id="10" name="Shape 6"/>
          <p:cNvSpPr/>
          <p:nvPr/>
        </p:nvSpPr>
        <p:spPr>
          <a:xfrm>
            <a:off x="2786174" y="1271588"/>
            <a:ext cx="964350" cy="371475"/>
          </a:xfrm>
          <a:prstGeom prst="rect">
            <a:avLst/>
          </a:prstGeom>
          <a:solidFill>
            <a:srgbClr val="1A365D"/>
          </a:solidFill>
          <a:ln/>
        </p:spPr>
      </p:sp>
      <p:sp>
        <p:nvSpPr>
          <p:cNvPr id="11" name="Text 7"/>
          <p:cNvSpPr/>
          <p:nvPr/>
        </p:nvSpPr>
        <p:spPr>
          <a:xfrm>
            <a:off x="2786174" y="1271588"/>
            <a:ext cx="964350" cy="371475"/>
          </a:xfrm>
          <a:prstGeom prst="rect">
            <a:avLst/>
          </a:prstGeom>
          <a:noFill/>
          <a:ln/>
        </p:spPr>
        <p:txBody>
          <a:bodyPr wrap="square" lIns="127508" tIns="127508" rIns="127508" bIns="127508" rtlCol="0" anchor="ctr">
            <a:spAutoFit/>
          </a:bodyPr>
          <a:lstStyle/>
          <a:p>
            <a:pPr marL="0" indent="0" algn="l">
              <a:lnSpc>
                <a:spcPts val="1200"/>
              </a:lnSpc>
              <a:buNone/>
            </a:pPr>
            <a:r>
              <a:rPr lang="en-US" sz="885" b="1" dirty="0">
                <a:solidFill>
                  <a:srgbClr val="FFFFFF"/>
                </a:solidFill>
                <a:latin typeface="Montserrat" pitchFamily="34" charset="0"/>
                <a:ea typeface="Montserrat" pitchFamily="34" charset="-122"/>
                <a:cs typeface="Montserrat" pitchFamily="34" charset="-120"/>
              </a:rPr>
              <a:t>Accuracy</a:t>
            </a:r>
            <a:endParaRPr lang="en-US" sz="885" dirty="0"/>
          </a:p>
        </p:txBody>
      </p:sp>
      <p:sp>
        <p:nvSpPr>
          <p:cNvPr id="12" name="Shape 8"/>
          <p:cNvSpPr/>
          <p:nvPr/>
        </p:nvSpPr>
        <p:spPr>
          <a:xfrm>
            <a:off x="3750525" y="1271588"/>
            <a:ext cx="878625" cy="371475"/>
          </a:xfrm>
          <a:prstGeom prst="rect">
            <a:avLst/>
          </a:prstGeom>
          <a:solidFill>
            <a:srgbClr val="1A365D"/>
          </a:solidFill>
          <a:ln/>
        </p:spPr>
      </p:sp>
      <p:sp>
        <p:nvSpPr>
          <p:cNvPr id="13" name="Text 9"/>
          <p:cNvSpPr/>
          <p:nvPr/>
        </p:nvSpPr>
        <p:spPr>
          <a:xfrm>
            <a:off x="3750525" y="1271588"/>
            <a:ext cx="878625" cy="371475"/>
          </a:xfrm>
          <a:prstGeom prst="rect">
            <a:avLst/>
          </a:prstGeom>
          <a:noFill/>
          <a:ln/>
        </p:spPr>
        <p:txBody>
          <a:bodyPr wrap="square" lIns="127508" tIns="127508" rIns="127508" bIns="127508" rtlCol="0" anchor="ctr">
            <a:spAutoFit/>
          </a:bodyPr>
          <a:lstStyle/>
          <a:p>
            <a:pPr marL="0" indent="0" algn="l">
              <a:lnSpc>
                <a:spcPts val="1200"/>
              </a:lnSpc>
              <a:buNone/>
            </a:pPr>
            <a:r>
              <a:rPr lang="en-US" sz="885" b="1" dirty="0">
                <a:solidFill>
                  <a:srgbClr val="FFFFFF"/>
                </a:solidFill>
                <a:latin typeface="Montserrat" pitchFamily="34" charset="0"/>
                <a:ea typeface="Montserrat" pitchFamily="34" charset="-122"/>
                <a:cs typeface="Montserrat" pitchFamily="34" charset="-120"/>
              </a:rPr>
              <a:t>F1-score</a:t>
            </a:r>
            <a:endParaRPr lang="en-US" sz="885" dirty="0"/>
          </a:p>
        </p:txBody>
      </p:sp>
      <p:sp>
        <p:nvSpPr>
          <p:cNvPr id="14" name="Shape 10"/>
          <p:cNvSpPr/>
          <p:nvPr/>
        </p:nvSpPr>
        <p:spPr>
          <a:xfrm>
            <a:off x="428625" y="1643063"/>
            <a:ext cx="4200525" cy="355402"/>
          </a:xfrm>
          <a:prstGeom prst="rect">
            <a:avLst/>
          </a:prstGeom>
          <a:solidFill>
            <a:srgbClr val="3182CE">
              <a:alpha val="10000"/>
            </a:srgbClr>
          </a:solidFill>
          <a:ln/>
        </p:spPr>
      </p:sp>
      <p:sp>
        <p:nvSpPr>
          <p:cNvPr id="15" name="Text 11"/>
          <p:cNvSpPr/>
          <p:nvPr/>
        </p:nvSpPr>
        <p:spPr>
          <a:xfrm>
            <a:off x="428625" y="1643063"/>
            <a:ext cx="525066" cy="355402"/>
          </a:xfrm>
          <a:prstGeom prst="rect">
            <a:avLst/>
          </a:prstGeom>
          <a:noFill/>
          <a:ln/>
        </p:spPr>
        <p:txBody>
          <a:bodyPr wrap="square" lIns="127508" tIns="127508" rIns="127508" bIns="127508" rtlCol="0" anchor="ctr">
            <a:spAutoFit/>
          </a:bodyPr>
          <a:lstStyle/>
          <a:p>
            <a:pPr marL="0" indent="0" algn="l">
              <a:lnSpc>
                <a:spcPts val="1100"/>
              </a:lnSpc>
              <a:buNone/>
            </a:pPr>
            <a:r>
              <a:rPr lang="en-US" sz="784" b="1" dirty="0">
                <a:solidFill>
                  <a:srgbClr val="2D3748"/>
                </a:solidFill>
                <a:latin typeface="Inter" pitchFamily="34" charset="0"/>
                <a:ea typeface="Inter" pitchFamily="34" charset="-122"/>
                <a:cs typeface="Inter" pitchFamily="34" charset="-120"/>
              </a:rPr>
              <a:t>1</a:t>
            </a:r>
            <a:endParaRPr lang="en-US" sz="784" dirty="0"/>
          </a:p>
        </p:txBody>
      </p:sp>
      <p:sp>
        <p:nvSpPr>
          <p:cNvPr id="16" name="Text 12"/>
          <p:cNvSpPr/>
          <p:nvPr/>
        </p:nvSpPr>
        <p:spPr>
          <a:xfrm>
            <a:off x="1060847" y="1750219"/>
            <a:ext cx="1350169" cy="13751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3182CE"/>
                </a:solidFill>
                <a:latin typeface="Inter" pitchFamily="34" charset="0"/>
                <a:ea typeface="Inter" pitchFamily="34" charset="-122"/>
                <a:cs typeface="Inter" pitchFamily="34" charset="-120"/>
              </a:rPr>
              <a:t>Random Forest Classifier</a:t>
            </a:r>
            <a:endParaRPr lang="en-US" sz="784" dirty="0"/>
          </a:p>
        </p:txBody>
      </p:sp>
      <p:sp>
        <p:nvSpPr>
          <p:cNvPr id="17" name="Text 13"/>
          <p:cNvSpPr/>
          <p:nvPr/>
        </p:nvSpPr>
        <p:spPr>
          <a:xfrm>
            <a:off x="2786174" y="1643063"/>
            <a:ext cx="964350" cy="355402"/>
          </a:xfrm>
          <a:prstGeom prst="rect">
            <a:avLst/>
          </a:prstGeom>
          <a:noFill/>
          <a:ln/>
        </p:spPr>
        <p:txBody>
          <a:bodyPr wrap="square" lIns="127508" tIns="127508" rIns="127508" bIns="127508" rtlCol="0" anchor="ctr">
            <a:spAutoFit/>
          </a:bodyPr>
          <a:lstStyle/>
          <a:p>
            <a:pPr marL="0" indent="0" algn="l">
              <a:lnSpc>
                <a:spcPts val="1100"/>
              </a:lnSpc>
              <a:buNone/>
            </a:pPr>
            <a:r>
              <a:rPr lang="en-US" sz="784" b="1" dirty="0">
                <a:solidFill>
                  <a:srgbClr val="2D3748"/>
                </a:solidFill>
                <a:latin typeface="Inter" pitchFamily="34" charset="0"/>
                <a:ea typeface="Inter" pitchFamily="34" charset="-122"/>
                <a:cs typeface="Inter" pitchFamily="34" charset="-120"/>
              </a:rPr>
              <a:t>0.7706</a:t>
            </a:r>
            <a:endParaRPr lang="en-US" sz="784" dirty="0"/>
          </a:p>
        </p:txBody>
      </p:sp>
      <p:sp>
        <p:nvSpPr>
          <p:cNvPr id="18" name="Text 14"/>
          <p:cNvSpPr/>
          <p:nvPr/>
        </p:nvSpPr>
        <p:spPr>
          <a:xfrm>
            <a:off x="3750525" y="1643063"/>
            <a:ext cx="878625" cy="355402"/>
          </a:xfrm>
          <a:prstGeom prst="rect">
            <a:avLst/>
          </a:prstGeom>
          <a:noFill/>
          <a:ln/>
        </p:spPr>
        <p:txBody>
          <a:bodyPr wrap="square" lIns="127508" tIns="127508" rIns="127508" bIns="127508" rtlCol="0" anchor="ctr">
            <a:spAutoFit/>
          </a:bodyPr>
          <a:lstStyle/>
          <a:p>
            <a:pPr marL="0" indent="0" algn="l">
              <a:lnSpc>
                <a:spcPts val="1100"/>
              </a:lnSpc>
              <a:buNone/>
            </a:pPr>
            <a:r>
              <a:rPr lang="en-US" sz="784" b="1" dirty="0">
                <a:solidFill>
                  <a:srgbClr val="2D3748"/>
                </a:solidFill>
                <a:latin typeface="Inter" pitchFamily="34" charset="0"/>
                <a:ea typeface="Inter" pitchFamily="34" charset="-122"/>
                <a:cs typeface="Inter" pitchFamily="34" charset="-120"/>
              </a:rPr>
              <a:t>0.6748</a:t>
            </a:r>
            <a:endParaRPr lang="en-US" sz="784" dirty="0"/>
          </a:p>
        </p:txBody>
      </p:sp>
      <p:sp>
        <p:nvSpPr>
          <p:cNvPr id="19" name="Text 15"/>
          <p:cNvSpPr/>
          <p:nvPr/>
        </p:nvSpPr>
        <p:spPr>
          <a:xfrm>
            <a:off x="428625" y="1998464"/>
            <a:ext cx="525066" cy="358973"/>
          </a:xfrm>
          <a:prstGeom prst="rect">
            <a:avLst/>
          </a:prstGeom>
          <a:noFill/>
          <a:ln/>
        </p:spPr>
        <p:txBody>
          <a:bodyPr wrap="square" lIns="127508" tIns="127508" rIns="127508" bIns="127508" rtlCol="0" anchor="ctr">
            <a:spAutoFit/>
          </a:bodyPr>
          <a:lstStyle/>
          <a:p>
            <a:pPr marL="0" indent="0" algn="l">
              <a:lnSpc>
                <a:spcPts val="1100"/>
              </a:lnSpc>
              <a:buNone/>
            </a:pPr>
            <a:r>
              <a:rPr lang="en-US" sz="834" dirty="0">
                <a:solidFill>
                  <a:srgbClr val="2D3748"/>
                </a:solidFill>
                <a:latin typeface="Inter" pitchFamily="34" charset="0"/>
                <a:ea typeface="Inter" pitchFamily="34" charset="-122"/>
                <a:cs typeface="Inter" pitchFamily="34" charset="-120"/>
              </a:rPr>
              <a:t>2</a:t>
            </a:r>
            <a:endParaRPr lang="en-US" sz="834" dirty="0"/>
          </a:p>
        </p:txBody>
      </p:sp>
      <p:sp>
        <p:nvSpPr>
          <p:cNvPr id="20" name="Text 16"/>
          <p:cNvSpPr/>
          <p:nvPr/>
        </p:nvSpPr>
        <p:spPr>
          <a:xfrm>
            <a:off x="953691" y="1998464"/>
            <a:ext cx="1832483" cy="358973"/>
          </a:xfrm>
          <a:prstGeom prst="rect">
            <a:avLst/>
          </a:prstGeom>
          <a:noFill/>
          <a:ln/>
        </p:spPr>
        <p:txBody>
          <a:bodyPr wrap="square" lIns="127508" tIns="127508" rIns="127508" bIns="127508" rtlCol="0" anchor="ctr">
            <a:spAutoFit/>
          </a:bodyPr>
          <a:lstStyle/>
          <a:p>
            <a:pPr marL="0" indent="0" algn="l">
              <a:lnSpc>
                <a:spcPts val="1100"/>
              </a:lnSpc>
              <a:buNone/>
            </a:pPr>
            <a:r>
              <a:rPr lang="en-US" sz="834" dirty="0">
                <a:solidFill>
                  <a:srgbClr val="2D3748"/>
                </a:solidFill>
                <a:latin typeface="Inter" pitchFamily="34" charset="0"/>
                <a:ea typeface="Inter" pitchFamily="34" charset="-122"/>
                <a:cs typeface="Inter" pitchFamily="34" charset="-120"/>
              </a:rPr>
              <a:t>SVC</a:t>
            </a:r>
            <a:endParaRPr lang="en-US" sz="834" dirty="0"/>
          </a:p>
        </p:txBody>
      </p:sp>
      <p:sp>
        <p:nvSpPr>
          <p:cNvPr id="21" name="Text 17"/>
          <p:cNvSpPr/>
          <p:nvPr/>
        </p:nvSpPr>
        <p:spPr>
          <a:xfrm>
            <a:off x="2786174" y="1998464"/>
            <a:ext cx="964350" cy="358973"/>
          </a:xfrm>
          <a:prstGeom prst="rect">
            <a:avLst/>
          </a:prstGeom>
          <a:noFill/>
          <a:ln/>
        </p:spPr>
        <p:txBody>
          <a:bodyPr wrap="square" lIns="127508" tIns="127508" rIns="127508" bIns="127508" rtlCol="0" anchor="ctr">
            <a:spAutoFit/>
          </a:bodyPr>
          <a:lstStyle/>
          <a:p>
            <a:pPr marL="0" indent="0" algn="l">
              <a:lnSpc>
                <a:spcPts val="1100"/>
              </a:lnSpc>
              <a:buNone/>
            </a:pPr>
            <a:r>
              <a:rPr lang="en-US" sz="834" dirty="0">
                <a:solidFill>
                  <a:srgbClr val="2D3748"/>
                </a:solidFill>
                <a:latin typeface="Inter" pitchFamily="34" charset="0"/>
                <a:ea typeface="Inter" pitchFamily="34" charset="-122"/>
                <a:cs typeface="Inter" pitchFamily="34" charset="-120"/>
              </a:rPr>
              <a:t>0.7489</a:t>
            </a:r>
            <a:endParaRPr lang="en-US" sz="834" dirty="0"/>
          </a:p>
        </p:txBody>
      </p:sp>
      <p:sp>
        <p:nvSpPr>
          <p:cNvPr id="22" name="Text 18"/>
          <p:cNvSpPr/>
          <p:nvPr/>
        </p:nvSpPr>
        <p:spPr>
          <a:xfrm>
            <a:off x="3750525" y="1998464"/>
            <a:ext cx="878625" cy="358973"/>
          </a:xfrm>
          <a:prstGeom prst="rect">
            <a:avLst/>
          </a:prstGeom>
          <a:noFill/>
          <a:ln/>
        </p:spPr>
        <p:txBody>
          <a:bodyPr wrap="square" lIns="127508" tIns="127508" rIns="127508" bIns="127508" rtlCol="0" anchor="ctr">
            <a:spAutoFit/>
          </a:bodyPr>
          <a:lstStyle/>
          <a:p>
            <a:pPr marL="0" indent="0" algn="l">
              <a:lnSpc>
                <a:spcPts val="1100"/>
              </a:lnSpc>
              <a:buNone/>
            </a:pPr>
            <a:r>
              <a:rPr lang="en-US" sz="834" dirty="0">
                <a:solidFill>
                  <a:srgbClr val="2D3748"/>
                </a:solidFill>
                <a:latin typeface="Inter" pitchFamily="34" charset="0"/>
                <a:ea typeface="Inter" pitchFamily="34" charset="-122"/>
                <a:cs typeface="Inter" pitchFamily="34" charset="-120"/>
              </a:rPr>
              <a:t>0.6234</a:t>
            </a:r>
            <a:endParaRPr lang="en-US" sz="834" dirty="0"/>
          </a:p>
        </p:txBody>
      </p:sp>
      <p:sp>
        <p:nvSpPr>
          <p:cNvPr id="23" name="Text 19"/>
          <p:cNvSpPr/>
          <p:nvPr/>
        </p:nvSpPr>
        <p:spPr>
          <a:xfrm>
            <a:off x="428625" y="2357438"/>
            <a:ext cx="525066" cy="358973"/>
          </a:xfrm>
          <a:prstGeom prst="rect">
            <a:avLst/>
          </a:prstGeom>
          <a:noFill/>
          <a:ln/>
        </p:spPr>
        <p:txBody>
          <a:bodyPr wrap="square" lIns="127508" tIns="127508" rIns="127508" bIns="127508" rtlCol="0" anchor="ctr">
            <a:spAutoFit/>
          </a:bodyPr>
          <a:lstStyle/>
          <a:p>
            <a:pPr marL="0" indent="0" algn="l">
              <a:lnSpc>
                <a:spcPts val="1100"/>
              </a:lnSpc>
              <a:buNone/>
            </a:pPr>
            <a:r>
              <a:rPr lang="en-US" sz="834" dirty="0">
                <a:solidFill>
                  <a:srgbClr val="2D3748"/>
                </a:solidFill>
                <a:latin typeface="Inter" pitchFamily="34" charset="0"/>
                <a:ea typeface="Inter" pitchFamily="34" charset="-122"/>
                <a:cs typeface="Inter" pitchFamily="34" charset="-120"/>
              </a:rPr>
              <a:t>3</a:t>
            </a:r>
            <a:endParaRPr lang="en-US" sz="834" dirty="0"/>
          </a:p>
        </p:txBody>
      </p:sp>
      <p:sp>
        <p:nvSpPr>
          <p:cNvPr id="24" name="Text 20"/>
          <p:cNvSpPr/>
          <p:nvPr/>
        </p:nvSpPr>
        <p:spPr>
          <a:xfrm>
            <a:off x="953691" y="2357438"/>
            <a:ext cx="1832483" cy="358973"/>
          </a:xfrm>
          <a:prstGeom prst="rect">
            <a:avLst/>
          </a:prstGeom>
          <a:noFill/>
          <a:ln/>
        </p:spPr>
        <p:txBody>
          <a:bodyPr wrap="square" lIns="127508" tIns="127508" rIns="127508" bIns="127508" rtlCol="0" anchor="ctr">
            <a:spAutoFit/>
          </a:bodyPr>
          <a:lstStyle/>
          <a:p>
            <a:pPr marL="0" indent="0" algn="l">
              <a:lnSpc>
                <a:spcPts val="1100"/>
              </a:lnSpc>
              <a:buNone/>
            </a:pPr>
            <a:r>
              <a:rPr lang="en-US" sz="834" dirty="0">
                <a:solidFill>
                  <a:srgbClr val="2D3748"/>
                </a:solidFill>
                <a:latin typeface="Inter" pitchFamily="34" charset="0"/>
                <a:ea typeface="Inter" pitchFamily="34" charset="-122"/>
                <a:cs typeface="Inter" pitchFamily="34" charset="-120"/>
              </a:rPr>
              <a:t>Logistic Regression</a:t>
            </a:r>
            <a:endParaRPr lang="en-US" sz="834" dirty="0"/>
          </a:p>
        </p:txBody>
      </p:sp>
      <p:sp>
        <p:nvSpPr>
          <p:cNvPr id="25" name="Text 21"/>
          <p:cNvSpPr/>
          <p:nvPr/>
        </p:nvSpPr>
        <p:spPr>
          <a:xfrm>
            <a:off x="2786174" y="2357438"/>
            <a:ext cx="964350" cy="358973"/>
          </a:xfrm>
          <a:prstGeom prst="rect">
            <a:avLst/>
          </a:prstGeom>
          <a:noFill/>
          <a:ln/>
        </p:spPr>
        <p:txBody>
          <a:bodyPr wrap="square" lIns="127508" tIns="127508" rIns="127508" bIns="127508" rtlCol="0" anchor="ctr">
            <a:spAutoFit/>
          </a:bodyPr>
          <a:lstStyle/>
          <a:p>
            <a:pPr marL="0" indent="0" algn="l">
              <a:lnSpc>
                <a:spcPts val="1100"/>
              </a:lnSpc>
              <a:buNone/>
            </a:pPr>
            <a:r>
              <a:rPr lang="en-US" sz="834" dirty="0">
                <a:solidFill>
                  <a:srgbClr val="2D3748"/>
                </a:solidFill>
                <a:latin typeface="Inter" pitchFamily="34" charset="0"/>
                <a:ea typeface="Inter" pitchFamily="34" charset="-122"/>
                <a:cs typeface="Inter" pitchFamily="34" charset="-120"/>
              </a:rPr>
              <a:t>0.7359</a:t>
            </a:r>
            <a:endParaRPr lang="en-US" sz="834" dirty="0"/>
          </a:p>
        </p:txBody>
      </p:sp>
      <p:sp>
        <p:nvSpPr>
          <p:cNvPr id="26" name="Text 22"/>
          <p:cNvSpPr/>
          <p:nvPr/>
        </p:nvSpPr>
        <p:spPr>
          <a:xfrm>
            <a:off x="3750525" y="2357438"/>
            <a:ext cx="878625" cy="358973"/>
          </a:xfrm>
          <a:prstGeom prst="rect">
            <a:avLst/>
          </a:prstGeom>
          <a:noFill/>
          <a:ln/>
        </p:spPr>
        <p:txBody>
          <a:bodyPr wrap="square" lIns="127508" tIns="127508" rIns="127508" bIns="127508" rtlCol="0" anchor="ctr">
            <a:spAutoFit/>
          </a:bodyPr>
          <a:lstStyle/>
          <a:p>
            <a:pPr marL="0" indent="0" algn="l">
              <a:lnSpc>
                <a:spcPts val="1100"/>
              </a:lnSpc>
              <a:buNone/>
            </a:pPr>
            <a:r>
              <a:rPr lang="en-US" sz="834" dirty="0">
                <a:solidFill>
                  <a:srgbClr val="2D3748"/>
                </a:solidFill>
                <a:latin typeface="Inter" pitchFamily="34" charset="0"/>
                <a:ea typeface="Inter" pitchFamily="34" charset="-122"/>
                <a:cs typeface="Inter" pitchFamily="34" charset="-120"/>
              </a:rPr>
              <a:t>0.6065</a:t>
            </a:r>
            <a:endParaRPr lang="en-US" sz="834" dirty="0"/>
          </a:p>
        </p:txBody>
      </p:sp>
      <p:sp>
        <p:nvSpPr>
          <p:cNvPr id="27" name="Text 23"/>
          <p:cNvSpPr/>
          <p:nvPr/>
        </p:nvSpPr>
        <p:spPr>
          <a:xfrm>
            <a:off x="428625" y="2716411"/>
            <a:ext cx="525066" cy="358973"/>
          </a:xfrm>
          <a:prstGeom prst="rect">
            <a:avLst/>
          </a:prstGeom>
          <a:noFill/>
          <a:ln/>
        </p:spPr>
        <p:txBody>
          <a:bodyPr wrap="square" lIns="127508" tIns="127508" rIns="127508" bIns="127508" rtlCol="0" anchor="ctr">
            <a:spAutoFit/>
          </a:bodyPr>
          <a:lstStyle/>
          <a:p>
            <a:pPr marL="0" indent="0" algn="l">
              <a:lnSpc>
                <a:spcPts val="1100"/>
              </a:lnSpc>
              <a:buNone/>
            </a:pPr>
            <a:r>
              <a:rPr lang="en-US" sz="834" dirty="0">
                <a:solidFill>
                  <a:srgbClr val="2D3748"/>
                </a:solidFill>
                <a:latin typeface="Inter" pitchFamily="34" charset="0"/>
                <a:ea typeface="Inter" pitchFamily="34" charset="-122"/>
                <a:cs typeface="Inter" pitchFamily="34" charset="-120"/>
              </a:rPr>
              <a:t>4</a:t>
            </a:r>
            <a:endParaRPr lang="en-US" sz="834" dirty="0"/>
          </a:p>
        </p:txBody>
      </p:sp>
      <p:sp>
        <p:nvSpPr>
          <p:cNvPr id="28" name="Text 24"/>
          <p:cNvSpPr/>
          <p:nvPr/>
        </p:nvSpPr>
        <p:spPr>
          <a:xfrm>
            <a:off x="953691" y="2716411"/>
            <a:ext cx="1832483" cy="358973"/>
          </a:xfrm>
          <a:prstGeom prst="rect">
            <a:avLst/>
          </a:prstGeom>
          <a:noFill/>
          <a:ln/>
        </p:spPr>
        <p:txBody>
          <a:bodyPr wrap="square" lIns="127508" tIns="127508" rIns="127508" bIns="127508" rtlCol="0" anchor="ctr">
            <a:spAutoFit/>
          </a:bodyPr>
          <a:lstStyle/>
          <a:p>
            <a:pPr marL="0" indent="0" algn="l">
              <a:lnSpc>
                <a:spcPts val="1100"/>
              </a:lnSpc>
              <a:buNone/>
            </a:pPr>
            <a:r>
              <a:rPr lang="en-US" sz="834" dirty="0">
                <a:solidFill>
                  <a:srgbClr val="2D3748"/>
                </a:solidFill>
                <a:latin typeface="Inter" pitchFamily="34" charset="0"/>
                <a:ea typeface="Inter" pitchFamily="34" charset="-122"/>
                <a:cs typeface="Inter" pitchFamily="34" charset="-120"/>
              </a:rPr>
              <a:t>KNeighbors Classifier</a:t>
            </a:r>
            <a:endParaRPr lang="en-US" sz="834" dirty="0"/>
          </a:p>
        </p:txBody>
      </p:sp>
      <p:sp>
        <p:nvSpPr>
          <p:cNvPr id="29" name="Text 25"/>
          <p:cNvSpPr/>
          <p:nvPr/>
        </p:nvSpPr>
        <p:spPr>
          <a:xfrm>
            <a:off x="2786174" y="2716411"/>
            <a:ext cx="964350" cy="358973"/>
          </a:xfrm>
          <a:prstGeom prst="rect">
            <a:avLst/>
          </a:prstGeom>
          <a:noFill/>
          <a:ln/>
        </p:spPr>
        <p:txBody>
          <a:bodyPr wrap="square" lIns="127508" tIns="127508" rIns="127508" bIns="127508" rtlCol="0" anchor="ctr">
            <a:spAutoFit/>
          </a:bodyPr>
          <a:lstStyle/>
          <a:p>
            <a:pPr marL="0" indent="0" algn="l">
              <a:lnSpc>
                <a:spcPts val="1100"/>
              </a:lnSpc>
              <a:buNone/>
            </a:pPr>
            <a:r>
              <a:rPr lang="en-US" sz="834" dirty="0">
                <a:solidFill>
                  <a:srgbClr val="2D3748"/>
                </a:solidFill>
                <a:latin typeface="Inter" pitchFamily="34" charset="0"/>
                <a:ea typeface="Inter" pitchFamily="34" charset="-122"/>
                <a:cs typeface="Inter" pitchFamily="34" charset="-120"/>
              </a:rPr>
              <a:t>0.7229</a:t>
            </a:r>
            <a:endParaRPr lang="en-US" sz="834" dirty="0"/>
          </a:p>
        </p:txBody>
      </p:sp>
      <p:sp>
        <p:nvSpPr>
          <p:cNvPr id="30" name="Text 26"/>
          <p:cNvSpPr/>
          <p:nvPr/>
        </p:nvSpPr>
        <p:spPr>
          <a:xfrm>
            <a:off x="3750525" y="2716411"/>
            <a:ext cx="878625" cy="358973"/>
          </a:xfrm>
          <a:prstGeom prst="rect">
            <a:avLst/>
          </a:prstGeom>
          <a:noFill/>
          <a:ln/>
        </p:spPr>
        <p:txBody>
          <a:bodyPr wrap="square" lIns="127508" tIns="127508" rIns="127508" bIns="127508" rtlCol="0" anchor="ctr">
            <a:spAutoFit/>
          </a:bodyPr>
          <a:lstStyle/>
          <a:p>
            <a:pPr marL="0" indent="0" algn="l">
              <a:lnSpc>
                <a:spcPts val="1100"/>
              </a:lnSpc>
              <a:buNone/>
            </a:pPr>
            <a:r>
              <a:rPr lang="en-US" sz="834" dirty="0">
                <a:solidFill>
                  <a:srgbClr val="2D3748"/>
                </a:solidFill>
                <a:latin typeface="Inter" pitchFamily="34" charset="0"/>
                <a:ea typeface="Inter" pitchFamily="34" charset="-122"/>
                <a:cs typeface="Inter" pitchFamily="34" charset="-120"/>
              </a:rPr>
              <a:t>0.6000</a:t>
            </a:r>
            <a:endParaRPr lang="en-US" sz="834" dirty="0"/>
          </a:p>
        </p:txBody>
      </p:sp>
      <p:pic>
        <p:nvPicPr>
          <p:cNvPr id="31" name="Image 1" descr="preencoded.png"/>
          <p:cNvPicPr>
            <a:picLocks noChangeAspect="1"/>
          </p:cNvPicPr>
          <p:nvPr/>
        </p:nvPicPr>
        <p:blipFill>
          <a:blip r:embed="rId4"/>
          <a:stretch>
            <a:fillRect/>
          </a:stretch>
        </p:blipFill>
        <p:spPr>
          <a:xfrm>
            <a:off x="428625" y="3589734"/>
            <a:ext cx="114300" cy="114300"/>
          </a:xfrm>
          <a:prstGeom prst="rect">
            <a:avLst/>
          </a:prstGeom>
        </p:spPr>
      </p:pic>
      <p:sp>
        <p:nvSpPr>
          <p:cNvPr id="32" name="Text 27"/>
          <p:cNvSpPr/>
          <p:nvPr/>
        </p:nvSpPr>
        <p:spPr>
          <a:xfrm>
            <a:off x="646509" y="3579019"/>
            <a:ext cx="517770" cy="168508"/>
          </a:xfrm>
          <a:prstGeom prst="rect">
            <a:avLst/>
          </a:prstGeom>
          <a:noFill/>
          <a:ln/>
        </p:spPr>
        <p:txBody>
          <a:bodyPr wrap="none" lIns="0" tIns="0" rIns="0" bIns="0" rtlCol="0" anchor="t">
            <a:spAutoFit/>
          </a:bodyPr>
          <a:lstStyle/>
          <a:p>
            <a:pPr marL="0" indent="0" algn="l">
              <a:lnSpc>
                <a:spcPts val="1400"/>
              </a:lnSpc>
              <a:buNone/>
            </a:pPr>
            <a:r>
              <a:rPr lang="en-US" sz="1000" b="1" dirty="0">
                <a:solidFill>
                  <a:srgbClr val="4A5568"/>
                </a:solidFill>
                <a:latin typeface="Inter" pitchFamily="34" charset="0"/>
                <a:ea typeface="Inter" pitchFamily="34" charset="-122"/>
                <a:cs typeface="Inter" pitchFamily="34" charset="-120"/>
              </a:rPr>
              <a:t>Nhận xét:</a:t>
            </a:r>
            <a:endParaRPr lang="en-US" sz="1000" dirty="0"/>
          </a:p>
        </p:txBody>
      </p:sp>
      <p:sp>
        <p:nvSpPr>
          <p:cNvPr id="33" name="Text 28"/>
          <p:cNvSpPr/>
          <p:nvPr/>
        </p:nvSpPr>
        <p:spPr>
          <a:xfrm>
            <a:off x="1160859" y="3579019"/>
            <a:ext cx="3372718" cy="170175"/>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4A5568"/>
                </a:solidFill>
                <a:latin typeface="Inter" pitchFamily="34" charset="0"/>
                <a:ea typeface="Inter" pitchFamily="34" charset="-122"/>
                <a:cs typeface="Inter" pitchFamily="34" charset="-120"/>
              </a:rPr>
              <a:t>Random Forest đạt kết quả cao nhất về cả độ chính xác và F1-</a:t>
            </a:r>
            <a:endParaRPr lang="en-US" sz="1050" dirty="0"/>
          </a:p>
        </p:txBody>
      </p:sp>
      <p:sp>
        <p:nvSpPr>
          <p:cNvPr id="34" name="Text 29"/>
          <p:cNvSpPr/>
          <p:nvPr/>
        </p:nvSpPr>
        <p:spPr>
          <a:xfrm>
            <a:off x="428625" y="3761882"/>
            <a:ext cx="4201471" cy="170175"/>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4A5568"/>
                </a:solidFill>
                <a:latin typeface="Inter" pitchFamily="34" charset="0"/>
                <a:ea typeface="Inter" pitchFamily="34" charset="-122"/>
                <a:cs typeface="Inter" pitchFamily="34" charset="-120"/>
              </a:rPr>
              <a:t>score. Sự tăng trưởng rõ rệt so với Baseline (Logistic Regression) chứng minh</a:t>
            </a:r>
            <a:endParaRPr lang="en-US" sz="1050" dirty="0"/>
          </a:p>
        </p:txBody>
      </p:sp>
      <p:sp>
        <p:nvSpPr>
          <p:cNvPr id="35" name="Text 30"/>
          <p:cNvSpPr/>
          <p:nvPr/>
        </p:nvSpPr>
        <p:spPr>
          <a:xfrm>
            <a:off x="428625" y="3944745"/>
            <a:ext cx="2734723" cy="170175"/>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4A5568"/>
                </a:solidFill>
                <a:latin typeface="Inter" pitchFamily="34" charset="0"/>
                <a:ea typeface="Inter" pitchFamily="34" charset="-122"/>
                <a:cs typeface="Inter" pitchFamily="34" charset="-120"/>
              </a:rPr>
              <a:t>hiệu quả của việc tiền xử lý và tối ưu hóa tham số.</a:t>
            </a:r>
            <a:endParaRPr lang="en-US" sz="1050" dirty="0"/>
          </a:p>
        </p:txBody>
      </p:sp>
      <p:pic>
        <p:nvPicPr>
          <p:cNvPr id="36" name="Image 2" descr="preencoded.png"/>
          <p:cNvPicPr>
            <a:picLocks noChangeAspect="1"/>
          </p:cNvPicPr>
          <p:nvPr/>
        </p:nvPicPr>
        <p:blipFill>
          <a:blip r:embed="rId5"/>
          <a:stretch>
            <a:fillRect/>
          </a:stretch>
        </p:blipFill>
        <p:spPr>
          <a:xfrm>
            <a:off x="5214938" y="1271588"/>
            <a:ext cx="3500438" cy="2857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428625" y="285750"/>
            <a:ext cx="8286750" cy="557213"/>
          </a:xfrm>
          <a:prstGeom prst="rect">
            <a:avLst/>
          </a:prstGeom>
          <a:noFill/>
          <a:ln/>
        </p:spPr>
        <p:txBody>
          <a:bodyPr wrap="square" lIns="0" tIns="0" rIns="0" bIns="0" rtlCol="0" anchor="t">
            <a:spAutoFit/>
          </a:bodyPr>
          <a:lstStyle/>
          <a:p>
            <a:pPr marL="0" indent="0" algn="l">
              <a:lnSpc>
                <a:spcPts val="2200"/>
              </a:lnSpc>
              <a:buNone/>
            </a:pPr>
            <a:r>
              <a:rPr lang="en-US" sz="1602" b="1" dirty="0">
                <a:solidFill>
                  <a:srgbClr val="1A365D"/>
                </a:solidFill>
                <a:latin typeface="Montserrat" pitchFamily="34" charset="0"/>
                <a:ea typeface="Montserrat" pitchFamily="34" charset="-122"/>
                <a:cs typeface="Montserrat" pitchFamily="34" charset="-120"/>
              </a:rPr>
              <a:t>Ma trận nhầm lẫn cho thấy khả năng nhận diện nhóm không bệnh rất tốt</a:t>
            </a:r>
            <a:endParaRPr lang="en-US" sz="1602" dirty="0"/>
          </a:p>
        </p:txBody>
      </p:sp>
      <p:sp>
        <p:nvSpPr>
          <p:cNvPr id="5" name="Text 1"/>
          <p:cNvSpPr/>
          <p:nvPr/>
        </p:nvSpPr>
        <p:spPr>
          <a:xfrm>
            <a:off x="1973126" y="1455539"/>
            <a:ext cx="1221488" cy="135806"/>
          </a:xfrm>
          <a:prstGeom prst="rect">
            <a:avLst/>
          </a:prstGeom>
          <a:noFill/>
          <a:ln/>
        </p:spPr>
        <p:txBody>
          <a:bodyPr wrap="none" lIns="0" tIns="0" rIns="0" bIns="0" rtlCol="0" anchor="t">
            <a:spAutoFit/>
          </a:bodyPr>
          <a:lstStyle/>
          <a:p>
            <a:pPr marL="0" indent="0" algn="l">
              <a:lnSpc>
                <a:spcPts val="1100"/>
              </a:lnSpc>
              <a:buNone/>
            </a:pPr>
            <a:r>
              <a:rPr lang="en-US" sz="900" b="1" dirty="0">
                <a:solidFill>
                  <a:srgbClr val="1A365D"/>
                </a:solidFill>
                <a:latin typeface="Montserrat" pitchFamily="34" charset="0"/>
                <a:ea typeface="Montserrat" pitchFamily="34" charset="-122"/>
                <a:cs typeface="Montserrat" pitchFamily="34" charset="-120"/>
              </a:rPr>
              <a:t>Dự đoán (Predicted)</a:t>
            </a:r>
            <a:endParaRPr lang="en-US" sz="900" dirty="0"/>
          </a:p>
        </p:txBody>
      </p:sp>
      <p:sp>
        <p:nvSpPr>
          <p:cNvPr id="6" name="Text 2"/>
          <p:cNvSpPr/>
          <p:nvPr/>
        </p:nvSpPr>
        <p:spPr>
          <a:xfrm>
            <a:off x="1853468" y="1871328"/>
            <a:ext cx="1071563" cy="115416"/>
          </a:xfrm>
          <a:prstGeom prst="rect">
            <a:avLst/>
          </a:prstGeom>
          <a:noFill/>
          <a:ln/>
        </p:spPr>
        <p:txBody>
          <a:bodyPr wrap="square" lIns="0" tIns="0" rIns="0" bIns="0" rtlCol="0" anchor="ctr">
            <a:spAutoFit/>
          </a:bodyPr>
          <a:lstStyle/>
          <a:p>
            <a:pPr marL="0" indent="0" algn="ctr">
              <a:lnSpc>
                <a:spcPts val="900"/>
              </a:lnSpc>
              <a:buNone/>
            </a:pPr>
            <a:r>
              <a:rPr lang="en-US" sz="800" b="1" dirty="0">
                <a:solidFill>
                  <a:srgbClr val="718096"/>
                </a:solidFill>
                <a:latin typeface="Montserrat" pitchFamily="34" charset="0"/>
                <a:ea typeface="Montserrat" pitchFamily="34" charset="-122"/>
                <a:cs typeface="Montserrat" pitchFamily="34" charset="-120"/>
              </a:rPr>
              <a:t>Không bệnh (0)</a:t>
            </a:r>
            <a:endParaRPr lang="en-US" sz="800" dirty="0"/>
          </a:p>
        </p:txBody>
      </p:sp>
      <p:sp>
        <p:nvSpPr>
          <p:cNvPr id="7" name="Text 3"/>
          <p:cNvSpPr/>
          <p:nvPr/>
        </p:nvSpPr>
        <p:spPr>
          <a:xfrm>
            <a:off x="2996468" y="1871328"/>
            <a:ext cx="1071563" cy="115416"/>
          </a:xfrm>
          <a:prstGeom prst="rect">
            <a:avLst/>
          </a:prstGeom>
          <a:noFill/>
          <a:ln/>
        </p:spPr>
        <p:txBody>
          <a:bodyPr wrap="square" lIns="0" tIns="0" rIns="0" bIns="0" rtlCol="0" anchor="ctr">
            <a:spAutoFit/>
          </a:bodyPr>
          <a:lstStyle/>
          <a:p>
            <a:pPr marL="0" indent="0" algn="ctr">
              <a:lnSpc>
                <a:spcPts val="900"/>
              </a:lnSpc>
              <a:buNone/>
            </a:pPr>
            <a:r>
              <a:rPr lang="en-US" sz="800" b="1" dirty="0">
                <a:solidFill>
                  <a:srgbClr val="718096"/>
                </a:solidFill>
                <a:latin typeface="Montserrat" pitchFamily="34" charset="0"/>
                <a:ea typeface="Montserrat" pitchFamily="34" charset="-122"/>
                <a:cs typeface="Montserrat" pitchFamily="34" charset="-120"/>
              </a:rPr>
              <a:t>Bị bệnh (1)</a:t>
            </a:r>
            <a:endParaRPr lang="en-US" sz="800" dirty="0"/>
          </a:p>
        </p:txBody>
      </p:sp>
      <p:sp>
        <p:nvSpPr>
          <p:cNvPr id="8" name="Text 4"/>
          <p:cNvSpPr/>
          <p:nvPr/>
        </p:nvSpPr>
        <p:spPr>
          <a:xfrm>
            <a:off x="1067656" y="2599432"/>
            <a:ext cx="714375" cy="230832"/>
          </a:xfrm>
          <a:prstGeom prst="rect">
            <a:avLst/>
          </a:prstGeom>
          <a:noFill/>
          <a:ln/>
        </p:spPr>
        <p:txBody>
          <a:bodyPr wrap="square" lIns="0" tIns="0" rIns="0" bIns="0" rtlCol="0" anchor="ctr">
            <a:spAutoFit/>
          </a:bodyPr>
          <a:lstStyle/>
          <a:p>
            <a:pPr marL="0" indent="0" algn="ctr">
              <a:lnSpc>
                <a:spcPts val="900"/>
              </a:lnSpc>
              <a:buNone/>
            </a:pPr>
            <a:r>
              <a:rPr lang="en-US" sz="800" b="1" dirty="0">
                <a:solidFill>
                  <a:srgbClr val="718096"/>
                </a:solidFill>
                <a:latin typeface="Montserrat" pitchFamily="34" charset="0"/>
                <a:ea typeface="Montserrat" pitchFamily="34" charset="-122"/>
                <a:cs typeface="Montserrat" pitchFamily="34" charset="-120"/>
              </a:rPr>
              <a:t>Thực tế (Actual)</a:t>
            </a:r>
            <a:endParaRPr lang="en-US" sz="800" dirty="0"/>
          </a:p>
        </p:txBody>
      </p:sp>
      <p:sp>
        <p:nvSpPr>
          <p:cNvPr id="9" name="Shape 5"/>
          <p:cNvSpPr/>
          <p:nvPr/>
        </p:nvSpPr>
        <p:spPr>
          <a:xfrm>
            <a:off x="1853468" y="2179067"/>
            <a:ext cx="1071563" cy="1071563"/>
          </a:xfrm>
          <a:prstGeom prst="rect">
            <a:avLst/>
          </a:prstGeom>
          <a:solidFill>
            <a:srgbClr val="EBF8FF"/>
          </a:solidFill>
          <a:ln w="18288">
            <a:solidFill>
              <a:srgbClr val="3182CE"/>
            </a:solidFill>
            <a:prstDash val="solid"/>
          </a:ln>
        </p:spPr>
      </p:sp>
      <p:sp>
        <p:nvSpPr>
          <p:cNvPr id="10" name="Text 6"/>
          <p:cNvSpPr/>
          <p:nvPr/>
        </p:nvSpPr>
        <p:spPr>
          <a:xfrm>
            <a:off x="2190117" y="2488927"/>
            <a:ext cx="398264" cy="312539"/>
          </a:xfrm>
          <a:prstGeom prst="rect">
            <a:avLst/>
          </a:prstGeom>
          <a:noFill/>
          <a:ln/>
        </p:spPr>
        <p:txBody>
          <a:bodyPr wrap="none" lIns="0" tIns="0" rIns="0" bIns="0" rtlCol="0" anchor="t">
            <a:spAutoFit/>
          </a:bodyPr>
          <a:lstStyle/>
          <a:p>
            <a:pPr marL="0" indent="0" algn="ctr">
              <a:lnSpc>
                <a:spcPts val="2400"/>
              </a:lnSpc>
              <a:buNone/>
            </a:pPr>
            <a:r>
              <a:rPr lang="en-US" sz="1808" b="1" dirty="0">
                <a:solidFill>
                  <a:srgbClr val="1A365D"/>
                </a:solidFill>
                <a:latin typeface="Montserrat" pitchFamily="34" charset="0"/>
                <a:ea typeface="Montserrat" pitchFamily="34" charset="-122"/>
                <a:cs typeface="Montserrat" pitchFamily="34" charset="-120"/>
              </a:rPr>
              <a:t>123</a:t>
            </a:r>
            <a:endParaRPr lang="en-US" sz="1808" dirty="0"/>
          </a:p>
        </p:txBody>
      </p:sp>
      <p:sp>
        <p:nvSpPr>
          <p:cNvPr id="11" name="Text 7"/>
          <p:cNvSpPr/>
          <p:nvPr/>
        </p:nvSpPr>
        <p:spPr>
          <a:xfrm>
            <a:off x="1977591" y="2837185"/>
            <a:ext cx="823317" cy="103584"/>
          </a:xfrm>
          <a:prstGeom prst="rect">
            <a:avLst/>
          </a:prstGeom>
          <a:noFill/>
          <a:ln/>
        </p:spPr>
        <p:txBody>
          <a:bodyPr wrap="none" lIns="0" tIns="0" rIns="0" bIns="0" rtlCol="0" anchor="t">
            <a:spAutoFit/>
          </a:bodyPr>
          <a:lstStyle/>
          <a:p>
            <a:pPr marL="0" indent="0" algn="ctr">
              <a:lnSpc>
                <a:spcPts val="800"/>
              </a:lnSpc>
              <a:buNone/>
            </a:pPr>
            <a:r>
              <a:rPr lang="en-US" sz="621" dirty="0">
                <a:solidFill>
                  <a:srgbClr val="718096"/>
                </a:solidFill>
                <a:latin typeface="Montserrat" pitchFamily="34" charset="0"/>
                <a:ea typeface="Montserrat" pitchFamily="34" charset="-122"/>
                <a:cs typeface="Montserrat" pitchFamily="34" charset="-120"/>
              </a:rPr>
              <a:t>True Negative (TN)</a:t>
            </a:r>
            <a:endParaRPr lang="en-US" sz="621" dirty="0"/>
          </a:p>
        </p:txBody>
      </p:sp>
      <p:sp>
        <p:nvSpPr>
          <p:cNvPr id="12" name="Shape 8"/>
          <p:cNvSpPr/>
          <p:nvPr/>
        </p:nvSpPr>
        <p:spPr>
          <a:xfrm>
            <a:off x="2996468" y="2179067"/>
            <a:ext cx="1071563" cy="1071563"/>
          </a:xfrm>
          <a:prstGeom prst="rect">
            <a:avLst/>
          </a:prstGeom>
          <a:solidFill>
            <a:srgbClr val="FFF5F5"/>
          </a:solidFill>
          <a:ln w="18288">
            <a:solidFill>
              <a:srgbClr val="E53E3E"/>
            </a:solidFill>
            <a:prstDash val="solid"/>
          </a:ln>
        </p:spPr>
      </p:sp>
      <p:sp>
        <p:nvSpPr>
          <p:cNvPr id="13" name="Text 9"/>
          <p:cNvSpPr/>
          <p:nvPr/>
        </p:nvSpPr>
        <p:spPr>
          <a:xfrm>
            <a:off x="3382231" y="2488927"/>
            <a:ext cx="300038" cy="312539"/>
          </a:xfrm>
          <a:prstGeom prst="rect">
            <a:avLst/>
          </a:prstGeom>
          <a:noFill/>
          <a:ln/>
        </p:spPr>
        <p:txBody>
          <a:bodyPr wrap="none" lIns="0" tIns="0" rIns="0" bIns="0" rtlCol="0" anchor="t">
            <a:spAutoFit/>
          </a:bodyPr>
          <a:lstStyle/>
          <a:p>
            <a:pPr marL="0" indent="0" algn="ctr">
              <a:lnSpc>
                <a:spcPts val="2400"/>
              </a:lnSpc>
              <a:buNone/>
            </a:pPr>
            <a:r>
              <a:rPr lang="en-US" sz="1808" b="1" dirty="0">
                <a:solidFill>
                  <a:srgbClr val="1A365D"/>
                </a:solidFill>
                <a:latin typeface="Montserrat" pitchFamily="34" charset="0"/>
                <a:ea typeface="Montserrat" pitchFamily="34" charset="-122"/>
                <a:cs typeface="Montserrat" pitchFamily="34" charset="-120"/>
              </a:rPr>
              <a:t>25</a:t>
            </a:r>
            <a:endParaRPr lang="en-US" sz="1808" dirty="0"/>
          </a:p>
        </p:txBody>
      </p:sp>
      <p:sp>
        <p:nvSpPr>
          <p:cNvPr id="14" name="Text 10"/>
          <p:cNvSpPr/>
          <p:nvPr/>
        </p:nvSpPr>
        <p:spPr>
          <a:xfrm>
            <a:off x="3131307" y="2837185"/>
            <a:ext cx="801886" cy="103584"/>
          </a:xfrm>
          <a:prstGeom prst="rect">
            <a:avLst/>
          </a:prstGeom>
          <a:noFill/>
          <a:ln/>
        </p:spPr>
        <p:txBody>
          <a:bodyPr wrap="none" lIns="0" tIns="0" rIns="0" bIns="0" rtlCol="0" anchor="t">
            <a:spAutoFit/>
          </a:bodyPr>
          <a:lstStyle/>
          <a:p>
            <a:pPr marL="0" indent="0" algn="ctr">
              <a:lnSpc>
                <a:spcPts val="800"/>
              </a:lnSpc>
              <a:buNone/>
            </a:pPr>
            <a:r>
              <a:rPr lang="en-US" sz="621" dirty="0">
                <a:solidFill>
                  <a:srgbClr val="718096"/>
                </a:solidFill>
                <a:latin typeface="Montserrat" pitchFamily="34" charset="0"/>
                <a:ea typeface="Montserrat" pitchFamily="34" charset="-122"/>
                <a:cs typeface="Montserrat" pitchFamily="34" charset="-120"/>
              </a:rPr>
              <a:t>False Positive (FP)</a:t>
            </a:r>
            <a:endParaRPr lang="en-US" sz="621" dirty="0"/>
          </a:p>
        </p:txBody>
      </p:sp>
      <p:sp>
        <p:nvSpPr>
          <p:cNvPr id="15" name="Shape 11"/>
          <p:cNvSpPr/>
          <p:nvPr/>
        </p:nvSpPr>
        <p:spPr>
          <a:xfrm>
            <a:off x="1853468" y="3322067"/>
            <a:ext cx="1071563" cy="1071562"/>
          </a:xfrm>
          <a:prstGeom prst="rect">
            <a:avLst/>
          </a:prstGeom>
          <a:solidFill>
            <a:srgbClr val="FFF5F5"/>
          </a:solidFill>
          <a:ln w="18288">
            <a:solidFill>
              <a:srgbClr val="E53E3E"/>
            </a:solidFill>
            <a:prstDash val="solid"/>
          </a:ln>
        </p:spPr>
      </p:sp>
      <p:sp>
        <p:nvSpPr>
          <p:cNvPr id="16" name="Text 12"/>
          <p:cNvSpPr/>
          <p:nvPr/>
        </p:nvSpPr>
        <p:spPr>
          <a:xfrm>
            <a:off x="2230301" y="3631927"/>
            <a:ext cx="317897" cy="312539"/>
          </a:xfrm>
          <a:prstGeom prst="rect">
            <a:avLst/>
          </a:prstGeom>
          <a:noFill/>
          <a:ln/>
        </p:spPr>
        <p:txBody>
          <a:bodyPr wrap="none" lIns="0" tIns="0" rIns="0" bIns="0" rtlCol="0" anchor="t">
            <a:spAutoFit/>
          </a:bodyPr>
          <a:lstStyle/>
          <a:p>
            <a:pPr marL="0" indent="0" algn="ctr">
              <a:lnSpc>
                <a:spcPts val="2400"/>
              </a:lnSpc>
              <a:buNone/>
            </a:pPr>
            <a:r>
              <a:rPr lang="en-US" sz="1808" b="1" dirty="0">
                <a:solidFill>
                  <a:srgbClr val="1A365D"/>
                </a:solidFill>
                <a:latin typeface="Montserrat" pitchFamily="34" charset="0"/>
                <a:ea typeface="Montserrat" pitchFamily="34" charset="-122"/>
                <a:cs typeface="Montserrat" pitchFamily="34" charset="-120"/>
              </a:rPr>
              <a:t>28</a:t>
            </a:r>
            <a:endParaRPr lang="en-US" sz="1808" dirty="0"/>
          </a:p>
        </p:txBody>
      </p:sp>
      <p:sp>
        <p:nvSpPr>
          <p:cNvPr id="17" name="Text 13"/>
          <p:cNvSpPr/>
          <p:nvPr/>
        </p:nvSpPr>
        <p:spPr>
          <a:xfrm>
            <a:off x="1960625" y="3980185"/>
            <a:ext cx="857250" cy="103584"/>
          </a:xfrm>
          <a:prstGeom prst="rect">
            <a:avLst/>
          </a:prstGeom>
          <a:noFill/>
          <a:ln/>
        </p:spPr>
        <p:txBody>
          <a:bodyPr wrap="none" lIns="0" tIns="0" rIns="0" bIns="0" rtlCol="0" anchor="t">
            <a:spAutoFit/>
          </a:bodyPr>
          <a:lstStyle/>
          <a:p>
            <a:pPr marL="0" indent="0" algn="ctr">
              <a:lnSpc>
                <a:spcPts val="800"/>
              </a:lnSpc>
              <a:buNone/>
            </a:pPr>
            <a:r>
              <a:rPr lang="en-US" sz="621" dirty="0">
                <a:solidFill>
                  <a:srgbClr val="718096"/>
                </a:solidFill>
                <a:latin typeface="Montserrat" pitchFamily="34" charset="0"/>
                <a:ea typeface="Montserrat" pitchFamily="34" charset="-122"/>
                <a:cs typeface="Montserrat" pitchFamily="34" charset="-120"/>
              </a:rPr>
              <a:t>False Negative (FN)</a:t>
            </a:r>
            <a:endParaRPr lang="en-US" sz="621" dirty="0"/>
          </a:p>
        </p:txBody>
      </p:sp>
      <p:sp>
        <p:nvSpPr>
          <p:cNvPr id="18" name="Shape 14"/>
          <p:cNvSpPr/>
          <p:nvPr/>
        </p:nvSpPr>
        <p:spPr>
          <a:xfrm>
            <a:off x="2996468" y="3322067"/>
            <a:ext cx="1071563" cy="1071562"/>
          </a:xfrm>
          <a:prstGeom prst="rect">
            <a:avLst/>
          </a:prstGeom>
          <a:solidFill>
            <a:srgbClr val="EBF8FF"/>
          </a:solidFill>
          <a:ln w="18288">
            <a:solidFill>
              <a:srgbClr val="3182CE"/>
            </a:solidFill>
            <a:prstDash val="solid"/>
          </a:ln>
        </p:spPr>
      </p:sp>
      <p:sp>
        <p:nvSpPr>
          <p:cNvPr id="19" name="Text 15"/>
          <p:cNvSpPr/>
          <p:nvPr/>
        </p:nvSpPr>
        <p:spPr>
          <a:xfrm>
            <a:off x="3383124" y="3631927"/>
            <a:ext cx="298252" cy="312539"/>
          </a:xfrm>
          <a:prstGeom prst="rect">
            <a:avLst/>
          </a:prstGeom>
          <a:noFill/>
          <a:ln/>
        </p:spPr>
        <p:txBody>
          <a:bodyPr wrap="none" lIns="0" tIns="0" rIns="0" bIns="0" rtlCol="0" anchor="t">
            <a:spAutoFit/>
          </a:bodyPr>
          <a:lstStyle/>
          <a:p>
            <a:pPr marL="0" indent="0" algn="ctr">
              <a:lnSpc>
                <a:spcPts val="2400"/>
              </a:lnSpc>
              <a:buNone/>
            </a:pPr>
            <a:r>
              <a:rPr lang="en-US" sz="1808" b="1" dirty="0">
                <a:solidFill>
                  <a:srgbClr val="1A365D"/>
                </a:solidFill>
                <a:latin typeface="Montserrat" pitchFamily="34" charset="0"/>
                <a:ea typeface="Montserrat" pitchFamily="34" charset="-122"/>
                <a:cs typeface="Montserrat" pitchFamily="34" charset="-120"/>
              </a:rPr>
              <a:t>55</a:t>
            </a:r>
            <a:endParaRPr lang="en-US" sz="1808" dirty="0"/>
          </a:p>
        </p:txBody>
      </p:sp>
      <p:sp>
        <p:nvSpPr>
          <p:cNvPr id="20" name="Text 16"/>
          <p:cNvSpPr/>
          <p:nvPr/>
        </p:nvSpPr>
        <p:spPr>
          <a:xfrm>
            <a:off x="3148273" y="3980185"/>
            <a:ext cx="767953" cy="103584"/>
          </a:xfrm>
          <a:prstGeom prst="rect">
            <a:avLst/>
          </a:prstGeom>
          <a:noFill/>
          <a:ln/>
        </p:spPr>
        <p:txBody>
          <a:bodyPr wrap="none" lIns="0" tIns="0" rIns="0" bIns="0" rtlCol="0" anchor="t">
            <a:spAutoFit/>
          </a:bodyPr>
          <a:lstStyle/>
          <a:p>
            <a:pPr marL="0" indent="0" algn="ctr">
              <a:lnSpc>
                <a:spcPts val="800"/>
              </a:lnSpc>
              <a:buNone/>
            </a:pPr>
            <a:r>
              <a:rPr lang="en-US" sz="621" dirty="0">
                <a:solidFill>
                  <a:srgbClr val="718096"/>
                </a:solidFill>
                <a:latin typeface="Montserrat" pitchFamily="34" charset="0"/>
                <a:ea typeface="Montserrat" pitchFamily="34" charset="-122"/>
                <a:cs typeface="Montserrat" pitchFamily="34" charset="-120"/>
              </a:rPr>
              <a:t>True Positive (TP)</a:t>
            </a:r>
            <a:endParaRPr lang="en-US" sz="621" dirty="0"/>
          </a:p>
        </p:txBody>
      </p:sp>
      <p:sp>
        <p:nvSpPr>
          <p:cNvPr id="21" name="Text 17"/>
          <p:cNvSpPr/>
          <p:nvPr/>
        </p:nvSpPr>
        <p:spPr>
          <a:xfrm>
            <a:off x="1867756" y="4595217"/>
            <a:ext cx="1245534" cy="115416"/>
          </a:xfrm>
          <a:prstGeom prst="rect">
            <a:avLst/>
          </a:prstGeom>
          <a:noFill/>
          <a:ln/>
        </p:spPr>
        <p:txBody>
          <a:bodyPr wrap="none" lIns="0" tIns="0" rIns="0" bIns="0" rtlCol="0" anchor="t">
            <a:spAutoFit/>
          </a:bodyPr>
          <a:lstStyle/>
          <a:p>
            <a:pPr marL="0" indent="0" algn="l">
              <a:lnSpc>
                <a:spcPts val="900"/>
              </a:lnSpc>
              <a:buNone/>
            </a:pPr>
            <a:r>
              <a:rPr lang="en-US" sz="800" dirty="0">
                <a:solidFill>
                  <a:srgbClr val="718096"/>
                </a:solidFill>
                <a:latin typeface="Inter" pitchFamily="34" charset="0"/>
                <a:ea typeface="Inter" pitchFamily="34" charset="-122"/>
                <a:cs typeface="Inter" pitchFamily="34" charset="-120"/>
              </a:rPr>
              <a:t>Tổng số mẫu thử nghiệm: 231</a:t>
            </a:r>
            <a:endParaRPr lang="en-US" sz="800" dirty="0"/>
          </a:p>
        </p:txBody>
      </p:sp>
      <p:sp>
        <p:nvSpPr>
          <p:cNvPr id="22" name="Text 18"/>
          <p:cNvSpPr/>
          <p:nvPr/>
        </p:nvSpPr>
        <p:spPr>
          <a:xfrm>
            <a:off x="5150002" y="1696362"/>
            <a:ext cx="2088713" cy="207236"/>
          </a:xfrm>
          <a:prstGeom prst="rect">
            <a:avLst/>
          </a:prstGeom>
          <a:noFill/>
          <a:ln/>
        </p:spPr>
        <p:txBody>
          <a:bodyPr wrap="none" lIns="0" tIns="0" rIns="0" bIns="0" rtlCol="0" anchor="t">
            <a:spAutoFit/>
          </a:bodyPr>
          <a:lstStyle/>
          <a:p>
            <a:pPr marL="0" indent="0" algn="l">
              <a:lnSpc>
                <a:spcPts val="1600"/>
              </a:lnSpc>
              <a:buNone/>
            </a:pPr>
            <a:r>
              <a:rPr lang="en-US" sz="1600" b="1" dirty="0">
                <a:solidFill>
                  <a:srgbClr val="3182CE"/>
                </a:solidFill>
                <a:latin typeface="Montserrat" pitchFamily="34" charset="0"/>
                <a:ea typeface="Montserrat" pitchFamily="34" charset="-122"/>
                <a:cs typeface="Montserrat" pitchFamily="34" charset="-120"/>
              </a:rPr>
              <a:t>Phân tích hiệu suất</a:t>
            </a:r>
            <a:endParaRPr lang="en-US" sz="1600" dirty="0"/>
          </a:p>
        </p:txBody>
      </p:sp>
      <p:pic>
        <p:nvPicPr>
          <p:cNvPr id="23" name="Image 1" descr="preencoded.png"/>
          <p:cNvPicPr>
            <a:picLocks noChangeAspect="1"/>
          </p:cNvPicPr>
          <p:nvPr/>
        </p:nvPicPr>
        <p:blipFill>
          <a:blip r:embed="rId4"/>
          <a:stretch>
            <a:fillRect/>
          </a:stretch>
        </p:blipFill>
        <p:spPr>
          <a:xfrm>
            <a:off x="5150002" y="2148204"/>
            <a:ext cx="128588" cy="128588"/>
          </a:xfrm>
          <a:prstGeom prst="rect">
            <a:avLst/>
          </a:prstGeom>
        </p:spPr>
      </p:pic>
      <p:sp>
        <p:nvSpPr>
          <p:cNvPr id="24" name="Text 19"/>
          <p:cNvSpPr/>
          <p:nvPr/>
        </p:nvSpPr>
        <p:spPr>
          <a:xfrm>
            <a:off x="5385746" y="2119629"/>
            <a:ext cx="1687963" cy="153888"/>
          </a:xfrm>
          <a:prstGeom prst="rect">
            <a:avLst/>
          </a:prstGeom>
          <a:noFill/>
          <a:ln/>
        </p:spPr>
        <p:txBody>
          <a:bodyPr wrap="none" lIns="0" tIns="0" rIns="0" bIns="0" rtlCol="0" anchor="t">
            <a:spAutoFit/>
          </a:bodyPr>
          <a:lstStyle/>
          <a:p>
            <a:pPr marL="0" indent="0" algn="l">
              <a:lnSpc>
                <a:spcPts val="1200"/>
              </a:lnSpc>
              <a:buNone/>
            </a:pPr>
            <a:r>
              <a:rPr lang="en-US" sz="1050" b="1" dirty="0">
                <a:solidFill>
                  <a:srgbClr val="2D3748"/>
                </a:solidFill>
                <a:latin typeface="Inter" pitchFamily="34" charset="0"/>
                <a:ea typeface="Inter" pitchFamily="34" charset="-122"/>
                <a:cs typeface="Inter" pitchFamily="34" charset="-120"/>
              </a:rPr>
              <a:t>Độ chính xác tổng thể: 77.06%</a:t>
            </a:r>
            <a:endParaRPr lang="en-US" sz="1050" dirty="0"/>
          </a:p>
        </p:txBody>
      </p:sp>
      <p:sp>
        <p:nvSpPr>
          <p:cNvPr id="25" name="Text 20"/>
          <p:cNvSpPr/>
          <p:nvPr/>
        </p:nvSpPr>
        <p:spPr>
          <a:xfrm>
            <a:off x="5385746" y="2310724"/>
            <a:ext cx="3193182" cy="160557"/>
          </a:xfrm>
          <a:prstGeom prst="rect">
            <a:avLst/>
          </a:prstGeom>
          <a:noFill/>
          <a:ln/>
        </p:spPr>
        <p:txBody>
          <a:bodyPr wrap="none" lIns="0" tIns="0" rIns="0" bIns="0" rtlCol="0" anchor="t">
            <a:spAutoFit/>
          </a:bodyPr>
          <a:lstStyle/>
          <a:p>
            <a:pPr marL="0" indent="0" algn="l">
              <a:lnSpc>
                <a:spcPts val="1300"/>
              </a:lnSpc>
              <a:buNone/>
            </a:pPr>
            <a:r>
              <a:rPr lang="en-US" sz="1050" dirty="0">
                <a:solidFill>
                  <a:srgbClr val="4A5568"/>
                </a:solidFill>
                <a:latin typeface="Inter" pitchFamily="34" charset="0"/>
                <a:ea typeface="Inter" pitchFamily="34" charset="-122"/>
                <a:cs typeface="Inter" pitchFamily="34" charset="-120"/>
              </a:rPr>
              <a:t>Mô hình dự đoán chính xác 178 trên tổng số 231 mẫu thử.</a:t>
            </a:r>
            <a:endParaRPr lang="en-US" sz="1050" dirty="0"/>
          </a:p>
        </p:txBody>
      </p:sp>
      <p:pic>
        <p:nvPicPr>
          <p:cNvPr id="26" name="Image 2" descr="preencoded.png"/>
          <p:cNvPicPr>
            <a:picLocks noChangeAspect="1"/>
          </p:cNvPicPr>
          <p:nvPr/>
        </p:nvPicPr>
        <p:blipFill>
          <a:blip r:embed="rId5"/>
          <a:stretch>
            <a:fillRect/>
          </a:stretch>
        </p:blipFill>
        <p:spPr>
          <a:xfrm>
            <a:off x="5150002" y="2642183"/>
            <a:ext cx="160734" cy="128588"/>
          </a:xfrm>
          <a:prstGeom prst="rect">
            <a:avLst/>
          </a:prstGeom>
        </p:spPr>
      </p:pic>
      <p:sp>
        <p:nvSpPr>
          <p:cNvPr id="27" name="Text 21"/>
          <p:cNvSpPr/>
          <p:nvPr/>
        </p:nvSpPr>
        <p:spPr>
          <a:xfrm>
            <a:off x="5417893" y="2613608"/>
            <a:ext cx="1619033" cy="153888"/>
          </a:xfrm>
          <a:prstGeom prst="rect">
            <a:avLst/>
          </a:prstGeom>
          <a:noFill/>
          <a:ln/>
        </p:spPr>
        <p:txBody>
          <a:bodyPr wrap="none" lIns="0" tIns="0" rIns="0" bIns="0" rtlCol="0" anchor="t">
            <a:spAutoFit/>
          </a:bodyPr>
          <a:lstStyle/>
          <a:p>
            <a:pPr marL="0" indent="0" algn="l">
              <a:lnSpc>
                <a:spcPts val="1200"/>
              </a:lnSpc>
              <a:buNone/>
            </a:pPr>
            <a:r>
              <a:rPr lang="en-US" sz="1050" b="1" dirty="0">
                <a:solidFill>
                  <a:srgbClr val="2D3748"/>
                </a:solidFill>
                <a:latin typeface="Inter" pitchFamily="34" charset="0"/>
                <a:ea typeface="Inter" pitchFamily="34" charset="-122"/>
                <a:cs typeface="Inter" pitchFamily="34" charset="-120"/>
              </a:rPr>
              <a:t>Nhận diện nhóm không bệnh</a:t>
            </a:r>
            <a:endParaRPr lang="en-US" sz="1050" dirty="0"/>
          </a:p>
        </p:txBody>
      </p:sp>
      <p:sp>
        <p:nvSpPr>
          <p:cNvPr id="28" name="Text 22"/>
          <p:cNvSpPr/>
          <p:nvPr/>
        </p:nvSpPr>
        <p:spPr>
          <a:xfrm>
            <a:off x="5417893" y="2804703"/>
            <a:ext cx="3297482" cy="325602"/>
          </a:xfrm>
          <a:prstGeom prst="rect">
            <a:avLst/>
          </a:prstGeom>
          <a:noFill/>
          <a:ln/>
        </p:spPr>
        <p:txBody>
          <a:bodyPr wrap="square" lIns="0" tIns="0" rIns="0" bIns="0" rtlCol="0" anchor="t">
            <a:spAutoFit/>
          </a:bodyPr>
          <a:lstStyle/>
          <a:p>
            <a:pPr marL="0" indent="0" algn="l">
              <a:lnSpc>
                <a:spcPts val="1300"/>
              </a:lnSpc>
              <a:buNone/>
            </a:pPr>
            <a:r>
              <a:rPr lang="en-US" sz="1050" dirty="0">
                <a:solidFill>
                  <a:srgbClr val="4A5568"/>
                </a:solidFill>
                <a:latin typeface="Inter" pitchFamily="34" charset="0"/>
                <a:ea typeface="Inter" pitchFamily="34" charset="-122"/>
                <a:cs typeface="Inter" pitchFamily="34" charset="-120"/>
              </a:rPr>
              <a:t>Hiệu quả rất cao với 123/148 trường hợp thực tế không bệnh được phân loại đúng.</a:t>
            </a:r>
            <a:endParaRPr lang="en-US" sz="1050" dirty="0"/>
          </a:p>
        </p:txBody>
      </p:sp>
      <p:pic>
        <p:nvPicPr>
          <p:cNvPr id="29" name="Image 3" descr="preencoded.png"/>
          <p:cNvPicPr>
            <a:picLocks noChangeAspect="1"/>
          </p:cNvPicPr>
          <p:nvPr/>
        </p:nvPicPr>
        <p:blipFill>
          <a:blip r:embed="rId6"/>
          <a:stretch>
            <a:fillRect/>
          </a:stretch>
        </p:blipFill>
        <p:spPr>
          <a:xfrm>
            <a:off x="5150002" y="3296171"/>
            <a:ext cx="128588" cy="128588"/>
          </a:xfrm>
          <a:prstGeom prst="rect">
            <a:avLst/>
          </a:prstGeom>
        </p:spPr>
      </p:pic>
      <p:sp>
        <p:nvSpPr>
          <p:cNvPr id="30" name="Text 23"/>
          <p:cNvSpPr/>
          <p:nvPr/>
        </p:nvSpPr>
        <p:spPr>
          <a:xfrm>
            <a:off x="5385746" y="3267596"/>
            <a:ext cx="900888" cy="153888"/>
          </a:xfrm>
          <a:prstGeom prst="rect">
            <a:avLst/>
          </a:prstGeom>
          <a:noFill/>
          <a:ln/>
        </p:spPr>
        <p:txBody>
          <a:bodyPr wrap="none" lIns="0" tIns="0" rIns="0" bIns="0" rtlCol="0" anchor="t">
            <a:spAutoFit/>
          </a:bodyPr>
          <a:lstStyle/>
          <a:p>
            <a:pPr marL="0" indent="0" algn="l">
              <a:lnSpc>
                <a:spcPts val="1200"/>
              </a:lnSpc>
              <a:buNone/>
            </a:pPr>
            <a:r>
              <a:rPr lang="en-US" sz="1050" b="1" dirty="0">
                <a:solidFill>
                  <a:srgbClr val="2D3748"/>
                </a:solidFill>
                <a:latin typeface="Inter" pitchFamily="34" charset="0"/>
                <a:ea typeface="Inter" pitchFamily="34" charset="-122"/>
                <a:cs typeface="Inter" pitchFamily="34" charset="-120"/>
              </a:rPr>
              <a:t>Hạn chế hiện tại</a:t>
            </a:r>
            <a:endParaRPr lang="en-US" sz="1050" dirty="0"/>
          </a:p>
        </p:txBody>
      </p:sp>
      <p:sp>
        <p:nvSpPr>
          <p:cNvPr id="31" name="Text 24"/>
          <p:cNvSpPr/>
          <p:nvPr/>
        </p:nvSpPr>
        <p:spPr>
          <a:xfrm>
            <a:off x="5385746" y="3458691"/>
            <a:ext cx="3329629" cy="325602"/>
          </a:xfrm>
          <a:prstGeom prst="rect">
            <a:avLst/>
          </a:prstGeom>
          <a:noFill/>
          <a:ln/>
        </p:spPr>
        <p:txBody>
          <a:bodyPr wrap="square" lIns="0" tIns="0" rIns="0" bIns="0" rtlCol="0" anchor="t">
            <a:spAutoFit/>
          </a:bodyPr>
          <a:lstStyle/>
          <a:p>
            <a:pPr marL="0" indent="0" algn="l">
              <a:lnSpc>
                <a:spcPts val="1300"/>
              </a:lnSpc>
              <a:buNone/>
            </a:pPr>
            <a:r>
              <a:rPr lang="en-US" sz="1050" dirty="0">
                <a:solidFill>
                  <a:srgbClr val="4A5568"/>
                </a:solidFill>
                <a:latin typeface="Inter" pitchFamily="34" charset="0"/>
                <a:ea typeface="Inter" pitchFamily="34" charset="-122"/>
                <a:cs typeface="Inter" pitchFamily="34" charset="-120"/>
              </a:rPr>
              <a:t>Vẫn còn 28 trường hợp thực tế bị bệnh nhưng mô hình dự đoán là không bệnh (False Negative).</a:t>
            </a:r>
            <a:endParaRPr lang="en-US" sz="1050" dirty="0"/>
          </a:p>
        </p:txBody>
      </p:sp>
      <p:pic>
        <p:nvPicPr>
          <p:cNvPr id="32" name="Image 4" descr="preencoded.png"/>
          <p:cNvPicPr>
            <a:picLocks noChangeAspect="1"/>
          </p:cNvPicPr>
          <p:nvPr/>
        </p:nvPicPr>
        <p:blipFill>
          <a:blip r:embed="rId7"/>
          <a:stretch>
            <a:fillRect/>
          </a:stretch>
        </p:blipFill>
        <p:spPr>
          <a:xfrm>
            <a:off x="5150002" y="4339493"/>
            <a:ext cx="114300" cy="114300"/>
          </a:xfrm>
          <a:prstGeom prst="rect">
            <a:avLst/>
          </a:prstGeom>
        </p:spPr>
      </p:pic>
      <p:sp>
        <p:nvSpPr>
          <p:cNvPr id="33" name="Text 25"/>
          <p:cNvSpPr/>
          <p:nvPr/>
        </p:nvSpPr>
        <p:spPr>
          <a:xfrm>
            <a:off x="5310736" y="4328778"/>
            <a:ext cx="3268523" cy="141064"/>
          </a:xfrm>
          <a:prstGeom prst="rect">
            <a:avLst/>
          </a:prstGeom>
          <a:noFill/>
          <a:ln/>
        </p:spPr>
        <p:txBody>
          <a:bodyPr wrap="none" lIns="0" tIns="0" rIns="0" bIns="0" rtlCol="0" anchor="t">
            <a:spAutoFit/>
          </a:bodyPr>
          <a:lstStyle/>
          <a:p>
            <a:pPr marL="0" indent="0" algn="l">
              <a:lnSpc>
                <a:spcPts val="1100"/>
              </a:lnSpc>
              <a:buNone/>
            </a:pPr>
            <a:r>
              <a:rPr lang="en-US" sz="1000" b="1" dirty="0">
                <a:solidFill>
                  <a:srgbClr val="E53E3E"/>
                </a:solidFill>
                <a:latin typeface="Inter" pitchFamily="34" charset="0"/>
                <a:ea typeface="Inter" pitchFamily="34" charset="-122"/>
                <a:cs typeface="Inter" pitchFamily="34" charset="-120"/>
              </a:rPr>
              <a:t>Cần cải thiện tỷ lệ Recall để đảm bảo không bỏ sót bệnh nhân</a:t>
            </a:r>
            <a:endParaRPr lang="en-US" sz="1000" dirty="0"/>
          </a:p>
        </p:txBody>
      </p:sp>
      <p:sp>
        <p:nvSpPr>
          <p:cNvPr id="34" name="Text 26"/>
          <p:cNvSpPr/>
          <p:nvPr/>
        </p:nvSpPr>
        <p:spPr>
          <a:xfrm>
            <a:off x="5150002" y="4466295"/>
            <a:ext cx="1163780" cy="141064"/>
          </a:xfrm>
          <a:prstGeom prst="rect">
            <a:avLst/>
          </a:prstGeom>
          <a:noFill/>
          <a:ln/>
        </p:spPr>
        <p:txBody>
          <a:bodyPr wrap="none" lIns="0" tIns="0" rIns="0" bIns="0" rtlCol="0" anchor="t">
            <a:spAutoFit/>
          </a:bodyPr>
          <a:lstStyle/>
          <a:p>
            <a:pPr marL="0" indent="0" algn="l">
              <a:lnSpc>
                <a:spcPts val="1100"/>
              </a:lnSpc>
              <a:buNone/>
            </a:pPr>
            <a:r>
              <a:rPr lang="en-US" sz="1000" b="1" dirty="0">
                <a:solidFill>
                  <a:srgbClr val="E53E3E"/>
                </a:solidFill>
                <a:latin typeface="Inter" pitchFamily="34" charset="0"/>
                <a:ea typeface="Inter" pitchFamily="34" charset="-122"/>
                <a:cs typeface="Inter" pitchFamily="34" charset="-120"/>
              </a:rPr>
              <a:t>trong bối cảnh y tế.</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428625" y="285750"/>
            <a:ext cx="8286750" cy="278606"/>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365D"/>
                </a:solidFill>
                <a:latin typeface="Montserrat" pitchFamily="34" charset="0"/>
                <a:ea typeface="Montserrat" pitchFamily="34" charset="-122"/>
                <a:cs typeface="Montserrat" pitchFamily="34" charset="-120"/>
              </a:rPr>
              <a:t>Glucose và các biến tương tác đóng vai trò quyết định trong dự báo</a:t>
            </a:r>
            <a:endParaRPr lang="en-US" sz="1602" dirty="0"/>
          </a:p>
        </p:txBody>
      </p:sp>
      <p:sp>
        <p:nvSpPr>
          <p:cNvPr id="5" name="Shape 1"/>
          <p:cNvSpPr/>
          <p:nvPr/>
        </p:nvSpPr>
        <p:spPr>
          <a:xfrm>
            <a:off x="428625" y="850106"/>
            <a:ext cx="4200525" cy="3214688"/>
          </a:xfrm>
          <a:prstGeom prst="rect">
            <a:avLst/>
          </a:prstGeom>
          <a:solidFill>
            <a:srgbClr val="FFFFFF"/>
          </a:solidFill>
          <a:ln/>
        </p:spPr>
      </p:sp>
      <p:pic>
        <p:nvPicPr>
          <p:cNvPr id="6" name="Image 1" descr="preencoded.png"/>
          <p:cNvPicPr>
            <a:picLocks noChangeAspect="1"/>
          </p:cNvPicPr>
          <p:nvPr/>
        </p:nvPicPr>
        <p:blipFill>
          <a:blip r:embed="rId4"/>
          <a:stretch>
            <a:fillRect/>
          </a:stretch>
        </p:blipFill>
        <p:spPr>
          <a:xfrm>
            <a:off x="571500" y="992981"/>
            <a:ext cx="3914775" cy="3071813"/>
          </a:xfrm>
          <a:prstGeom prst="rect">
            <a:avLst/>
          </a:prstGeom>
        </p:spPr>
      </p:pic>
      <p:sp>
        <p:nvSpPr>
          <p:cNvPr id="7" name="Text 2"/>
          <p:cNvSpPr/>
          <p:nvPr/>
        </p:nvSpPr>
        <p:spPr>
          <a:xfrm>
            <a:off x="915466" y="4171950"/>
            <a:ext cx="3226844" cy="115416"/>
          </a:xfrm>
          <a:prstGeom prst="rect">
            <a:avLst/>
          </a:prstGeom>
          <a:noFill/>
          <a:ln/>
        </p:spPr>
        <p:txBody>
          <a:bodyPr wrap="none" lIns="0" tIns="0" rIns="0" bIns="0" rtlCol="0" anchor="t">
            <a:spAutoFit/>
          </a:bodyPr>
          <a:lstStyle/>
          <a:p>
            <a:pPr marL="0" indent="0" algn="ctr">
              <a:lnSpc>
                <a:spcPts val="900"/>
              </a:lnSpc>
              <a:buNone/>
            </a:pPr>
            <a:r>
              <a:rPr lang="en-US" sz="800" dirty="0">
                <a:solidFill>
                  <a:srgbClr val="718096"/>
                </a:solidFill>
                <a:latin typeface="Inter" pitchFamily="34" charset="0"/>
                <a:ea typeface="Inter" pitchFamily="34" charset="-122"/>
                <a:cs typeface="Inter" pitchFamily="34" charset="-120"/>
              </a:rPr>
              <a:t>Xếp hạng tầm quan trọng của đặc trưng (Random Forest Feature Importance)</a:t>
            </a:r>
            <a:endParaRPr lang="en-US" sz="800" dirty="0"/>
          </a:p>
        </p:txBody>
      </p:sp>
      <p:sp>
        <p:nvSpPr>
          <p:cNvPr id="8" name="Text 3"/>
          <p:cNvSpPr/>
          <p:nvPr/>
        </p:nvSpPr>
        <p:spPr>
          <a:xfrm>
            <a:off x="5214938" y="1551673"/>
            <a:ext cx="3500438" cy="208955"/>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3182CE"/>
                </a:solidFill>
                <a:latin typeface="Montserrat" pitchFamily="34" charset="0"/>
                <a:ea typeface="Montserrat" pitchFamily="34" charset="-122"/>
                <a:cs typeface="Montserrat" pitchFamily="34" charset="-120"/>
              </a:rPr>
              <a:t>Phân tích chi tiết</a:t>
            </a:r>
            <a:endParaRPr lang="en-US" sz="1193" dirty="0"/>
          </a:p>
        </p:txBody>
      </p:sp>
      <p:pic>
        <p:nvPicPr>
          <p:cNvPr id="9" name="Image 2" descr="preencoded.png"/>
          <p:cNvPicPr>
            <a:picLocks noChangeAspect="1"/>
          </p:cNvPicPr>
          <p:nvPr/>
        </p:nvPicPr>
        <p:blipFill>
          <a:blip r:embed="rId5"/>
          <a:stretch>
            <a:fillRect/>
          </a:stretch>
        </p:blipFill>
        <p:spPr>
          <a:xfrm>
            <a:off x="5214938" y="2003515"/>
            <a:ext cx="144661" cy="128588"/>
          </a:xfrm>
          <a:prstGeom prst="rect">
            <a:avLst/>
          </a:prstGeom>
        </p:spPr>
      </p:pic>
      <p:sp>
        <p:nvSpPr>
          <p:cNvPr id="10" name="Text 4"/>
          <p:cNvSpPr/>
          <p:nvPr/>
        </p:nvSpPr>
        <p:spPr>
          <a:xfrm>
            <a:off x="5466755" y="1974940"/>
            <a:ext cx="1445909" cy="153888"/>
          </a:xfrm>
          <a:prstGeom prst="rect">
            <a:avLst/>
          </a:prstGeom>
          <a:noFill/>
          <a:ln/>
        </p:spPr>
        <p:txBody>
          <a:bodyPr wrap="none" lIns="0" tIns="0" rIns="0" bIns="0" rtlCol="0" anchor="t">
            <a:spAutoFit/>
          </a:bodyPr>
          <a:lstStyle/>
          <a:p>
            <a:pPr marL="0" indent="0" algn="l">
              <a:lnSpc>
                <a:spcPts val="1200"/>
              </a:lnSpc>
              <a:buNone/>
            </a:pPr>
            <a:r>
              <a:rPr lang="en-US" sz="1050" b="1" dirty="0">
                <a:solidFill>
                  <a:srgbClr val="1A365D"/>
                </a:solidFill>
                <a:latin typeface="Inter" pitchFamily="34" charset="0"/>
                <a:ea typeface="Inter" pitchFamily="34" charset="-122"/>
                <a:cs typeface="Inter" pitchFamily="34" charset="-120"/>
              </a:rPr>
              <a:t>Glucose: Chỉ số tiên quyết</a:t>
            </a:r>
            <a:endParaRPr lang="en-US" sz="1050" dirty="0"/>
          </a:p>
        </p:txBody>
      </p:sp>
      <p:sp>
        <p:nvSpPr>
          <p:cNvPr id="11" name="Text 5"/>
          <p:cNvSpPr/>
          <p:nvPr/>
        </p:nvSpPr>
        <p:spPr>
          <a:xfrm>
            <a:off x="5466755" y="2166035"/>
            <a:ext cx="3248620" cy="325602"/>
          </a:xfrm>
          <a:prstGeom prst="rect">
            <a:avLst/>
          </a:prstGeom>
          <a:noFill/>
          <a:ln/>
        </p:spPr>
        <p:txBody>
          <a:bodyPr wrap="square" lIns="0" tIns="0" rIns="0" bIns="0" rtlCol="0" anchor="t">
            <a:spAutoFit/>
          </a:bodyPr>
          <a:lstStyle/>
          <a:p>
            <a:pPr marL="0" indent="0" algn="l">
              <a:lnSpc>
                <a:spcPts val="1300"/>
              </a:lnSpc>
              <a:buNone/>
            </a:pPr>
            <a:r>
              <a:rPr lang="en-US" sz="1000" dirty="0">
                <a:solidFill>
                  <a:srgbClr val="4A5568"/>
                </a:solidFill>
                <a:latin typeface="Inter" pitchFamily="34" charset="0"/>
                <a:ea typeface="Inter" pitchFamily="34" charset="-122"/>
                <a:cs typeface="Inter" pitchFamily="34" charset="-120"/>
              </a:rPr>
              <a:t>Đặc trưng quan trọng nhất, phù hợp với thực tế y khoa khi Glucose là tiêu chuẩn vàng để xác định tiểu đường.</a:t>
            </a:r>
            <a:endParaRPr lang="en-US" sz="1000" dirty="0"/>
          </a:p>
        </p:txBody>
      </p:sp>
      <p:pic>
        <p:nvPicPr>
          <p:cNvPr id="12" name="Image 3" descr="preencoded.png"/>
          <p:cNvPicPr>
            <a:picLocks noChangeAspect="1"/>
          </p:cNvPicPr>
          <p:nvPr/>
        </p:nvPicPr>
        <p:blipFill>
          <a:blip r:embed="rId6"/>
          <a:stretch>
            <a:fillRect/>
          </a:stretch>
        </p:blipFill>
        <p:spPr>
          <a:xfrm>
            <a:off x="5214938" y="2694673"/>
            <a:ext cx="160734" cy="128588"/>
          </a:xfrm>
          <a:prstGeom prst="rect">
            <a:avLst/>
          </a:prstGeom>
        </p:spPr>
      </p:pic>
      <p:sp>
        <p:nvSpPr>
          <p:cNvPr id="13" name="Text 6"/>
          <p:cNvSpPr/>
          <p:nvPr/>
        </p:nvSpPr>
        <p:spPr>
          <a:xfrm>
            <a:off x="5482828" y="2666098"/>
            <a:ext cx="1123706" cy="153888"/>
          </a:xfrm>
          <a:prstGeom prst="rect">
            <a:avLst/>
          </a:prstGeom>
          <a:noFill/>
          <a:ln/>
        </p:spPr>
        <p:txBody>
          <a:bodyPr wrap="none" lIns="0" tIns="0" rIns="0" bIns="0" rtlCol="0" anchor="t">
            <a:spAutoFit/>
          </a:bodyPr>
          <a:lstStyle/>
          <a:p>
            <a:pPr marL="0" indent="0" algn="l">
              <a:lnSpc>
                <a:spcPts val="1200"/>
              </a:lnSpc>
              <a:buNone/>
            </a:pPr>
            <a:r>
              <a:rPr lang="en-US" sz="1050" b="1" dirty="0">
                <a:solidFill>
                  <a:srgbClr val="1A365D"/>
                </a:solidFill>
                <a:latin typeface="Inter" pitchFamily="34" charset="0"/>
                <a:ea typeface="Inter" pitchFamily="34" charset="-122"/>
                <a:cs typeface="Inter" pitchFamily="34" charset="-120"/>
              </a:rPr>
              <a:t>BMI &amp; Độ tuổi (Age)</a:t>
            </a:r>
            <a:endParaRPr lang="en-US" sz="1050" dirty="0"/>
          </a:p>
        </p:txBody>
      </p:sp>
      <p:sp>
        <p:nvSpPr>
          <p:cNvPr id="14" name="Text 7"/>
          <p:cNvSpPr/>
          <p:nvPr/>
        </p:nvSpPr>
        <p:spPr>
          <a:xfrm>
            <a:off x="5482828" y="2857193"/>
            <a:ext cx="3232547" cy="325602"/>
          </a:xfrm>
          <a:prstGeom prst="rect">
            <a:avLst/>
          </a:prstGeom>
          <a:noFill/>
          <a:ln/>
        </p:spPr>
        <p:txBody>
          <a:bodyPr wrap="square" lIns="0" tIns="0" rIns="0" bIns="0" rtlCol="0" anchor="t">
            <a:spAutoFit/>
          </a:bodyPr>
          <a:lstStyle/>
          <a:p>
            <a:pPr marL="0" indent="0" algn="l">
              <a:lnSpc>
                <a:spcPts val="1300"/>
              </a:lnSpc>
              <a:buNone/>
            </a:pPr>
            <a:r>
              <a:rPr lang="en-US" sz="1000" dirty="0">
                <a:solidFill>
                  <a:srgbClr val="4A5568"/>
                </a:solidFill>
                <a:latin typeface="Inter" pitchFamily="34" charset="0"/>
                <a:ea typeface="Inter" pitchFamily="34" charset="-122"/>
                <a:cs typeface="Inter" pitchFamily="34" charset="-120"/>
              </a:rPr>
              <a:t>Phản ánh mối liên hệ chặt chẽ giữa thể trạng (thừa cân) và yếu tố lão hóa đối với nguy cơ kháng Insulin.</a:t>
            </a:r>
            <a:endParaRPr lang="en-US" sz="1000" dirty="0"/>
          </a:p>
        </p:txBody>
      </p:sp>
      <p:pic>
        <p:nvPicPr>
          <p:cNvPr id="15" name="Image 4" descr="preencoded.png"/>
          <p:cNvPicPr>
            <a:picLocks noChangeAspect="1"/>
          </p:cNvPicPr>
          <p:nvPr/>
        </p:nvPicPr>
        <p:blipFill>
          <a:blip r:embed="rId7"/>
          <a:stretch>
            <a:fillRect/>
          </a:stretch>
        </p:blipFill>
        <p:spPr>
          <a:xfrm>
            <a:off x="5214938" y="3385831"/>
            <a:ext cx="144661" cy="128588"/>
          </a:xfrm>
          <a:prstGeom prst="rect">
            <a:avLst/>
          </a:prstGeom>
        </p:spPr>
      </p:pic>
      <p:sp>
        <p:nvSpPr>
          <p:cNvPr id="16" name="Text 8"/>
          <p:cNvSpPr/>
          <p:nvPr/>
        </p:nvSpPr>
        <p:spPr>
          <a:xfrm>
            <a:off x="5466755" y="3357256"/>
            <a:ext cx="1599797" cy="153888"/>
          </a:xfrm>
          <a:prstGeom prst="rect">
            <a:avLst/>
          </a:prstGeom>
          <a:noFill/>
          <a:ln/>
        </p:spPr>
        <p:txBody>
          <a:bodyPr wrap="none" lIns="0" tIns="0" rIns="0" bIns="0" rtlCol="0" anchor="t">
            <a:spAutoFit/>
          </a:bodyPr>
          <a:lstStyle/>
          <a:p>
            <a:pPr marL="0" indent="0" algn="l">
              <a:lnSpc>
                <a:spcPts val="1200"/>
              </a:lnSpc>
              <a:buNone/>
            </a:pPr>
            <a:r>
              <a:rPr lang="en-US" sz="1050" b="1" dirty="0">
                <a:solidFill>
                  <a:srgbClr val="1A365D"/>
                </a:solidFill>
                <a:latin typeface="Inter" pitchFamily="34" charset="0"/>
                <a:ea typeface="Inter" pitchFamily="34" charset="-122"/>
                <a:cs typeface="Inter" pitchFamily="34" charset="-120"/>
              </a:rPr>
              <a:t>Biến tương tác Glucose_BMI</a:t>
            </a:r>
            <a:endParaRPr lang="en-US" sz="1050" dirty="0"/>
          </a:p>
        </p:txBody>
      </p:sp>
      <p:sp>
        <p:nvSpPr>
          <p:cNvPr id="17" name="Text 9"/>
          <p:cNvSpPr/>
          <p:nvPr/>
        </p:nvSpPr>
        <p:spPr>
          <a:xfrm>
            <a:off x="5466755" y="3548351"/>
            <a:ext cx="3248620" cy="325602"/>
          </a:xfrm>
          <a:prstGeom prst="rect">
            <a:avLst/>
          </a:prstGeom>
          <a:noFill/>
          <a:ln/>
        </p:spPr>
        <p:txBody>
          <a:bodyPr wrap="square" lIns="0" tIns="0" rIns="0" bIns="0" rtlCol="0" anchor="t">
            <a:spAutoFit/>
          </a:bodyPr>
          <a:lstStyle/>
          <a:p>
            <a:pPr marL="0" indent="0" algn="l">
              <a:lnSpc>
                <a:spcPts val="1300"/>
              </a:lnSpc>
              <a:buNone/>
            </a:pPr>
            <a:r>
              <a:rPr lang="en-US" sz="1000" dirty="0">
                <a:solidFill>
                  <a:srgbClr val="4A5568"/>
                </a:solidFill>
                <a:latin typeface="Inter" pitchFamily="34" charset="0"/>
                <a:ea typeface="Inter" pitchFamily="34" charset="-122"/>
                <a:cs typeface="Inter" pitchFamily="34" charset="-120"/>
              </a:rPr>
              <a:t>Nằm trong nhóm trọng số cao, chứng minh hiệu quả của Feature Engineering trong việc khai thác quan hệ phi tuyến.</a:t>
            </a:r>
            <a:endParaRPr lang="en-US" sz="1000" dirty="0"/>
          </a:p>
        </p:txBody>
      </p:sp>
      <p:sp>
        <p:nvSpPr>
          <p:cNvPr id="18" name="Text 10"/>
          <p:cNvSpPr/>
          <p:nvPr/>
        </p:nvSpPr>
        <p:spPr>
          <a:xfrm>
            <a:off x="5214938" y="4191288"/>
            <a:ext cx="3500438" cy="407547"/>
          </a:xfrm>
          <a:prstGeom prst="rect">
            <a:avLst/>
          </a:prstGeom>
          <a:noFill/>
          <a:ln/>
        </p:spPr>
        <p:txBody>
          <a:bodyPr wrap="square" lIns="0" tIns="170053" rIns="0" bIns="0" rtlCol="0" anchor="t">
            <a:spAutoFit/>
          </a:bodyPr>
          <a:lstStyle/>
          <a:p>
            <a:pPr marL="0" indent="0" algn="l">
              <a:lnSpc>
                <a:spcPts val="900"/>
              </a:lnSpc>
              <a:buNone/>
            </a:pPr>
            <a:r>
              <a:rPr lang="en-US" sz="1000" i="1" dirty="0">
                <a:solidFill>
                  <a:srgbClr val="718096"/>
                </a:solidFill>
                <a:latin typeface="Inter" pitchFamily="34" charset="0"/>
                <a:ea typeface="Inter" pitchFamily="34" charset="-122"/>
                <a:cs typeface="Inter" pitchFamily="34" charset="-120"/>
              </a:rPr>
              <a:t>* Các chỉ số như Huyết áp (BloodPressure) đóng vai trò bổ trợ thay vì quyết định trực tiếp trong bộ dữ liệu này.</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428625" y="285750"/>
            <a:ext cx="8286750" cy="557213"/>
          </a:xfrm>
          <a:prstGeom prst="rect">
            <a:avLst/>
          </a:prstGeom>
          <a:noFill/>
          <a:ln/>
        </p:spPr>
        <p:txBody>
          <a:bodyPr wrap="square" lIns="0" tIns="0" rIns="0" bIns="0" rtlCol="0" anchor="t">
            <a:spAutoFit/>
          </a:bodyPr>
          <a:lstStyle/>
          <a:p>
            <a:pPr marL="0" indent="0" algn="l">
              <a:lnSpc>
                <a:spcPts val="2200"/>
              </a:lnSpc>
              <a:buNone/>
            </a:pPr>
            <a:r>
              <a:rPr lang="en-US" sz="1602" b="1" dirty="0">
                <a:solidFill>
                  <a:srgbClr val="1A365D"/>
                </a:solidFill>
                <a:latin typeface="Montserrat" pitchFamily="34" charset="0"/>
                <a:ea typeface="Montserrat" pitchFamily="34" charset="-122"/>
                <a:cs typeface="Montserrat" pitchFamily="34" charset="-120"/>
              </a:rPr>
              <a:t>SMOTE và Boosting là chìa khóa để nâng cao độ chính xác trong tương lai</a:t>
            </a:r>
            <a:endParaRPr lang="en-US" sz="1602" dirty="0"/>
          </a:p>
        </p:txBody>
      </p:sp>
      <p:pic>
        <p:nvPicPr>
          <p:cNvPr id="5" name="Image 1" descr="preencoded.png"/>
          <p:cNvPicPr>
            <a:picLocks noChangeAspect="1"/>
          </p:cNvPicPr>
          <p:nvPr/>
        </p:nvPicPr>
        <p:blipFill>
          <a:blip r:embed="rId4"/>
          <a:stretch>
            <a:fillRect/>
          </a:stretch>
        </p:blipFill>
        <p:spPr>
          <a:xfrm>
            <a:off x="585788" y="1150144"/>
            <a:ext cx="285750" cy="228600"/>
          </a:xfrm>
          <a:prstGeom prst="rect">
            <a:avLst/>
          </a:prstGeom>
        </p:spPr>
      </p:pic>
      <p:sp>
        <p:nvSpPr>
          <p:cNvPr id="6" name="Text 1"/>
          <p:cNvSpPr/>
          <p:nvPr/>
        </p:nvSpPr>
        <p:spPr>
          <a:xfrm>
            <a:off x="1050131" y="1259142"/>
            <a:ext cx="2521524" cy="192360"/>
          </a:xfrm>
          <a:prstGeom prst="rect">
            <a:avLst/>
          </a:prstGeom>
          <a:noFill/>
          <a:ln/>
        </p:spPr>
        <p:txBody>
          <a:bodyPr wrap="none" lIns="0" tIns="0" rIns="0" bIns="0" rtlCol="0" anchor="t">
            <a:spAutoFit/>
          </a:bodyPr>
          <a:lstStyle/>
          <a:p>
            <a:pPr marL="0" indent="0" algn="l">
              <a:lnSpc>
                <a:spcPts val="1500"/>
              </a:lnSpc>
              <a:buNone/>
            </a:pPr>
            <a:r>
              <a:rPr lang="en-US" sz="1400" b="1" dirty="0">
                <a:solidFill>
                  <a:srgbClr val="1A365D"/>
                </a:solidFill>
                <a:latin typeface="Montserrat" pitchFamily="34" charset="0"/>
                <a:ea typeface="Montserrat" pitchFamily="34" charset="-122"/>
                <a:cs typeface="Montserrat" pitchFamily="34" charset="-120"/>
              </a:rPr>
              <a:t>Xử lý mất cân bằng dữ liệu</a:t>
            </a:r>
            <a:endParaRPr lang="en-US" sz="1400" dirty="0"/>
          </a:p>
        </p:txBody>
      </p:sp>
      <p:sp>
        <p:nvSpPr>
          <p:cNvPr id="7" name="Text 2"/>
          <p:cNvSpPr/>
          <p:nvPr/>
        </p:nvSpPr>
        <p:spPr>
          <a:xfrm>
            <a:off x="1050131" y="1557393"/>
            <a:ext cx="3378994" cy="524182"/>
          </a:xfrm>
          <a:prstGeom prst="rect">
            <a:avLst/>
          </a:prstGeom>
          <a:noFill/>
          <a:ln/>
        </p:spPr>
        <p:txBody>
          <a:bodyPr wrap="square" lIns="0" tIns="0" rIns="0" bIns="0" rtlCol="0" anchor="t">
            <a:spAutoFit/>
          </a:bodyPr>
          <a:lstStyle/>
          <a:p>
            <a:pPr marL="0" indent="0" algn="l">
              <a:lnSpc>
                <a:spcPts val="1400"/>
              </a:lnSpc>
              <a:buNone/>
            </a:pPr>
            <a:r>
              <a:rPr lang="en-US" sz="1000" dirty="0">
                <a:solidFill>
                  <a:srgbClr val="4A5568"/>
                </a:solidFill>
                <a:latin typeface="Inter" pitchFamily="34" charset="0"/>
                <a:ea typeface="Inter" pitchFamily="34" charset="-122"/>
                <a:cs typeface="Inter" pitchFamily="34" charset="-120"/>
              </a:rPr>
              <a:t>Áp dụng kỹ thuật </a:t>
            </a:r>
            <a:r>
              <a:rPr lang="en-US" sz="900" b="1" dirty="0">
                <a:solidFill>
                  <a:srgbClr val="3182CE"/>
                </a:solidFill>
                <a:latin typeface="Inter" pitchFamily="34" charset="0"/>
                <a:ea typeface="Inter" pitchFamily="34" charset="-122"/>
                <a:cs typeface="Inter" pitchFamily="34" charset="-120"/>
              </a:rPr>
              <a:t>SMOTE</a:t>
            </a:r>
            <a:r>
              <a:rPr lang="en-US" sz="1000" dirty="0">
                <a:solidFill>
                  <a:srgbClr val="4A5568"/>
                </a:solidFill>
                <a:latin typeface="Inter" pitchFamily="34" charset="0"/>
                <a:ea typeface="Inter" pitchFamily="34" charset="-122"/>
                <a:cs typeface="Inter" pitchFamily="34" charset="-120"/>
              </a:rPr>
              <a:t> để cân bằng tập huấn luyện, giúp mô hình nhận diện lớp bệnh lý tốt hơn và giảm tỷ lệ bỏ sót ca bệnh (False Negative).</a:t>
            </a:r>
            <a:endParaRPr lang="en-US" sz="1000" dirty="0"/>
          </a:p>
        </p:txBody>
      </p:sp>
      <p:pic>
        <p:nvPicPr>
          <p:cNvPr id="8" name="Image 2" descr="preencoded.png"/>
          <p:cNvPicPr>
            <a:picLocks noChangeAspect="1"/>
          </p:cNvPicPr>
          <p:nvPr/>
        </p:nvPicPr>
        <p:blipFill>
          <a:blip r:embed="rId5"/>
          <a:stretch>
            <a:fillRect/>
          </a:stretch>
        </p:blipFill>
        <p:spPr>
          <a:xfrm>
            <a:off x="4872038" y="1150144"/>
            <a:ext cx="228600" cy="228600"/>
          </a:xfrm>
          <a:prstGeom prst="rect">
            <a:avLst/>
          </a:prstGeom>
        </p:spPr>
      </p:pic>
      <p:sp>
        <p:nvSpPr>
          <p:cNvPr id="9" name="Text 3"/>
          <p:cNvSpPr/>
          <p:nvPr/>
        </p:nvSpPr>
        <p:spPr>
          <a:xfrm>
            <a:off x="5279231" y="1259142"/>
            <a:ext cx="3244478" cy="192360"/>
          </a:xfrm>
          <a:prstGeom prst="rect">
            <a:avLst/>
          </a:prstGeom>
          <a:noFill/>
          <a:ln/>
        </p:spPr>
        <p:txBody>
          <a:bodyPr wrap="none" lIns="0" tIns="0" rIns="0" bIns="0" rtlCol="0" anchor="t">
            <a:spAutoFit/>
          </a:bodyPr>
          <a:lstStyle/>
          <a:p>
            <a:pPr marL="0" indent="0" algn="l">
              <a:lnSpc>
                <a:spcPts val="1500"/>
              </a:lnSpc>
              <a:buNone/>
            </a:pPr>
            <a:r>
              <a:rPr lang="en-US" sz="1400" b="1" dirty="0">
                <a:solidFill>
                  <a:srgbClr val="1A365D"/>
                </a:solidFill>
                <a:latin typeface="Montserrat" pitchFamily="34" charset="0"/>
                <a:ea typeface="Montserrat" pitchFamily="34" charset="-122"/>
                <a:cs typeface="Montserrat" pitchFamily="34" charset="-120"/>
              </a:rPr>
              <a:t>Thử nghiệm các mô hình Boosting</a:t>
            </a:r>
            <a:endParaRPr lang="en-US" sz="1400" dirty="0"/>
          </a:p>
        </p:txBody>
      </p:sp>
      <p:sp>
        <p:nvSpPr>
          <p:cNvPr id="10" name="Text 4"/>
          <p:cNvSpPr/>
          <p:nvPr/>
        </p:nvSpPr>
        <p:spPr>
          <a:xfrm>
            <a:off x="5279231" y="1557393"/>
            <a:ext cx="3436144" cy="348044"/>
          </a:xfrm>
          <a:prstGeom prst="rect">
            <a:avLst/>
          </a:prstGeom>
          <a:noFill/>
          <a:ln/>
        </p:spPr>
        <p:txBody>
          <a:bodyPr wrap="square" lIns="0" tIns="0" rIns="0" bIns="0" rtlCol="0" anchor="t">
            <a:spAutoFit/>
          </a:bodyPr>
          <a:lstStyle/>
          <a:p>
            <a:pPr marL="0" indent="0" algn="l">
              <a:lnSpc>
                <a:spcPts val="1400"/>
              </a:lnSpc>
              <a:buNone/>
            </a:pPr>
            <a:r>
              <a:rPr lang="en-US" sz="1000" dirty="0">
                <a:solidFill>
                  <a:srgbClr val="4A5568"/>
                </a:solidFill>
                <a:latin typeface="Inter" pitchFamily="34" charset="0"/>
                <a:ea typeface="Inter" pitchFamily="34" charset="-122"/>
                <a:cs typeface="Inter" pitchFamily="34" charset="-120"/>
              </a:rPr>
              <a:t>Triển khai các thuật toán mạnh mẽ như </a:t>
            </a:r>
            <a:r>
              <a:rPr lang="en-US" sz="900" b="1" dirty="0">
                <a:solidFill>
                  <a:srgbClr val="3182CE"/>
                </a:solidFill>
                <a:latin typeface="Inter" pitchFamily="34" charset="0"/>
                <a:ea typeface="Inter" pitchFamily="34" charset="-122"/>
                <a:cs typeface="Inter" pitchFamily="34" charset="-120"/>
              </a:rPr>
              <a:t>XGBoost</a:t>
            </a:r>
            <a:r>
              <a:rPr lang="en-US" sz="1000" dirty="0">
                <a:solidFill>
                  <a:srgbClr val="4A5568"/>
                </a:solidFill>
                <a:latin typeface="Inter" pitchFamily="34" charset="0"/>
                <a:ea typeface="Inter" pitchFamily="34" charset="-122"/>
                <a:cs typeface="Inter" pitchFamily="34" charset="-120"/>
              </a:rPr>
              <a:t> hoặc </a:t>
            </a:r>
            <a:r>
              <a:rPr lang="en-US" sz="900" b="1" dirty="0">
                <a:solidFill>
                  <a:srgbClr val="3182CE"/>
                </a:solidFill>
                <a:latin typeface="Inter" pitchFamily="34" charset="0"/>
                <a:ea typeface="Inter" pitchFamily="34" charset="-122"/>
                <a:cs typeface="Inter" pitchFamily="34" charset="-120"/>
              </a:rPr>
              <a:t>LightGBM</a:t>
            </a:r>
            <a:r>
              <a:rPr lang="en-US" sz="1000" dirty="0">
                <a:solidFill>
                  <a:srgbClr val="4A5568"/>
                </a:solidFill>
                <a:latin typeface="Inter" pitchFamily="34" charset="0"/>
                <a:ea typeface="Inter" pitchFamily="34" charset="-122"/>
                <a:cs typeface="Inter" pitchFamily="34" charset="-120"/>
              </a:rPr>
              <a:t> để tối ưu hóa việc xử lý dữ liệu bảng và giảm thiểu sai số học tập.</a:t>
            </a:r>
            <a:endParaRPr lang="en-US" sz="1000" dirty="0"/>
          </a:p>
        </p:txBody>
      </p:sp>
      <p:pic>
        <p:nvPicPr>
          <p:cNvPr id="11" name="Image 3" descr="preencoded.png"/>
          <p:cNvPicPr>
            <a:picLocks noChangeAspect="1"/>
          </p:cNvPicPr>
          <p:nvPr/>
        </p:nvPicPr>
        <p:blipFill>
          <a:blip r:embed="rId6"/>
          <a:stretch>
            <a:fillRect/>
          </a:stretch>
        </p:blipFill>
        <p:spPr>
          <a:xfrm>
            <a:off x="585788" y="3300413"/>
            <a:ext cx="257175" cy="228600"/>
          </a:xfrm>
          <a:prstGeom prst="rect">
            <a:avLst/>
          </a:prstGeom>
        </p:spPr>
      </p:pic>
      <p:sp>
        <p:nvSpPr>
          <p:cNvPr id="12" name="Text 5"/>
          <p:cNvSpPr/>
          <p:nvPr/>
        </p:nvSpPr>
        <p:spPr>
          <a:xfrm>
            <a:off x="1021556" y="3409410"/>
            <a:ext cx="2909451" cy="192360"/>
          </a:xfrm>
          <a:prstGeom prst="rect">
            <a:avLst/>
          </a:prstGeom>
          <a:noFill/>
          <a:ln/>
        </p:spPr>
        <p:txBody>
          <a:bodyPr wrap="none" lIns="0" tIns="0" rIns="0" bIns="0" rtlCol="0" anchor="t">
            <a:spAutoFit/>
          </a:bodyPr>
          <a:lstStyle/>
          <a:p>
            <a:pPr marL="0" indent="0" algn="l">
              <a:lnSpc>
                <a:spcPts val="1500"/>
              </a:lnSpc>
              <a:buNone/>
            </a:pPr>
            <a:r>
              <a:rPr lang="en-US" sz="1400" b="1" dirty="0">
                <a:solidFill>
                  <a:srgbClr val="1A365D"/>
                </a:solidFill>
                <a:latin typeface="Montserrat" pitchFamily="34" charset="0"/>
                <a:ea typeface="Montserrat" pitchFamily="34" charset="-122"/>
                <a:cs typeface="Montserrat" pitchFamily="34" charset="-120"/>
              </a:rPr>
              <a:t>Kỹ thuật đặc trưng chuyên sâu</a:t>
            </a:r>
            <a:endParaRPr lang="en-US" sz="1400" dirty="0"/>
          </a:p>
        </p:txBody>
      </p:sp>
      <p:sp>
        <p:nvSpPr>
          <p:cNvPr id="13" name="Text 6"/>
          <p:cNvSpPr/>
          <p:nvPr/>
        </p:nvSpPr>
        <p:spPr>
          <a:xfrm>
            <a:off x="1021556" y="3707662"/>
            <a:ext cx="3407569" cy="523348"/>
          </a:xfrm>
          <a:prstGeom prst="rect">
            <a:avLst/>
          </a:prstGeom>
          <a:noFill/>
          <a:ln/>
        </p:spPr>
        <p:txBody>
          <a:bodyPr wrap="square" lIns="0" tIns="0" rIns="0" bIns="0" rtlCol="0" anchor="t">
            <a:spAutoFit/>
          </a:bodyPr>
          <a:lstStyle/>
          <a:p>
            <a:pPr marL="0" indent="0" algn="l">
              <a:lnSpc>
                <a:spcPts val="1400"/>
              </a:lnSpc>
              <a:buNone/>
            </a:pPr>
            <a:r>
              <a:rPr lang="en-US" sz="1000" dirty="0">
                <a:solidFill>
                  <a:srgbClr val="4A5568"/>
                </a:solidFill>
                <a:latin typeface="Inter" pitchFamily="34" charset="0"/>
                <a:ea typeface="Inter" pitchFamily="34" charset="-122"/>
                <a:cs typeface="Inter" pitchFamily="34" charset="-120"/>
              </a:rPr>
              <a:t>Nghiên cứu tạo ra các biến tương tác mới dựa trên kiến thức y khoa lâm sàng và thực hiện </a:t>
            </a:r>
            <a:r>
              <a:rPr lang="en-US" sz="900" b="1" dirty="0">
                <a:solidFill>
                  <a:srgbClr val="3182CE"/>
                </a:solidFill>
                <a:latin typeface="Inter" pitchFamily="34" charset="0"/>
                <a:ea typeface="Inter" pitchFamily="34" charset="-122"/>
                <a:cs typeface="Inter" pitchFamily="34" charset="-120"/>
              </a:rPr>
              <a:t>Feature Selection</a:t>
            </a:r>
            <a:r>
              <a:rPr lang="en-US" sz="1000" dirty="0">
                <a:solidFill>
                  <a:srgbClr val="4A5568"/>
                </a:solidFill>
                <a:latin typeface="Inter" pitchFamily="34" charset="0"/>
                <a:ea typeface="Inter" pitchFamily="34" charset="-122"/>
                <a:cs typeface="Inter" pitchFamily="34" charset="-120"/>
              </a:rPr>
              <a:t> khắt khe để loại bỏ nhiễu.</a:t>
            </a:r>
            <a:endParaRPr lang="en-US" sz="1000" dirty="0"/>
          </a:p>
        </p:txBody>
      </p:sp>
      <p:pic>
        <p:nvPicPr>
          <p:cNvPr id="14" name="Image 4" descr="preencoded.png"/>
          <p:cNvPicPr>
            <a:picLocks noChangeAspect="1"/>
          </p:cNvPicPr>
          <p:nvPr/>
        </p:nvPicPr>
        <p:blipFill>
          <a:blip r:embed="rId7"/>
          <a:stretch>
            <a:fillRect/>
          </a:stretch>
        </p:blipFill>
        <p:spPr>
          <a:xfrm>
            <a:off x="4872038" y="3300413"/>
            <a:ext cx="200025" cy="228600"/>
          </a:xfrm>
          <a:prstGeom prst="rect">
            <a:avLst/>
          </a:prstGeom>
        </p:spPr>
      </p:pic>
      <p:sp>
        <p:nvSpPr>
          <p:cNvPr id="15" name="Text 7"/>
          <p:cNvSpPr/>
          <p:nvPr/>
        </p:nvSpPr>
        <p:spPr>
          <a:xfrm>
            <a:off x="5250656" y="3409410"/>
            <a:ext cx="2311530" cy="192360"/>
          </a:xfrm>
          <a:prstGeom prst="rect">
            <a:avLst/>
          </a:prstGeom>
          <a:noFill/>
          <a:ln/>
        </p:spPr>
        <p:txBody>
          <a:bodyPr wrap="none" lIns="0" tIns="0" rIns="0" bIns="0" rtlCol="0" anchor="t">
            <a:spAutoFit/>
          </a:bodyPr>
          <a:lstStyle/>
          <a:p>
            <a:pPr marL="0" indent="0" algn="l">
              <a:lnSpc>
                <a:spcPts val="1500"/>
              </a:lnSpc>
              <a:buNone/>
            </a:pPr>
            <a:r>
              <a:rPr lang="en-US" sz="1400" b="1" dirty="0">
                <a:solidFill>
                  <a:srgbClr val="1A365D"/>
                </a:solidFill>
                <a:latin typeface="Montserrat" pitchFamily="34" charset="0"/>
                <a:ea typeface="Montserrat" pitchFamily="34" charset="-122"/>
                <a:cs typeface="Montserrat" pitchFamily="34" charset="-120"/>
              </a:rPr>
              <a:t>Mở rộng kích thước mẫu</a:t>
            </a:r>
            <a:endParaRPr lang="en-US" sz="1400" dirty="0"/>
          </a:p>
        </p:txBody>
      </p:sp>
      <p:sp>
        <p:nvSpPr>
          <p:cNvPr id="16" name="Text 8"/>
          <p:cNvSpPr/>
          <p:nvPr/>
        </p:nvSpPr>
        <p:spPr>
          <a:xfrm>
            <a:off x="5250656" y="3707662"/>
            <a:ext cx="3464719" cy="524182"/>
          </a:xfrm>
          <a:prstGeom prst="rect">
            <a:avLst/>
          </a:prstGeom>
          <a:noFill/>
          <a:ln/>
        </p:spPr>
        <p:txBody>
          <a:bodyPr wrap="square" lIns="0" tIns="0" rIns="0" bIns="0" rtlCol="0" anchor="t">
            <a:spAutoFit/>
          </a:bodyPr>
          <a:lstStyle/>
          <a:p>
            <a:pPr marL="0" indent="0" algn="l">
              <a:lnSpc>
                <a:spcPts val="1400"/>
              </a:lnSpc>
              <a:buNone/>
            </a:pPr>
            <a:r>
              <a:rPr lang="en-US" sz="1000" dirty="0">
                <a:solidFill>
                  <a:srgbClr val="4A5568"/>
                </a:solidFill>
                <a:latin typeface="Inter" pitchFamily="34" charset="0"/>
                <a:ea typeface="Inter" pitchFamily="34" charset="-122"/>
                <a:cs typeface="Inter" pitchFamily="34" charset="-120"/>
              </a:rPr>
              <a:t>Thu thập thêm dữ liệu từ các nguồn thực tế để tăng khả năng tổng quát hóa của mô hình, tránh hiện tượng </a:t>
            </a:r>
            <a:r>
              <a:rPr lang="en-US" sz="900" b="1" dirty="0">
                <a:solidFill>
                  <a:srgbClr val="3182CE"/>
                </a:solidFill>
                <a:latin typeface="Inter" pitchFamily="34" charset="0"/>
                <a:ea typeface="Inter" pitchFamily="34" charset="-122"/>
                <a:cs typeface="Inter" pitchFamily="34" charset="-120"/>
              </a:rPr>
              <a:t>Overfitting</a:t>
            </a:r>
            <a:r>
              <a:rPr lang="en-US" sz="1000" dirty="0">
                <a:solidFill>
                  <a:srgbClr val="4A5568"/>
                </a:solidFill>
                <a:latin typeface="Inter" pitchFamily="34" charset="0"/>
                <a:ea typeface="Inter" pitchFamily="34" charset="-122"/>
                <a:cs typeface="Inter" pitchFamily="34" charset="-120"/>
              </a:rPr>
              <a:t> trên tập dữ liệu nhỏ hiện tại.</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2604790" y="961755"/>
            <a:ext cx="3934420" cy="487561"/>
          </a:xfrm>
          <a:prstGeom prst="rect">
            <a:avLst/>
          </a:prstGeom>
          <a:noFill/>
          <a:ln/>
        </p:spPr>
        <p:txBody>
          <a:bodyPr wrap="none" lIns="0" tIns="0" rIns="0" bIns="0" rtlCol="0" anchor="t">
            <a:spAutoFit/>
          </a:bodyPr>
          <a:lstStyle/>
          <a:p>
            <a:pPr marL="0" indent="0" algn="ctr">
              <a:lnSpc>
                <a:spcPts val="3800"/>
              </a:lnSpc>
              <a:buNone/>
            </a:pPr>
            <a:r>
              <a:rPr lang="en-US" sz="2862" b="1" kern="0" spc="2" dirty="0">
                <a:solidFill>
                  <a:srgbClr val="1A365D"/>
                </a:solidFill>
                <a:latin typeface="Montserrat" pitchFamily="34" charset="0"/>
                <a:ea typeface="Montserrat" pitchFamily="34" charset="-122"/>
                <a:cs typeface="Montserrat" pitchFamily="34" charset="-120"/>
              </a:rPr>
              <a:t>THANK YOU</a:t>
            </a:r>
            <a:endParaRPr lang="en-US" sz="2862" dirty="0"/>
          </a:p>
        </p:txBody>
      </p:sp>
      <p:sp>
        <p:nvSpPr>
          <p:cNvPr id="5" name="Text 1"/>
          <p:cNvSpPr/>
          <p:nvPr/>
        </p:nvSpPr>
        <p:spPr>
          <a:xfrm>
            <a:off x="2604790" y="1592191"/>
            <a:ext cx="3934420" cy="242888"/>
          </a:xfrm>
          <a:prstGeom prst="rect">
            <a:avLst/>
          </a:prstGeom>
          <a:noFill/>
          <a:ln/>
        </p:spPr>
        <p:txBody>
          <a:bodyPr wrap="none" lIns="0" tIns="0" rIns="0" bIns="0" rtlCol="0" anchor="t">
            <a:spAutoFit/>
          </a:bodyPr>
          <a:lstStyle/>
          <a:p>
            <a:pPr marL="0" indent="0" algn="ctr">
              <a:lnSpc>
                <a:spcPts val="1900"/>
              </a:lnSpc>
              <a:buNone/>
            </a:pPr>
            <a:r>
              <a:rPr lang="en-US" sz="1397" b="1" dirty="0">
                <a:solidFill>
                  <a:srgbClr val="3182CE"/>
                </a:solidFill>
                <a:latin typeface="Montserrat" pitchFamily="34" charset="0"/>
                <a:ea typeface="Montserrat" pitchFamily="34" charset="-122"/>
                <a:cs typeface="Montserrat" pitchFamily="34" charset="-120"/>
              </a:rPr>
              <a:t>Cảm ơn thầy và các bạn đã lắng nghe!</a:t>
            </a:r>
            <a:endParaRPr lang="en-US" sz="1397" dirty="0"/>
          </a:p>
        </p:txBody>
      </p:sp>
      <p:sp>
        <p:nvSpPr>
          <p:cNvPr id="6" name="Shape 2"/>
          <p:cNvSpPr/>
          <p:nvPr/>
        </p:nvSpPr>
        <p:spPr>
          <a:xfrm>
            <a:off x="1000125" y="2429712"/>
            <a:ext cx="7143750" cy="1752005"/>
          </a:xfrm>
          <a:prstGeom prst="rect">
            <a:avLst/>
          </a:prstGeom>
          <a:solidFill>
            <a:srgbClr val="FFFFFF"/>
          </a:solidFill>
          <a:ln/>
        </p:spPr>
      </p:sp>
      <p:sp>
        <p:nvSpPr>
          <p:cNvPr id="7" name="Shape 3"/>
          <p:cNvSpPr/>
          <p:nvPr/>
        </p:nvSpPr>
        <p:spPr>
          <a:xfrm>
            <a:off x="1000125" y="2429712"/>
            <a:ext cx="7143750" cy="28575"/>
          </a:xfrm>
          <a:prstGeom prst="rect">
            <a:avLst/>
          </a:prstGeom>
          <a:solidFill>
            <a:srgbClr val="3182CE"/>
          </a:solidFill>
          <a:ln/>
        </p:spPr>
      </p:sp>
      <p:pic>
        <p:nvPicPr>
          <p:cNvPr id="8" name="Image 1" descr="preencoded.png"/>
          <p:cNvPicPr>
            <a:picLocks noChangeAspect="1"/>
          </p:cNvPicPr>
          <p:nvPr/>
        </p:nvPicPr>
        <p:blipFill>
          <a:blip r:embed="rId4"/>
          <a:stretch>
            <a:fillRect/>
          </a:stretch>
        </p:blipFill>
        <p:spPr>
          <a:xfrm>
            <a:off x="1285875" y="2887805"/>
            <a:ext cx="125016" cy="142875"/>
          </a:xfrm>
          <a:prstGeom prst="rect">
            <a:avLst/>
          </a:prstGeom>
        </p:spPr>
      </p:pic>
      <p:sp>
        <p:nvSpPr>
          <p:cNvPr id="9" name="Text 4"/>
          <p:cNvSpPr/>
          <p:nvPr/>
        </p:nvSpPr>
        <p:spPr>
          <a:xfrm>
            <a:off x="1496616" y="2872625"/>
            <a:ext cx="1309654" cy="169662"/>
          </a:xfrm>
          <a:prstGeom prst="rect">
            <a:avLst/>
          </a:prstGeom>
          <a:noFill/>
          <a:ln/>
        </p:spPr>
        <p:txBody>
          <a:bodyPr wrap="none" lIns="0" tIns="0" rIns="0" bIns="0" rtlCol="0" anchor="t">
            <a:spAutoFit/>
          </a:bodyPr>
          <a:lstStyle/>
          <a:p>
            <a:pPr marL="0" indent="0" algn="l">
              <a:lnSpc>
                <a:spcPts val="1400"/>
              </a:lnSpc>
              <a:buNone/>
            </a:pPr>
            <a:r>
              <a:rPr lang="en-US" sz="1050" b="1" dirty="0">
                <a:solidFill>
                  <a:srgbClr val="1A365D"/>
                </a:solidFill>
                <a:latin typeface="Montserrat" pitchFamily="34" charset="0"/>
                <a:ea typeface="Montserrat" pitchFamily="34" charset="-122"/>
                <a:cs typeface="Montserrat" pitchFamily="34" charset="-120"/>
              </a:rPr>
              <a:t>Tài liệu tham khảo</a:t>
            </a:r>
            <a:endParaRPr lang="en-US" sz="1050" dirty="0"/>
          </a:p>
        </p:txBody>
      </p:sp>
      <p:pic>
        <p:nvPicPr>
          <p:cNvPr id="10" name="Image 2" descr="preencoded.png"/>
          <p:cNvPicPr>
            <a:picLocks noChangeAspect="1"/>
          </p:cNvPicPr>
          <p:nvPr/>
        </p:nvPicPr>
        <p:blipFill>
          <a:blip r:embed="rId5"/>
          <a:stretch>
            <a:fillRect/>
          </a:stretch>
        </p:blipFill>
        <p:spPr>
          <a:xfrm>
            <a:off x="1285875" y="3253029"/>
            <a:ext cx="53578" cy="85725"/>
          </a:xfrm>
          <a:prstGeom prst="rect">
            <a:avLst/>
          </a:prstGeom>
        </p:spPr>
      </p:pic>
      <p:sp>
        <p:nvSpPr>
          <p:cNvPr id="11" name="Text 5"/>
          <p:cNvSpPr/>
          <p:nvPr/>
        </p:nvSpPr>
        <p:spPr>
          <a:xfrm>
            <a:off x="1410891" y="3224454"/>
            <a:ext cx="2906245" cy="145040"/>
          </a:xfrm>
          <a:prstGeom prst="rect">
            <a:avLst/>
          </a:prstGeom>
          <a:noFill/>
          <a:ln/>
        </p:spPr>
        <p:txBody>
          <a:bodyPr wrap="none" lIns="0" tIns="0" rIns="0" bIns="0" rtlCol="0" anchor="t">
            <a:spAutoFit/>
          </a:bodyPr>
          <a:lstStyle/>
          <a:p>
            <a:pPr marL="0" indent="0" algn="l">
              <a:lnSpc>
                <a:spcPts val="1200"/>
              </a:lnSpc>
              <a:buNone/>
            </a:pPr>
            <a:r>
              <a:rPr lang="en-US" sz="900" dirty="0">
                <a:solidFill>
                  <a:srgbClr val="2D3748"/>
                </a:solidFill>
                <a:latin typeface="Inter" pitchFamily="34" charset="0"/>
                <a:ea typeface="Inter" pitchFamily="34" charset="-122"/>
                <a:cs typeface="Inter" pitchFamily="34" charset="-120"/>
              </a:rPr>
              <a:t>Scikit-learn Documentation: Random Forest &amp; Tuning</a:t>
            </a:r>
            <a:endParaRPr lang="en-US" sz="900" dirty="0"/>
          </a:p>
        </p:txBody>
      </p:sp>
      <p:pic>
        <p:nvPicPr>
          <p:cNvPr id="12" name="Image 3" descr="preencoded.png"/>
          <p:cNvPicPr>
            <a:picLocks noChangeAspect="1"/>
          </p:cNvPicPr>
          <p:nvPr/>
        </p:nvPicPr>
        <p:blipFill>
          <a:blip r:embed="rId5"/>
          <a:stretch>
            <a:fillRect/>
          </a:stretch>
        </p:blipFill>
        <p:spPr>
          <a:xfrm>
            <a:off x="1285875" y="3488773"/>
            <a:ext cx="53578" cy="85725"/>
          </a:xfrm>
          <a:prstGeom prst="rect">
            <a:avLst/>
          </a:prstGeom>
        </p:spPr>
      </p:pic>
      <p:sp>
        <p:nvSpPr>
          <p:cNvPr id="13" name="Text 6"/>
          <p:cNvSpPr/>
          <p:nvPr/>
        </p:nvSpPr>
        <p:spPr>
          <a:xfrm>
            <a:off x="1410891" y="3460198"/>
            <a:ext cx="1861087" cy="145874"/>
          </a:xfrm>
          <a:prstGeom prst="rect">
            <a:avLst/>
          </a:prstGeom>
          <a:noFill/>
          <a:ln/>
        </p:spPr>
        <p:txBody>
          <a:bodyPr wrap="none" lIns="0" tIns="0" rIns="0" bIns="0" rtlCol="0" anchor="t">
            <a:spAutoFit/>
          </a:bodyPr>
          <a:lstStyle/>
          <a:p>
            <a:pPr marL="0" indent="0" algn="l">
              <a:lnSpc>
                <a:spcPts val="1200"/>
              </a:lnSpc>
              <a:buNone/>
            </a:pPr>
            <a:r>
              <a:rPr lang="en-US" sz="900" dirty="0">
                <a:solidFill>
                  <a:srgbClr val="2D3748"/>
                </a:solidFill>
                <a:latin typeface="Inter" pitchFamily="34" charset="0"/>
                <a:ea typeface="Inter" pitchFamily="34" charset="-122"/>
                <a:cs typeface="Inter" pitchFamily="34" charset="-120"/>
              </a:rPr>
              <a:t>Kaggle: Pima Indians Diabetes Database</a:t>
            </a:r>
            <a:endParaRPr lang="en-US" sz="900" dirty="0"/>
          </a:p>
        </p:txBody>
      </p:sp>
      <p:pic>
        <p:nvPicPr>
          <p:cNvPr id="14" name="Image 4" descr="preencoded.png"/>
          <p:cNvPicPr>
            <a:picLocks noChangeAspect="1"/>
          </p:cNvPicPr>
          <p:nvPr/>
        </p:nvPicPr>
        <p:blipFill>
          <a:blip r:embed="rId5"/>
          <a:stretch>
            <a:fillRect/>
          </a:stretch>
        </p:blipFill>
        <p:spPr>
          <a:xfrm>
            <a:off x="1285875" y="3724517"/>
            <a:ext cx="53578" cy="85725"/>
          </a:xfrm>
          <a:prstGeom prst="rect">
            <a:avLst/>
          </a:prstGeom>
        </p:spPr>
      </p:pic>
      <p:sp>
        <p:nvSpPr>
          <p:cNvPr id="15" name="Text 7"/>
          <p:cNvSpPr/>
          <p:nvPr/>
        </p:nvSpPr>
        <p:spPr>
          <a:xfrm>
            <a:off x="1410891" y="3695942"/>
            <a:ext cx="2144818" cy="145874"/>
          </a:xfrm>
          <a:prstGeom prst="rect">
            <a:avLst/>
          </a:prstGeom>
          <a:noFill/>
          <a:ln/>
        </p:spPr>
        <p:txBody>
          <a:bodyPr wrap="none" lIns="0" tIns="0" rIns="0" bIns="0" rtlCol="0" anchor="t">
            <a:spAutoFit/>
          </a:bodyPr>
          <a:lstStyle/>
          <a:p>
            <a:pPr marL="0" indent="0" algn="l">
              <a:lnSpc>
                <a:spcPts val="1200"/>
              </a:lnSpc>
              <a:buNone/>
            </a:pPr>
            <a:r>
              <a:rPr lang="en-US" sz="900" dirty="0">
                <a:solidFill>
                  <a:srgbClr val="2D3748"/>
                </a:solidFill>
                <a:latin typeface="Inter" pitchFamily="34" charset="0"/>
                <a:ea typeface="Inter" pitchFamily="34" charset="-122"/>
                <a:cs typeface="Inter" pitchFamily="34" charset="-120"/>
              </a:rPr>
              <a:t>Giáo trình Cơ sở Trí tuệ nhân tạo - ĐH Sài Gòn</a:t>
            </a:r>
            <a:endParaRPr lang="en-US" sz="900" dirty="0"/>
          </a:p>
        </p:txBody>
      </p:sp>
      <p:pic>
        <p:nvPicPr>
          <p:cNvPr id="16" name="Image 5" descr="preencoded.png"/>
          <p:cNvPicPr>
            <a:picLocks noChangeAspect="1"/>
          </p:cNvPicPr>
          <p:nvPr/>
        </p:nvPicPr>
        <p:blipFill>
          <a:blip r:embed="rId5"/>
          <a:stretch>
            <a:fillRect/>
          </a:stretch>
        </p:blipFill>
        <p:spPr>
          <a:xfrm>
            <a:off x="1285875" y="3960261"/>
            <a:ext cx="53578" cy="85725"/>
          </a:xfrm>
          <a:prstGeom prst="rect">
            <a:avLst/>
          </a:prstGeom>
        </p:spPr>
      </p:pic>
      <p:sp>
        <p:nvSpPr>
          <p:cNvPr id="17" name="Text 8"/>
          <p:cNvSpPr/>
          <p:nvPr/>
        </p:nvSpPr>
        <p:spPr>
          <a:xfrm>
            <a:off x="1410891" y="3931686"/>
            <a:ext cx="2430152" cy="145874"/>
          </a:xfrm>
          <a:prstGeom prst="rect">
            <a:avLst/>
          </a:prstGeom>
          <a:noFill/>
          <a:ln/>
        </p:spPr>
        <p:txBody>
          <a:bodyPr wrap="none" lIns="0" tIns="0" rIns="0" bIns="0" rtlCol="0" anchor="t">
            <a:spAutoFit/>
          </a:bodyPr>
          <a:lstStyle/>
          <a:p>
            <a:pPr marL="0" indent="0" algn="l">
              <a:lnSpc>
                <a:spcPts val="1200"/>
              </a:lnSpc>
              <a:buNone/>
            </a:pPr>
            <a:r>
              <a:rPr lang="en-US" sz="900" dirty="0">
                <a:solidFill>
                  <a:srgbClr val="2D3748"/>
                </a:solidFill>
                <a:latin typeface="Inter" pitchFamily="34" charset="0"/>
                <a:ea typeface="Inter" pitchFamily="34" charset="-122"/>
                <a:cs typeface="Inter" pitchFamily="34" charset="-120"/>
              </a:rPr>
              <a:t>Aurélien Géron (2019): Hands-On Machine Learning</a:t>
            </a:r>
            <a:endParaRPr lang="en-US" sz="900" dirty="0"/>
          </a:p>
        </p:txBody>
      </p:sp>
      <p:pic>
        <p:nvPicPr>
          <p:cNvPr id="18" name="Image 6" descr="preencoded.png"/>
          <p:cNvPicPr>
            <a:picLocks noChangeAspect="1"/>
          </p:cNvPicPr>
          <p:nvPr/>
        </p:nvPicPr>
        <p:blipFill>
          <a:blip r:embed="rId6"/>
          <a:stretch>
            <a:fillRect/>
          </a:stretch>
        </p:blipFill>
        <p:spPr>
          <a:xfrm>
            <a:off x="4864894" y="2887805"/>
            <a:ext cx="178594" cy="142875"/>
          </a:xfrm>
          <a:prstGeom prst="rect">
            <a:avLst/>
          </a:prstGeom>
        </p:spPr>
      </p:pic>
      <p:sp>
        <p:nvSpPr>
          <p:cNvPr id="19" name="Text 9"/>
          <p:cNvSpPr/>
          <p:nvPr/>
        </p:nvSpPr>
        <p:spPr>
          <a:xfrm>
            <a:off x="5129213" y="2872625"/>
            <a:ext cx="1146148" cy="169662"/>
          </a:xfrm>
          <a:prstGeom prst="rect">
            <a:avLst/>
          </a:prstGeom>
          <a:noFill/>
          <a:ln/>
        </p:spPr>
        <p:txBody>
          <a:bodyPr wrap="none" lIns="0" tIns="0" rIns="0" bIns="0" rtlCol="0" anchor="t">
            <a:spAutoFit/>
          </a:bodyPr>
          <a:lstStyle/>
          <a:p>
            <a:pPr marL="0" indent="0" algn="l">
              <a:lnSpc>
                <a:spcPts val="1400"/>
              </a:lnSpc>
              <a:buNone/>
            </a:pPr>
            <a:r>
              <a:rPr lang="en-US" sz="1050" b="1" dirty="0">
                <a:solidFill>
                  <a:srgbClr val="1A365D"/>
                </a:solidFill>
                <a:latin typeface="Montserrat" pitchFamily="34" charset="0"/>
                <a:ea typeface="Montserrat" pitchFamily="34" charset="-122"/>
                <a:cs typeface="Montserrat" pitchFamily="34" charset="-120"/>
              </a:rPr>
              <a:t>Nhóm thực hiện</a:t>
            </a:r>
            <a:endParaRPr lang="en-US" sz="1050" dirty="0"/>
          </a:p>
        </p:txBody>
      </p:sp>
      <p:sp>
        <p:nvSpPr>
          <p:cNvPr id="20" name="Text 10"/>
          <p:cNvSpPr/>
          <p:nvPr/>
        </p:nvSpPr>
        <p:spPr>
          <a:xfrm>
            <a:off x="4864894" y="3224454"/>
            <a:ext cx="976229" cy="145874"/>
          </a:xfrm>
          <a:prstGeom prst="rect">
            <a:avLst/>
          </a:prstGeom>
          <a:noFill/>
          <a:ln/>
        </p:spPr>
        <p:txBody>
          <a:bodyPr wrap="none" lIns="0" tIns="0" rIns="0" bIns="0" rtlCol="0" anchor="t">
            <a:spAutoFit/>
          </a:bodyPr>
          <a:lstStyle/>
          <a:p>
            <a:pPr marL="0" indent="0" algn="l">
              <a:lnSpc>
                <a:spcPts val="1200"/>
              </a:lnSpc>
              <a:buNone/>
            </a:pPr>
            <a:r>
              <a:rPr lang="en-US" sz="900" dirty="0">
                <a:solidFill>
                  <a:srgbClr val="2D3748"/>
                </a:solidFill>
                <a:latin typeface="Inter" pitchFamily="34" charset="0"/>
                <a:ea typeface="Inter" pitchFamily="34" charset="-122"/>
                <a:cs typeface="Inter" pitchFamily="34" charset="-120"/>
              </a:rPr>
              <a:t>Cao Nguyễn Yên Hòa</a:t>
            </a:r>
            <a:endParaRPr lang="en-US" sz="900" dirty="0"/>
          </a:p>
        </p:txBody>
      </p:sp>
      <p:sp>
        <p:nvSpPr>
          <p:cNvPr id="21" name="Text 11"/>
          <p:cNvSpPr/>
          <p:nvPr/>
        </p:nvSpPr>
        <p:spPr>
          <a:xfrm>
            <a:off x="6397228" y="3224454"/>
            <a:ext cx="1126912" cy="145874"/>
          </a:xfrm>
          <a:prstGeom prst="rect">
            <a:avLst/>
          </a:prstGeom>
          <a:noFill/>
          <a:ln/>
        </p:spPr>
        <p:txBody>
          <a:bodyPr wrap="none" lIns="0" tIns="0" rIns="0" bIns="0" rtlCol="0" anchor="t">
            <a:spAutoFit/>
          </a:bodyPr>
          <a:lstStyle/>
          <a:p>
            <a:pPr marL="0" indent="0" algn="l">
              <a:lnSpc>
                <a:spcPts val="1200"/>
              </a:lnSpc>
              <a:buNone/>
            </a:pPr>
            <a:r>
              <a:rPr lang="en-US" sz="900" dirty="0">
                <a:solidFill>
                  <a:srgbClr val="2D3748"/>
                </a:solidFill>
                <a:latin typeface="Inter" pitchFamily="34" charset="0"/>
                <a:ea typeface="Inter" pitchFamily="34" charset="-122"/>
                <a:cs typeface="Inter" pitchFamily="34" charset="-120"/>
              </a:rPr>
              <a:t>Trần Nguyễn Đăng Khoa</a:t>
            </a:r>
            <a:endParaRPr lang="en-US" sz="900" dirty="0"/>
          </a:p>
        </p:txBody>
      </p:sp>
      <p:sp>
        <p:nvSpPr>
          <p:cNvPr id="22" name="Text 12"/>
          <p:cNvSpPr/>
          <p:nvPr/>
        </p:nvSpPr>
        <p:spPr>
          <a:xfrm>
            <a:off x="4864894" y="3531636"/>
            <a:ext cx="561051" cy="145874"/>
          </a:xfrm>
          <a:prstGeom prst="rect">
            <a:avLst/>
          </a:prstGeom>
          <a:noFill/>
          <a:ln/>
        </p:spPr>
        <p:txBody>
          <a:bodyPr wrap="none" lIns="0" tIns="0" rIns="0" bIns="0" rtlCol="0" anchor="t">
            <a:spAutoFit/>
          </a:bodyPr>
          <a:lstStyle/>
          <a:p>
            <a:pPr marL="0" indent="0" algn="l">
              <a:lnSpc>
                <a:spcPts val="1200"/>
              </a:lnSpc>
              <a:buNone/>
            </a:pPr>
            <a:r>
              <a:rPr lang="en-US" sz="900" dirty="0">
                <a:solidFill>
                  <a:srgbClr val="2D3748"/>
                </a:solidFill>
                <a:latin typeface="Inter" pitchFamily="34" charset="0"/>
                <a:ea typeface="Inter" pitchFamily="34" charset="-122"/>
                <a:cs typeface="Inter" pitchFamily="34" charset="-120"/>
              </a:rPr>
              <a:t>Lưu Gia Bảo</a:t>
            </a:r>
            <a:endParaRPr lang="en-US" sz="900" dirty="0"/>
          </a:p>
        </p:txBody>
      </p:sp>
      <p:sp>
        <p:nvSpPr>
          <p:cNvPr id="23" name="Text 13"/>
          <p:cNvSpPr/>
          <p:nvPr/>
        </p:nvSpPr>
        <p:spPr>
          <a:xfrm>
            <a:off x="6397228" y="3531636"/>
            <a:ext cx="599523" cy="145874"/>
          </a:xfrm>
          <a:prstGeom prst="rect">
            <a:avLst/>
          </a:prstGeom>
          <a:noFill/>
          <a:ln/>
        </p:spPr>
        <p:txBody>
          <a:bodyPr wrap="none" lIns="0" tIns="0" rIns="0" bIns="0" rtlCol="0" anchor="t">
            <a:spAutoFit/>
          </a:bodyPr>
          <a:lstStyle/>
          <a:p>
            <a:pPr marL="0" indent="0" algn="l">
              <a:lnSpc>
                <a:spcPts val="1200"/>
              </a:lnSpc>
              <a:buNone/>
            </a:pPr>
            <a:r>
              <a:rPr lang="en-US" sz="900" dirty="0">
                <a:solidFill>
                  <a:srgbClr val="2D3748"/>
                </a:solidFill>
                <a:latin typeface="Inter" pitchFamily="34" charset="0"/>
                <a:ea typeface="Inter" pitchFamily="34" charset="-122"/>
                <a:cs typeface="Inter" pitchFamily="34" charset="-120"/>
              </a:rPr>
              <a:t>Lâm Hán Đạt</a:t>
            </a:r>
            <a:endParaRPr lang="en-US" sz="900" dirty="0"/>
          </a:p>
        </p:txBody>
      </p:sp>
      <p:sp>
        <p:nvSpPr>
          <p:cNvPr id="24" name="Text 14"/>
          <p:cNvSpPr/>
          <p:nvPr/>
        </p:nvSpPr>
        <p:spPr>
          <a:xfrm>
            <a:off x="4864894" y="3838817"/>
            <a:ext cx="601127" cy="145874"/>
          </a:xfrm>
          <a:prstGeom prst="rect">
            <a:avLst/>
          </a:prstGeom>
          <a:noFill/>
          <a:ln/>
        </p:spPr>
        <p:txBody>
          <a:bodyPr wrap="none" lIns="0" tIns="0" rIns="0" bIns="0" rtlCol="0" anchor="t">
            <a:spAutoFit/>
          </a:bodyPr>
          <a:lstStyle/>
          <a:p>
            <a:pPr marL="0" indent="0" algn="l">
              <a:lnSpc>
                <a:spcPts val="1200"/>
              </a:lnSpc>
              <a:buNone/>
            </a:pPr>
            <a:r>
              <a:rPr lang="en-US" sz="900" dirty="0">
                <a:solidFill>
                  <a:srgbClr val="2D3748"/>
                </a:solidFill>
                <a:latin typeface="Inter" pitchFamily="34" charset="0"/>
                <a:ea typeface="Inter" pitchFamily="34" charset="-122"/>
                <a:cs typeface="Inter" pitchFamily="34" charset="-120"/>
              </a:rPr>
              <a:t>Hồ Trung Tín</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2510</Words>
  <Application>Microsoft Office PowerPoint</Application>
  <PresentationFormat>On-screen Show (16:9)</PresentationFormat>
  <Paragraphs>168</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Inter</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soundless1200@gmail.com</cp:lastModifiedBy>
  <cp:revision>3</cp:revision>
  <dcterms:created xsi:type="dcterms:W3CDTF">2026-04-04T13:09:34Z</dcterms:created>
  <dcterms:modified xsi:type="dcterms:W3CDTF">2026-04-04T13:19:43Z</dcterms:modified>
</cp:coreProperties>
</file>