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8" r:id="rId6"/>
    <p:sldId id="272" r:id="rId7"/>
    <p:sldId id="273" r:id="rId8"/>
    <p:sldId id="275" r:id="rId9"/>
    <p:sldId id="274" r:id="rId10"/>
    <p:sldId id="279" r:id="rId11"/>
    <p:sldId id="280" r:id="rId12"/>
    <p:sldId id="281" r:id="rId13"/>
    <p:sldId id="283" r:id="rId14"/>
    <p:sldId id="284" r:id="rId15"/>
    <p:sldId id="285" r:id="rId16"/>
    <p:sldId id="286" r:id="rId17"/>
    <p:sldId id="303" r:id="rId18"/>
    <p:sldId id="334" r:id="rId19"/>
    <p:sldId id="302" r:id="rId20"/>
    <p:sldId id="307" r:id="rId21"/>
    <p:sldId id="301" r:id="rId22"/>
    <p:sldId id="312" r:id="rId23"/>
    <p:sldId id="314" r:id="rId24"/>
    <p:sldId id="300" r:id="rId25"/>
    <p:sldId id="299" r:id="rId26"/>
    <p:sldId id="298" r:id="rId27"/>
    <p:sldId id="297" r:id="rId28"/>
    <p:sldId id="296" r:id="rId29"/>
    <p:sldId id="294" r:id="rId30"/>
    <p:sldId id="293" r:id="rId31"/>
    <p:sldId id="289" r:id="rId32"/>
    <p:sldId id="292" r:id="rId33"/>
    <p:sldId id="291" r:id="rId34"/>
    <p:sldId id="317" r:id="rId35"/>
    <p:sldId id="319" r:id="rId36"/>
    <p:sldId id="320" r:id="rId37"/>
    <p:sldId id="321" r:id="rId38"/>
    <p:sldId id="327" r:id="rId39"/>
    <p:sldId id="325" r:id="rId40"/>
    <p:sldId id="328" r:id="rId41"/>
    <p:sldId id="329" r:id="rId42"/>
    <p:sldId id="331" r:id="rId43"/>
    <p:sldId id="265" r:id="rId44"/>
  </p:sldIdLst>
  <p:sldSz cx="18288000" cy="10287000"/>
  <p:notesSz cx="6858000" cy="9144000"/>
  <p:embeddedFontLst>
    <p:embeddedFont>
      <p:font typeface="Calibri" panose="020F0502020204030204" pitchFamily="34" charset="0"/>
      <p:regular r:id="rId45"/>
      <p:bold r:id="rId46"/>
      <p:italic r:id="rId47"/>
      <p:boldItalic r:id="rId48"/>
    </p:embeddedFont>
    <p:embeddedFont>
      <p:font typeface="Montserrat" panose="00000500000000000000" pitchFamily="2" charset="0"/>
      <p:regular r:id="rId49"/>
      <p:bold r:id="rId50"/>
      <p:italic r:id="rId51"/>
      <p:boldItalic r:id="rId5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32"/>
    <a:srgbClr val="DADEDE"/>
    <a:srgbClr val="E5E8E9"/>
    <a:srgbClr val="6161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15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3.fntdata"/><Relationship Id="rId50" Type="http://schemas.openxmlformats.org/officeDocument/2006/relationships/font" Target="fonts/font6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1.fntdata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4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7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2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24614" y="6515100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1924574" y="-357188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16200000">
            <a:off x="318289" y="-305932"/>
            <a:ext cx="2892950" cy="3529526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81" t="-47698" r="-105808" b="-21231"/>
            </a:stretch>
          </a:blipFill>
        </p:spPr>
      </p:sp>
      <p:sp>
        <p:nvSpPr>
          <p:cNvPr id="5" name="Freeform 5"/>
          <p:cNvSpPr/>
          <p:nvPr/>
        </p:nvSpPr>
        <p:spPr>
          <a:xfrm rot="-5002168" flipH="1" flipV="1">
            <a:off x="15155916" y="7318426"/>
            <a:ext cx="2120060" cy="4049489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 l="-41090" t="-46999" r="-141267" b="-112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7488824">
            <a:off x="-82061" y="7655075"/>
            <a:ext cx="2071325" cy="4230154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37214" r="-48264"/>
            </a:stretch>
          </a:blipFill>
        </p:spPr>
      </p:sp>
      <p:sp>
        <p:nvSpPr>
          <p:cNvPr id="7" name="Freeform 7"/>
          <p:cNvSpPr/>
          <p:nvPr/>
        </p:nvSpPr>
        <p:spPr>
          <a:xfrm rot="7488824">
            <a:off x="16742218" y="-1019110"/>
            <a:ext cx="2252926" cy="3916898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36312" t="-43108" r="-1" b="-508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3779225" y="2755957"/>
            <a:ext cx="10729547" cy="21997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943"/>
              </a:lnSpc>
            </a:pPr>
            <a:r>
              <a:rPr lang="vi-VN" sz="6388" b="1" dirty="0">
                <a:solidFill>
                  <a:srgbClr val="0C3571"/>
                </a:solidFill>
                <a:latin typeface="Montserrat" panose="00000500000000000000" pitchFamily="2" charset="0"/>
                <a:ea typeface="Anantason Bold"/>
                <a:cs typeface="Anantason Bold"/>
                <a:sym typeface="Anantason Bold"/>
              </a:rPr>
              <a:t>DỰ </a:t>
            </a:r>
            <a:r>
              <a:rPr lang="en-US" sz="6388" b="1" dirty="0">
                <a:solidFill>
                  <a:srgbClr val="0C3571"/>
                </a:solidFill>
                <a:latin typeface="Montserrat" panose="00000500000000000000" pitchFamily="2" charset="0"/>
                <a:ea typeface="Anantason Bold"/>
                <a:cs typeface="Anantason Bold"/>
                <a:sym typeface="Anantason Bold"/>
              </a:rPr>
              <a:t>ĐOÁN BỆNH ĐÁI THÁO ĐƯỜNG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857498" y="5331275"/>
            <a:ext cx="12573000" cy="8900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222"/>
              </a:lnSpc>
            </a:pPr>
            <a:r>
              <a:rPr lang="vi-VN" sz="3200" dirty="0">
                <a:solidFill>
                  <a:schemeClr val="tx2"/>
                </a:solidFill>
                <a:latin typeface="Montserrat" panose="00000500000000000000" pitchFamily="2" charset="0"/>
              </a:rPr>
              <a:t>Nhóm sinh viên thực hiện:</a:t>
            </a:r>
            <a:endParaRPr lang="en-US" sz="3200" dirty="0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86F8CAB-50F5-4714-8ACA-409A004E1192}"/>
              </a:ext>
            </a:extLst>
          </p:cNvPr>
          <p:cNvCxnSpPr/>
          <p:nvPr/>
        </p:nvCxnSpPr>
        <p:spPr>
          <a:xfrm>
            <a:off x="5067298" y="5331275"/>
            <a:ext cx="8153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5">
            <a:extLst>
              <a:ext uri="{FF2B5EF4-FFF2-40B4-BE49-F238E27FC236}">
                <a16:creationId xmlns:a16="http://schemas.microsoft.com/office/drawing/2014/main" id="{CDE18EAE-2E31-6AAE-A2C2-CC7F829B9688}"/>
              </a:ext>
            </a:extLst>
          </p:cNvPr>
          <p:cNvSpPr/>
          <p:nvPr/>
        </p:nvSpPr>
        <p:spPr>
          <a:xfrm>
            <a:off x="6704572" y="6592706"/>
            <a:ext cx="5413528" cy="19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32"/>
                </a:solidFill>
                <a:effectLst/>
                <a:uLnTx/>
                <a:uFillTx/>
                <a:latin typeface="Montserrat" panose="00000500000000000000" pitchFamily="2" charset="0"/>
                <a:ea typeface="Inter" pitchFamily="34" charset="-122"/>
                <a:cs typeface="Inter" pitchFamily="34" charset="-120"/>
              </a:rPr>
              <a:t>Cao Nguyễn Yên Hòa - 3124410101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32"/>
              </a:solidFill>
              <a:effectLst/>
              <a:uLnTx/>
              <a:uFillTx/>
              <a:latin typeface="Montserrat" panose="00000500000000000000" pitchFamily="2" charset="0"/>
            </a:endParaRPr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895546FB-685F-CCB2-982C-C447835BE7F3}"/>
              </a:ext>
            </a:extLst>
          </p:cNvPr>
          <p:cNvSpPr/>
          <p:nvPr/>
        </p:nvSpPr>
        <p:spPr>
          <a:xfrm>
            <a:off x="6434864" y="8753128"/>
            <a:ext cx="5952945" cy="191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32"/>
                </a:solidFill>
                <a:effectLst/>
                <a:uLnTx/>
                <a:uFillTx/>
                <a:latin typeface="Montserrat" panose="00000500000000000000" pitchFamily="2" charset="0"/>
                <a:ea typeface="Inter" pitchFamily="34" charset="-122"/>
                <a:cs typeface="Inter" pitchFamily="34" charset="-120"/>
              </a:rPr>
              <a:t>Trần Nguyễn Đăng Khoa - 3124560042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32"/>
              </a:solidFill>
              <a:effectLst/>
              <a:uLnTx/>
              <a:uFillTx/>
              <a:latin typeface="Montserrat" panose="00000500000000000000" pitchFamily="2" charset="0"/>
            </a:endParaRPr>
          </a:p>
        </p:txBody>
      </p:sp>
      <p:sp>
        <p:nvSpPr>
          <p:cNvPr id="24" name="Text 7">
            <a:extLst>
              <a:ext uri="{FF2B5EF4-FFF2-40B4-BE49-F238E27FC236}">
                <a16:creationId xmlns:a16="http://schemas.microsoft.com/office/drawing/2014/main" id="{1F92EFAF-0608-3F73-F1FC-356B5118C90D}"/>
              </a:ext>
            </a:extLst>
          </p:cNvPr>
          <p:cNvSpPr/>
          <p:nvPr/>
        </p:nvSpPr>
        <p:spPr>
          <a:xfrm>
            <a:off x="7201536" y="8203189"/>
            <a:ext cx="4419600" cy="19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32"/>
                </a:solidFill>
                <a:effectLst/>
                <a:uLnTx/>
                <a:uFillTx/>
                <a:latin typeface="Montserrat" panose="00000500000000000000" pitchFamily="2" charset="0"/>
                <a:ea typeface="Inter" pitchFamily="34" charset="-122"/>
                <a:cs typeface="Inter" pitchFamily="34" charset="-120"/>
              </a:rPr>
              <a:t>Lưu Gia Bảo - 3124410016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32"/>
              </a:solidFill>
              <a:effectLst/>
              <a:uLnTx/>
              <a:uFillTx/>
              <a:latin typeface="Montserrat" panose="00000500000000000000" pitchFamily="2" charset="0"/>
            </a:endParaRPr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446C6E90-9F0E-BFF5-057F-B24F504AE904}"/>
              </a:ext>
            </a:extLst>
          </p:cNvPr>
          <p:cNvSpPr/>
          <p:nvPr/>
        </p:nvSpPr>
        <p:spPr>
          <a:xfrm>
            <a:off x="7097410" y="7633139"/>
            <a:ext cx="4343401" cy="19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32"/>
                </a:solidFill>
                <a:effectLst/>
                <a:uLnTx/>
                <a:uFillTx/>
                <a:latin typeface="Montserrat" panose="00000500000000000000" pitchFamily="2" charset="0"/>
                <a:ea typeface="Inter" pitchFamily="34" charset="-122"/>
                <a:cs typeface="Inter" pitchFamily="34" charset="-120"/>
              </a:rPr>
              <a:t>Lâm Hán Đạt - 3124410055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32"/>
              </a:solidFill>
              <a:effectLst/>
              <a:uLnTx/>
              <a:uFillTx/>
              <a:latin typeface="Montserrat" panose="00000500000000000000" pitchFamily="2" charset="0"/>
            </a:endParaRPr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66A1E47C-1F74-6C17-81B7-E5EC8A5CB723}"/>
              </a:ext>
            </a:extLst>
          </p:cNvPr>
          <p:cNvSpPr/>
          <p:nvPr/>
        </p:nvSpPr>
        <p:spPr>
          <a:xfrm>
            <a:off x="7135510" y="7137451"/>
            <a:ext cx="4016976" cy="1966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32"/>
                </a:solidFill>
                <a:effectLst/>
                <a:uLnTx/>
                <a:uFillTx/>
                <a:latin typeface="Montserrat" panose="00000500000000000000" pitchFamily="2" charset="0"/>
                <a:ea typeface="Inter" pitchFamily="34" charset="-122"/>
                <a:cs typeface="Inter" pitchFamily="34" charset="-120"/>
              </a:rPr>
              <a:t>Hồ Trung Tín - 3124410355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32"/>
              </a:solidFill>
              <a:effectLst/>
              <a:uLnTx/>
              <a:uFillTx/>
              <a:latin typeface="Montserrat" panose="00000500000000000000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0" y="0"/>
            <a:ext cx="10009291" cy="1478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446"/>
              </a:lnSpc>
            </a:pPr>
            <a:r>
              <a:rPr lang="en-US" sz="5400" b="1" err="1">
                <a:solidFill>
                  <a:srgbClr val="0C3571"/>
                </a:solidFill>
                <a:latin typeface="Montserrat" panose="00000500000000000000" pitchFamily="2" charset="0"/>
                <a:ea typeface="Anantason Bold"/>
                <a:cs typeface="Anantason Bold"/>
                <a:sym typeface="Anantason Bold"/>
              </a:rPr>
              <a:t>Tổng</a:t>
            </a:r>
            <a:r>
              <a:rPr lang="en-US" sz="5400" b="1">
                <a:solidFill>
                  <a:srgbClr val="0C3571"/>
                </a:solidFill>
                <a:latin typeface="Montserrat" panose="00000500000000000000" pitchFamily="2" charset="0"/>
                <a:ea typeface="Anantason Bold"/>
                <a:cs typeface="Anantason Bold"/>
                <a:sym typeface="Anantason Bold"/>
              </a:rPr>
              <a:t> </a:t>
            </a:r>
            <a:r>
              <a:rPr lang="en-US" sz="5400" b="1" err="1">
                <a:solidFill>
                  <a:srgbClr val="0C3571"/>
                </a:solidFill>
                <a:latin typeface="Montserrat" panose="00000500000000000000" pitchFamily="2" charset="0"/>
                <a:ea typeface="Anantason Bold"/>
                <a:cs typeface="Anantason Bold"/>
                <a:sym typeface="Anantason Bold"/>
              </a:rPr>
              <a:t>quan</a:t>
            </a:r>
            <a:r>
              <a:rPr lang="en-US" sz="5400" b="1">
                <a:solidFill>
                  <a:srgbClr val="0C3571"/>
                </a:solidFill>
                <a:latin typeface="Montserrat" panose="00000500000000000000" pitchFamily="2" charset="0"/>
                <a:ea typeface="Anantason Bold"/>
                <a:cs typeface="Anantason Bold"/>
                <a:sym typeface="Anantason Bold"/>
              </a:rPr>
              <a:t> </a:t>
            </a:r>
            <a:r>
              <a:rPr lang="en-US" sz="5400" b="1" err="1">
                <a:solidFill>
                  <a:srgbClr val="0C3571"/>
                </a:solidFill>
                <a:latin typeface="Montserrat" panose="00000500000000000000" pitchFamily="2" charset="0"/>
                <a:ea typeface="Anantason Bold"/>
                <a:cs typeface="Anantason Bold"/>
                <a:sym typeface="Anantason Bold"/>
              </a:rPr>
              <a:t>về</a:t>
            </a:r>
            <a:r>
              <a:rPr lang="en-US" sz="5400" b="1">
                <a:solidFill>
                  <a:srgbClr val="0C3571"/>
                </a:solidFill>
                <a:latin typeface="Montserrat" panose="00000500000000000000" pitchFamily="2" charset="0"/>
                <a:ea typeface="Anantason Bold"/>
                <a:cs typeface="Anantason Bold"/>
                <a:sym typeface="Anantason Bold"/>
              </a:rPr>
              <a:t> </a:t>
            </a:r>
            <a:r>
              <a:rPr lang="en-US" sz="5400" b="1" err="1">
                <a:solidFill>
                  <a:srgbClr val="0C3571"/>
                </a:solidFill>
                <a:latin typeface="Montserrat" panose="00000500000000000000" pitchFamily="2" charset="0"/>
                <a:ea typeface="Anantason Bold"/>
                <a:cs typeface="Anantason Bold"/>
                <a:sym typeface="Anantason Bold"/>
              </a:rPr>
              <a:t>bài</a:t>
            </a:r>
            <a:r>
              <a:rPr lang="en-US" sz="5400" b="1">
                <a:solidFill>
                  <a:srgbClr val="0C3571"/>
                </a:solidFill>
                <a:latin typeface="Montserrat" panose="00000500000000000000" pitchFamily="2" charset="0"/>
                <a:ea typeface="Anantason Bold"/>
                <a:cs typeface="Anantason Bold"/>
                <a:sym typeface="Anantason Bold"/>
              </a:rPr>
              <a:t> </a:t>
            </a:r>
            <a:r>
              <a:rPr lang="en-US" sz="5400" b="1" err="1">
                <a:solidFill>
                  <a:srgbClr val="0C3571"/>
                </a:solidFill>
                <a:latin typeface="Montserrat" panose="00000500000000000000" pitchFamily="2" charset="0"/>
                <a:ea typeface="Anantason Bold"/>
                <a:cs typeface="Anantason Bold"/>
                <a:sym typeface="Anantason Bold"/>
              </a:rPr>
              <a:t>toán</a:t>
            </a:r>
            <a:endParaRPr lang="en-US" sz="5400" b="1">
              <a:solidFill>
                <a:srgbClr val="0C3571"/>
              </a:solidFill>
              <a:latin typeface="Montserrat" panose="00000500000000000000" pitchFamily="2" charset="0"/>
              <a:ea typeface="Anantason Bold"/>
              <a:cs typeface="Anantason Bold"/>
              <a:sym typeface="Anantason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571503" y="1478931"/>
            <a:ext cx="17144994" cy="85525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1" algn="just">
              <a:lnSpc>
                <a:spcPts val="4759"/>
              </a:lnSpc>
            </a:pPr>
            <a:r>
              <a:rPr lang="en-US" sz="2800" b="1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Bệnh</a:t>
            </a:r>
            <a:r>
              <a:rPr lang="en-US" sz="2800" b="1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b="1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đái</a:t>
            </a:r>
            <a:r>
              <a:rPr lang="en-US" sz="2800" b="1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b="1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tháo</a:t>
            </a:r>
            <a:r>
              <a:rPr lang="en-US" sz="2800" b="1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b="1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đường</a:t>
            </a:r>
            <a:r>
              <a:rPr lang="en-US" sz="2800" b="1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b="1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là</a:t>
            </a:r>
            <a:r>
              <a:rPr lang="en-US" sz="2800" b="1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b="1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gì</a:t>
            </a:r>
            <a:r>
              <a:rPr lang="en-US" sz="2800" b="1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?</a:t>
            </a:r>
          </a:p>
          <a:p>
            <a:pPr lvl="2" algn="just">
              <a:lnSpc>
                <a:spcPts val="4759"/>
              </a:lnSpc>
            </a:pP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Là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một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rối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loạn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chuyển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hóa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mãn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tính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có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đặc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trưng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là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tình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trạng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tăng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đường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huyết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(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hyperglycaemia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).</a:t>
            </a:r>
          </a:p>
          <a:p>
            <a:pPr lvl="2" algn="just">
              <a:lnSpc>
                <a:spcPts val="4759"/>
              </a:lnSpc>
            </a:pP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Nguyên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nhân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do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khiếm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khuyết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trong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tiết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insulin,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tác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động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của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insulin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hoặc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cả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hai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.</a:t>
            </a:r>
          </a:p>
          <a:p>
            <a:pPr lvl="1" algn="just">
              <a:lnSpc>
                <a:spcPts val="4759"/>
              </a:lnSpc>
            </a:pPr>
            <a:r>
              <a:rPr lang="en-US" sz="2800" b="1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Mức</a:t>
            </a:r>
            <a:r>
              <a:rPr lang="en-US" sz="2800" b="1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b="1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độ</a:t>
            </a:r>
            <a:r>
              <a:rPr lang="en-US" sz="2800" b="1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b="1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phổ</a:t>
            </a:r>
            <a:r>
              <a:rPr lang="en-US" sz="2800" b="1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b="1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biến</a:t>
            </a:r>
            <a:endParaRPr lang="en-US" sz="2800" b="1" dirty="0">
              <a:solidFill>
                <a:srgbClr val="0C3571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lvl="2" algn="just">
              <a:lnSpc>
                <a:spcPts val="4759"/>
              </a:lnSpc>
            </a:pP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Tỷ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lệ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mắc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bệnh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đang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gia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tăng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nhanh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chóng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trên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toàn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cầu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,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đặc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biệt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là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ở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các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quần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thể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có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nguy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cơ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cao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.</a:t>
            </a:r>
          </a:p>
          <a:p>
            <a:pPr lvl="2" algn="just">
              <a:lnSpc>
                <a:spcPts val="4759"/>
              </a:lnSpc>
            </a:pP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Bệnh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thường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diễn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biến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âm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thầm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,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nhiều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bệnh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nhân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không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có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triệu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chứng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rõ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rệt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ở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giai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đoạn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đầu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.</a:t>
            </a:r>
          </a:p>
          <a:p>
            <a:pPr lvl="1" algn="just">
              <a:lnSpc>
                <a:spcPts val="4759"/>
              </a:lnSpc>
            </a:pPr>
            <a:r>
              <a:rPr lang="en-US" sz="2800" b="1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Bộ</a:t>
            </a:r>
            <a:r>
              <a:rPr lang="en-US" sz="2800" b="1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b="1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dữ</a:t>
            </a:r>
            <a:r>
              <a:rPr lang="en-US" sz="2800" b="1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b="1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liệu</a:t>
            </a:r>
            <a:r>
              <a:rPr lang="en-US" sz="2800" b="1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Pima Indians Diabetes</a:t>
            </a:r>
          </a:p>
          <a:p>
            <a:pPr lvl="2" algn="just">
              <a:lnSpc>
                <a:spcPts val="4759"/>
              </a:lnSpc>
            </a:pP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Là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một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trong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những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cơ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sở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dữ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liệu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kinh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điển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và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phổ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biến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nhất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trong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lĩnh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vực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Học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máy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 (Machine Learning)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và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Trí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tuệ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nhân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tạo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(AI),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đặc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biệt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là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trong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các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bài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toán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dự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báo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y khoa.</a:t>
            </a:r>
          </a:p>
          <a:p>
            <a:pPr lvl="2" algn="just">
              <a:lnSpc>
                <a:spcPts val="4759"/>
              </a:lnSpc>
            </a:pP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Gồm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các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dữ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liệu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được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thu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thập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từ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quần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thể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người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Mỹ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bản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địa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Pima Indians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sống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ở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Mỹ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,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với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các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thông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tin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như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glucose,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huyết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áp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, BMI,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tuổi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,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số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lần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mang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</a:t>
            </a:r>
            <a:r>
              <a:rPr lang="en-US" sz="2800" dirty="0" err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thai</a:t>
            </a:r>
            <a:r>
              <a:rPr lang="en-US" sz="2800" dirty="0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,..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/>
          <p:cNvSpPr txBox="1"/>
          <p:nvPr/>
        </p:nvSpPr>
        <p:spPr>
          <a:xfrm>
            <a:off x="1248907" y="2594597"/>
            <a:ext cx="15819494" cy="509780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t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chemeClr val="tx2"/>
                </a:solidFill>
                <a:latin typeface="Montserrat" panose="00000500000000000000" pitchFamily="2" charset="0"/>
              </a:rPr>
              <a:t>    Ngăn ngừa biến chứng:</a:t>
            </a:r>
            <a:endParaRPr lang="en-US" altLang="en-US" sz="2800">
              <a:solidFill>
                <a:schemeClr val="tx2"/>
              </a:solidFill>
              <a:latin typeface="Montserrat" panose="00000500000000000000" pitchFamily="2" charset="0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>
                <a:solidFill>
                  <a:schemeClr val="tx2"/>
                </a:solidFill>
                <a:latin typeface="Montserrat" panose="00000500000000000000" pitchFamily="2" charset="0"/>
              </a:rPr>
              <a:t>Phát hiện sớm giúp giảm nguy cơ tổn thương võng mạc (gây mù lòa), thận (suy thận) và thần kinh.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>
                <a:solidFill>
                  <a:schemeClr val="tx2"/>
                </a:solidFill>
                <a:latin typeface="Montserrat" panose="00000500000000000000" pitchFamily="2" charset="0"/>
              </a:rPr>
              <a:t>Giảm thiểu các bệnh lý về tim mạch và mạch máu ngoại biên.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chemeClr val="tx2"/>
                </a:solidFill>
                <a:latin typeface="Montserrat" panose="00000500000000000000" pitchFamily="2" charset="0"/>
              </a:rPr>
              <a:t>     Giá trị đối với y tế:</a:t>
            </a:r>
            <a:endParaRPr lang="en-US" altLang="en-US" sz="2800">
              <a:solidFill>
                <a:schemeClr val="tx2"/>
              </a:solidFill>
              <a:latin typeface="Montserrat" panose="00000500000000000000" pitchFamily="2" charset="0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>
                <a:solidFill>
                  <a:schemeClr val="tx2"/>
                </a:solidFill>
                <a:latin typeface="Montserrat" panose="00000500000000000000" pitchFamily="2" charset="0"/>
              </a:rPr>
              <a:t>Giúp triển khai các chiến lược phòng ngừa sớm, thay đổi lối sống để đảo ngược tình trạng rối loạn dung nạp glucose (IGT).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>
                <a:solidFill>
                  <a:schemeClr val="tx2"/>
                </a:solidFill>
                <a:latin typeface="Montserrat" panose="00000500000000000000" pitchFamily="2" charset="0"/>
              </a:rPr>
              <a:t>Giảm gánh nặng chi phí điều trị lâu dài cho xã hội.</a:t>
            </a: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D77CF966-607A-38D4-A1CF-3BF71D3A159C}"/>
              </a:ext>
            </a:extLst>
          </p:cNvPr>
          <p:cNvSpPr txBox="1"/>
          <p:nvPr/>
        </p:nvSpPr>
        <p:spPr>
          <a:xfrm>
            <a:off x="0" y="0"/>
            <a:ext cx="18317308" cy="14789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446"/>
              </a:lnSpc>
            </a:pPr>
            <a:r>
              <a:rPr lang="en-US" sz="5400" b="1">
                <a:solidFill>
                  <a:srgbClr val="0C3571"/>
                </a:solidFill>
                <a:latin typeface="Montserrat" panose="00000500000000000000" pitchFamily="2" charset="0"/>
                <a:ea typeface="Anantason Bold"/>
                <a:cs typeface="Anantason Bold"/>
                <a:sym typeface="Anantason Bold"/>
              </a:rPr>
              <a:t>Tầm quan trọng của việc phát hiện bệnh sớm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/>
          <p:cNvSpPr txBox="1"/>
          <p:nvPr/>
        </p:nvSpPr>
        <p:spPr>
          <a:xfrm>
            <a:off x="0" y="0"/>
            <a:ext cx="9448800" cy="14789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446"/>
              </a:lnSpc>
            </a:pPr>
            <a:r>
              <a:rPr lang="en-US" sz="5400" b="1" err="1">
                <a:solidFill>
                  <a:srgbClr val="0C3571"/>
                </a:solidFill>
                <a:latin typeface="Montserrat" panose="00000500000000000000" pitchFamily="2" charset="0"/>
                <a:ea typeface="Anantason Bold"/>
                <a:cs typeface="Anantason Bold"/>
                <a:sym typeface="Anantason Bold"/>
              </a:rPr>
              <a:t>Mục</a:t>
            </a:r>
            <a:r>
              <a:rPr lang="en-US" sz="5400" b="1">
                <a:solidFill>
                  <a:srgbClr val="0C3571"/>
                </a:solidFill>
                <a:latin typeface="Montserrat" panose="00000500000000000000" pitchFamily="2" charset="0"/>
                <a:ea typeface="Anantason Bold"/>
                <a:cs typeface="Anantason Bold"/>
                <a:sym typeface="Anantason Bold"/>
              </a:rPr>
              <a:t> </a:t>
            </a:r>
            <a:r>
              <a:rPr lang="en-US" sz="5400" b="1" err="1">
                <a:solidFill>
                  <a:srgbClr val="0C3571"/>
                </a:solidFill>
                <a:latin typeface="Montserrat" panose="00000500000000000000" pitchFamily="2" charset="0"/>
                <a:ea typeface="Anantason Bold"/>
                <a:cs typeface="Anantason Bold"/>
                <a:sym typeface="Anantason Bold"/>
              </a:rPr>
              <a:t>tiêu</a:t>
            </a:r>
            <a:r>
              <a:rPr lang="en-US" sz="5400" b="1">
                <a:solidFill>
                  <a:srgbClr val="0C3571"/>
                </a:solidFill>
                <a:latin typeface="Montserrat" panose="00000500000000000000" pitchFamily="2" charset="0"/>
                <a:ea typeface="Anantason Bold"/>
                <a:cs typeface="Anantason Bold"/>
                <a:sym typeface="Anantason Bold"/>
              </a:rPr>
              <a:t> </a:t>
            </a:r>
            <a:r>
              <a:rPr lang="en-US" sz="5400" b="1" err="1">
                <a:solidFill>
                  <a:srgbClr val="0C3571"/>
                </a:solidFill>
                <a:latin typeface="Montserrat" panose="00000500000000000000" pitchFamily="2" charset="0"/>
                <a:ea typeface="Anantason Bold"/>
                <a:cs typeface="Anantason Bold"/>
                <a:sym typeface="Anantason Bold"/>
              </a:rPr>
              <a:t>nghiên</a:t>
            </a:r>
            <a:r>
              <a:rPr lang="en-US" sz="5400" b="1">
                <a:solidFill>
                  <a:srgbClr val="0C3571"/>
                </a:solidFill>
                <a:latin typeface="Montserrat" panose="00000500000000000000" pitchFamily="2" charset="0"/>
                <a:ea typeface="Anantason Bold"/>
                <a:cs typeface="Anantason Bold"/>
                <a:sym typeface="Anantason Bold"/>
              </a:rPr>
              <a:t> </a:t>
            </a:r>
            <a:r>
              <a:rPr lang="en-US" sz="5400" b="1" err="1">
                <a:solidFill>
                  <a:srgbClr val="0C3571"/>
                </a:solidFill>
                <a:latin typeface="Montserrat" panose="00000500000000000000" pitchFamily="2" charset="0"/>
                <a:ea typeface="Anantason Bold"/>
                <a:cs typeface="Anantason Bold"/>
                <a:sym typeface="Anantason Bold"/>
              </a:rPr>
              <a:t>cứu</a:t>
            </a:r>
            <a:endParaRPr lang="en-US" sz="5400" b="1">
              <a:solidFill>
                <a:srgbClr val="0C3571"/>
              </a:solidFill>
              <a:latin typeface="Montserrat" panose="00000500000000000000" pitchFamily="2" charset="0"/>
              <a:ea typeface="Anantason Bold"/>
              <a:cs typeface="Anantason Bold"/>
              <a:sym typeface="Anantason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049406" y="2917762"/>
            <a:ext cx="14189188" cy="4451475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t">
            <a:spAutoFit/>
          </a:bodyPr>
          <a:lstStyle/>
          <a:p>
            <a:pPr marL="367029" lvl="1" algn="just">
              <a:lnSpc>
                <a:spcPct val="150000"/>
              </a:lnSpc>
            </a:pPr>
            <a:r>
              <a:rPr lang="en-US" sz="2800" b="1">
                <a:solidFill>
                  <a:srgbClr val="0C3571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Mục tiêu </a:t>
            </a:r>
            <a:r>
              <a:rPr lang="en-US" sz="2800" b="1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chính</a:t>
            </a:r>
          </a:p>
          <a:p>
            <a:pPr marL="367029" lvl="1" algn="just">
              <a:lnSpc>
                <a:spcPct val="150000"/>
              </a:lnSpc>
            </a:pPr>
            <a:r>
              <a:rPr lang="en-US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Ứng dụng thuật toán AI để dự báo khả năng mắc bệnh trong vòng 5 năm tới.</a:t>
            </a:r>
          </a:p>
          <a:p>
            <a:pPr marL="367029" lvl="1" algn="just">
              <a:lnSpc>
                <a:spcPct val="150000"/>
              </a:lnSpc>
            </a:pPr>
            <a:r>
              <a:rPr lang="en-US" sz="2800" b="1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Mục tiêu phụ</a:t>
            </a:r>
          </a:p>
          <a:p>
            <a:pPr marL="367029" lvl="1" algn="just">
              <a:lnSpc>
                <a:spcPct val="150000"/>
              </a:lnSpc>
            </a:pPr>
            <a:r>
              <a:rPr lang="en-US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Phân tích khám phá (EDA) để xác định các yếu tố rủi ro quan trọng nhất như chỉ số BMI, nồng độ Glucose và yếu tố di truyền (DPF).</a:t>
            </a:r>
          </a:p>
          <a:p>
            <a:pPr marL="367029" lvl="1" algn="just">
              <a:lnSpc>
                <a:spcPct val="150000"/>
              </a:lnSpc>
            </a:pPr>
            <a:r>
              <a:rPr lang="en-US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Đánh giá độ chính xác của mô hình thông qua các chỉ số Sensivity (Độ nhạy) và Specificity (Độ đặc hiệu).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965267-7775-C580-B4B5-654D7B108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52D7B20D-EB9E-C580-EA7F-E41143E5A67D}"/>
              </a:ext>
            </a:extLst>
          </p:cNvPr>
          <p:cNvSpPr txBox="1"/>
          <p:nvPr/>
        </p:nvSpPr>
        <p:spPr>
          <a:xfrm>
            <a:off x="0" y="0"/>
            <a:ext cx="18288000" cy="14599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446"/>
              </a:lnSpc>
            </a:pPr>
            <a:r>
              <a:rPr lang="en-US" sz="5400" b="1">
                <a:solidFill>
                  <a:srgbClr val="0C3571"/>
                </a:solidFill>
                <a:latin typeface="Montserrat" panose="00000500000000000000" pitchFamily="2" charset="0"/>
                <a:ea typeface="Anantason Bold"/>
                <a:cs typeface="Anantason Bold"/>
                <a:sym typeface="Anantason Bold"/>
              </a:rPr>
              <a:t>	Giới thiệu bộ dữ liệu Pima Indians Diabetes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AB79F639-7FA9-8B37-3BA3-AFBD9722E369}"/>
              </a:ext>
            </a:extLst>
          </p:cNvPr>
          <p:cNvSpPr txBox="1"/>
          <p:nvPr/>
        </p:nvSpPr>
        <p:spPr>
          <a:xfrm>
            <a:off x="1481903" y="1902100"/>
            <a:ext cx="15324194" cy="6482800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t">
            <a:spAutoFit/>
          </a:bodyPr>
          <a:lstStyle/>
          <a:p>
            <a:pPr marL="367029" lvl="1" algn="just">
              <a:lnSpc>
                <a:spcPct val="150000"/>
              </a:lnSpc>
            </a:pPr>
            <a:r>
              <a:rPr lang="en-US" sz="3200" b="1">
                <a:solidFill>
                  <a:schemeClr val="tx2"/>
                </a:solidFill>
                <a:latin typeface="Montserrat" panose="00000500000000000000" pitchFamily="2" charset="0"/>
              </a:rPr>
              <a:t>Giới thiệu chung về bộ dữ liệu</a:t>
            </a:r>
          </a:p>
          <a:p>
            <a:pPr marL="367029" lvl="1" algn="just">
              <a:lnSpc>
                <a:spcPct val="150000"/>
              </a:lnSpc>
            </a:pPr>
            <a:endParaRPr lang="en-US" sz="28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r>
              <a:rPr lang="en-US" sz="2800" b="1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Nguồn gốc:</a:t>
            </a:r>
            <a:r>
              <a:rPr lang="en-US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Bộ dữ liệu được thu thập từ quần thể người Mỹ bản địa Pima sống gần Phoenix, Arizona.</a:t>
            </a:r>
          </a:p>
          <a:p>
            <a:pPr marL="367029" lvl="1" algn="just">
              <a:lnSpc>
                <a:spcPct val="150000"/>
              </a:lnSpc>
            </a:pPr>
            <a:r>
              <a:rPr lang="en-US" sz="2800" b="1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Đơn vị quản lý: </a:t>
            </a:r>
            <a:r>
              <a:rPr lang="en-US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Dữ liệu được nghiên cứu liên tục từ năm 1965 bởi Viện Quốc gia về Bệnh tiểu đường, Tiêu hóa và Thận (NIDDK).</a:t>
            </a:r>
          </a:p>
          <a:p>
            <a:pPr marL="367029" lvl="1" algn="just">
              <a:lnSpc>
                <a:spcPct val="150000"/>
              </a:lnSpc>
            </a:pPr>
            <a:r>
              <a:rPr lang="en-US" sz="2800" b="1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Môi trường thu thập: </a:t>
            </a:r>
            <a:r>
              <a:rPr lang="en-US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Các cư dân trên 5 tuổi được yêu cầu kiểm tra định kỳ mỗi 2 năm, bao gồm nghiệm pháp dung nạp glucose đường uống.</a:t>
            </a:r>
          </a:p>
          <a:p>
            <a:pPr marL="367029" lvl="1" algn="just">
              <a:lnSpc>
                <a:spcPct val="150000"/>
              </a:lnSpc>
            </a:pPr>
            <a:r>
              <a:rPr lang="en-US" sz="2800" b="1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Lý do nghiên cứu: </a:t>
            </a:r>
            <a:r>
              <a:rPr lang="en-US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Quần thể này có tỷ lệ mắc bệnh rất cao, cung cấp cơ sở dữ liệu quan trọng để khám phá việc dự báo sớm ngày khởi phát bệnh.</a:t>
            </a:r>
          </a:p>
        </p:txBody>
      </p:sp>
    </p:spTree>
    <p:extLst>
      <p:ext uri="{BB962C8B-B14F-4D97-AF65-F5344CB8AC3E}">
        <p14:creationId xmlns:p14="http://schemas.microsoft.com/office/powerpoint/2010/main" val="36271868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C155D7-C2C4-D7FC-08DA-9FB7AB468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DC72C7D9-A614-54D0-DABF-B95F6B7C1A59}"/>
              </a:ext>
            </a:extLst>
          </p:cNvPr>
          <p:cNvSpPr txBox="1"/>
          <p:nvPr/>
        </p:nvSpPr>
        <p:spPr>
          <a:xfrm>
            <a:off x="0" y="0"/>
            <a:ext cx="18288000" cy="14599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446"/>
              </a:lnSpc>
            </a:pPr>
            <a:r>
              <a:rPr lang="en-US" sz="5400" b="1">
                <a:solidFill>
                  <a:srgbClr val="0C3571"/>
                </a:solidFill>
                <a:latin typeface="Montserrat" panose="00000500000000000000" pitchFamily="2" charset="0"/>
                <a:ea typeface="Anantason Bold"/>
                <a:cs typeface="Anantason Bold"/>
                <a:sym typeface="Anantason Bold"/>
              </a:rPr>
              <a:t>	Giới thiệu bộ dữ liệu Pima Indians Diabetes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BAFDACC7-7751-EB3F-34C8-0CC761EA9678}"/>
              </a:ext>
            </a:extLst>
          </p:cNvPr>
          <p:cNvSpPr txBox="1"/>
          <p:nvPr/>
        </p:nvSpPr>
        <p:spPr>
          <a:xfrm>
            <a:off x="1596203" y="2548430"/>
            <a:ext cx="15095594" cy="519013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t">
            <a:spAutoFit/>
          </a:bodyPr>
          <a:lstStyle/>
          <a:p>
            <a:pPr marL="367029" lvl="1" algn="just">
              <a:lnSpc>
                <a:spcPct val="150000"/>
              </a:lnSpc>
            </a:pPr>
            <a:r>
              <a:rPr lang="en-US" sz="3200" b="1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Tiêu chuẩn chẩn đoán bài toán</a:t>
            </a:r>
          </a:p>
          <a:p>
            <a:pPr marL="367029" lvl="1" algn="just">
              <a:lnSpc>
                <a:spcPct val="150000"/>
              </a:lnSpc>
            </a:pPr>
            <a:endParaRPr lang="en-US" sz="28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r>
              <a:rPr lang="en-US" sz="2800" b="1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Tiêu chuẩn WHO: </a:t>
            </a:r>
            <a:r>
              <a:rPr lang="en-US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Chẩn đoán đái tháo đường nếu nồng độ glucoso huyết tương sau 2 giờ </a:t>
            </a:r>
            <a:r>
              <a:rPr lang="en-US" sz="2800">
                <a:solidFill>
                  <a:schemeClr val="tx2"/>
                </a:solidFill>
                <a:latin typeface="Montserrat" panose="00000500000000000000" pitchFamily="2" charset="0"/>
              </a:rPr>
              <a:t>≥ 200 mg/dl (11.1 mmol/l).</a:t>
            </a:r>
          </a:p>
          <a:p>
            <a:pPr marL="367029" lvl="1" algn="just">
              <a:lnSpc>
                <a:spcPct val="150000"/>
              </a:lnSpc>
            </a:pPr>
            <a:r>
              <a:rPr lang="en-US" sz="2800" b="1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Tiêu chuẩn NDDG: </a:t>
            </a:r>
            <a:r>
              <a:rPr lang="en-US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Bệnh cũng được xác định nếu nồng độ glucose tĩnh mạch lúc đói </a:t>
            </a:r>
            <a:r>
              <a:rPr lang="en-US" sz="2800">
                <a:solidFill>
                  <a:schemeClr val="tx2"/>
                </a:solidFill>
                <a:latin typeface="Montserrat" panose="00000500000000000000" pitchFamily="2" charset="0"/>
              </a:rPr>
              <a:t>≥ 140 mg/dl trong nhiều lần kiểm tra.</a:t>
            </a:r>
          </a:p>
          <a:p>
            <a:pPr marL="367029" lvl="1" algn="just">
              <a:lnSpc>
                <a:spcPct val="150000"/>
              </a:lnSpc>
            </a:pPr>
            <a:r>
              <a:rPr lang="en-US" sz="2800" b="1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Mục tiêu dự báo: </a:t>
            </a:r>
            <a:r>
              <a:rPr lang="en-US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Thuật toán dự báo khả năng một đối tượng sẽ mắc bệnh trong vòng 5 năm kể từ lần kiểm tra chỉ số.</a:t>
            </a:r>
          </a:p>
        </p:txBody>
      </p:sp>
    </p:spTree>
    <p:extLst>
      <p:ext uri="{BB962C8B-B14F-4D97-AF65-F5344CB8AC3E}">
        <p14:creationId xmlns:p14="http://schemas.microsoft.com/office/powerpoint/2010/main" val="6248500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A2AB1B-E869-E7CA-3E3A-9D0D31BDD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7E650BB7-C8E2-3CCC-7FF2-1DA1529A06D6}"/>
              </a:ext>
            </a:extLst>
          </p:cNvPr>
          <p:cNvSpPr txBox="1"/>
          <p:nvPr/>
        </p:nvSpPr>
        <p:spPr>
          <a:xfrm>
            <a:off x="0" y="0"/>
            <a:ext cx="18288000" cy="14599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446"/>
              </a:lnSpc>
            </a:pPr>
            <a:r>
              <a:rPr lang="en-US" sz="5400" b="1">
                <a:solidFill>
                  <a:srgbClr val="0C3571"/>
                </a:solidFill>
                <a:latin typeface="Montserrat" panose="00000500000000000000" pitchFamily="2" charset="0"/>
                <a:ea typeface="Anantason Bold"/>
                <a:cs typeface="Anantason Bold"/>
                <a:sym typeface="Anantason Bold"/>
              </a:rPr>
              <a:t>	Giới thiệu bộ dữ liệu Pima Indians Diabetes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FAA7FB7-4258-EA05-1F73-07351456C636}"/>
              </a:ext>
            </a:extLst>
          </p:cNvPr>
          <p:cNvSpPr txBox="1"/>
          <p:nvPr/>
        </p:nvSpPr>
        <p:spPr>
          <a:xfrm>
            <a:off x="1367603" y="2548430"/>
            <a:ext cx="15552794" cy="519013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t">
            <a:spAutoFit/>
          </a:bodyPr>
          <a:lstStyle/>
          <a:p>
            <a:pPr marL="367029" lvl="1" algn="just">
              <a:lnSpc>
                <a:spcPct val="150000"/>
              </a:lnSpc>
            </a:pPr>
            <a:r>
              <a:rPr lang="en-US" sz="3200" b="1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Đặc tả đối tượng nghiên cứu</a:t>
            </a:r>
          </a:p>
          <a:p>
            <a:pPr marL="367029" lvl="1" algn="just">
              <a:lnSpc>
                <a:spcPct val="150000"/>
              </a:lnSpc>
            </a:pPr>
            <a:endParaRPr lang="en-US" sz="28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r>
              <a:rPr lang="en-US" sz="2800" b="1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Giới tính: </a:t>
            </a:r>
            <a:r>
              <a:rPr lang="en-US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Tất cả các đối tượng trong bộ dữ liệu được trích xuất đều là nữ giới.</a:t>
            </a:r>
          </a:p>
          <a:p>
            <a:pPr marL="367029" lvl="1" algn="just">
              <a:lnSpc>
                <a:spcPct val="150000"/>
              </a:lnSpc>
            </a:pPr>
            <a:r>
              <a:rPr lang="en-US" sz="2800" b="1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Độ tuổi: </a:t>
            </a:r>
            <a:r>
              <a:rPr lang="en-US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Các đối tượng tham gia có độ tuổi ít nhất từ 21 trở lên tại thời điểm kiểm tra.</a:t>
            </a:r>
          </a:p>
          <a:p>
            <a:pPr marL="367029" lvl="1" algn="just">
              <a:lnSpc>
                <a:spcPct val="150000"/>
              </a:lnSpc>
            </a:pPr>
            <a:r>
              <a:rPr lang="en-US" sz="2800" b="1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Phạm vị mẫu: 768</a:t>
            </a:r>
            <a:r>
              <a:rPr lang="en-US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ca kiểm tra đã được lựa chọn dựa trên các tiêu chí nghiêm ngặt về lịch sử y tế và thời gian theo dõi.</a:t>
            </a:r>
          </a:p>
          <a:p>
            <a:pPr marL="367029" lvl="1" algn="just">
              <a:lnSpc>
                <a:spcPct val="150000"/>
              </a:lnSpc>
            </a:pPr>
            <a:r>
              <a:rPr lang="en-US" sz="2800" b="1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Phân chia dữ liệu AI: 576</a:t>
            </a:r>
            <a:r>
              <a:rPr lang="en-US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ca được chọn ngẫu nhiên cho tập huấn luyện (training) và còn lại dành cho tập dự báo (forecasting).</a:t>
            </a:r>
          </a:p>
        </p:txBody>
      </p:sp>
    </p:spTree>
    <p:extLst>
      <p:ext uri="{BB962C8B-B14F-4D97-AF65-F5344CB8AC3E}">
        <p14:creationId xmlns:p14="http://schemas.microsoft.com/office/powerpoint/2010/main" val="1282748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ECE43B-8AB5-B1E2-7744-3D153A7C6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ED812014-2207-9672-DB67-62E9B5050BC1}"/>
              </a:ext>
            </a:extLst>
          </p:cNvPr>
          <p:cNvSpPr txBox="1"/>
          <p:nvPr/>
        </p:nvSpPr>
        <p:spPr>
          <a:xfrm>
            <a:off x="0" y="0"/>
            <a:ext cx="18288000" cy="14599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446"/>
              </a:lnSpc>
            </a:pPr>
            <a:r>
              <a:rPr lang="en-US" sz="5400" b="1">
                <a:solidFill>
                  <a:srgbClr val="0C3571"/>
                </a:solidFill>
                <a:latin typeface="Montserrat" panose="00000500000000000000" pitchFamily="2" charset="0"/>
                <a:ea typeface="Anantason Bold"/>
                <a:cs typeface="Anantason Bold"/>
                <a:sym typeface="Anantason Bold"/>
              </a:rPr>
              <a:t>	Giới thiệu bộ dữ liệu Pima Indians Diabetes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E25B7A8E-E214-C035-A49C-D47CACB59DB1}"/>
              </a:ext>
            </a:extLst>
          </p:cNvPr>
          <p:cNvSpPr txBox="1"/>
          <p:nvPr/>
        </p:nvSpPr>
        <p:spPr>
          <a:xfrm>
            <a:off x="914400" y="1466240"/>
            <a:ext cx="16459200" cy="7775462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t">
            <a:spAutoFit/>
          </a:bodyPr>
          <a:lstStyle/>
          <a:p>
            <a:pPr marL="367029" lvl="1" algn="just">
              <a:lnSpc>
                <a:spcPct val="150000"/>
              </a:lnSpc>
            </a:pPr>
            <a:r>
              <a:rPr lang="en-US" sz="3200" b="1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Mô tả các biến số đầu vào</a:t>
            </a:r>
          </a:p>
          <a:p>
            <a:pPr marL="367029" lvl="1" algn="just">
              <a:lnSpc>
                <a:spcPct val="150000"/>
              </a:lnSpc>
            </a:pPr>
            <a:endParaRPr lang="en-US" sz="28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r>
              <a:rPr lang="en-US" sz="2800" b="1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Number of times pregnant: </a:t>
            </a:r>
            <a:r>
              <a:rPr lang="en-US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Số lần mang thai của đối tượng.</a:t>
            </a:r>
          </a:p>
          <a:p>
            <a:pPr marL="367029" lvl="1" algn="just">
              <a:lnSpc>
                <a:spcPct val="150000"/>
              </a:lnSpc>
            </a:pPr>
            <a:r>
              <a:rPr lang="en-US" sz="2800" b="1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2-Hour Glucose: </a:t>
            </a:r>
            <a:r>
              <a:rPr lang="en-US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Nồng độ Glucose huyết tương sau 2 giờ thực hiện nghiệm pháp dung nạp đường uống (OGTT).</a:t>
            </a:r>
          </a:p>
          <a:p>
            <a:pPr marL="367029" lvl="1" algn="just">
              <a:lnSpc>
                <a:spcPct val="150000"/>
              </a:lnSpc>
            </a:pPr>
            <a:r>
              <a:rPr lang="en-US" sz="2800" b="1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Blood Pressure: </a:t>
            </a:r>
            <a:r>
              <a:rPr lang="en-US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Huyết áp tâm trương đo bằng mm Hg.</a:t>
            </a:r>
          </a:p>
          <a:p>
            <a:pPr marL="367029" lvl="1" algn="just">
              <a:lnSpc>
                <a:spcPct val="150000"/>
              </a:lnSpc>
            </a:pPr>
            <a:r>
              <a:rPr lang="en-US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Triceps Skin Fold Thickness: Độ dày nếp gấp da cơ tam đầu đo bằng mm.</a:t>
            </a:r>
          </a:p>
          <a:p>
            <a:pPr marL="367029" lvl="1" algn="just">
              <a:lnSpc>
                <a:spcPct val="150000"/>
              </a:lnSpc>
            </a:pPr>
            <a:r>
              <a:rPr lang="en-US" sz="2800" b="1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2-Hour Serum Insulin: </a:t>
            </a:r>
            <a:r>
              <a:rPr lang="en-US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Nồng độ Insulin trong huyết thanh sau 2 giờ (</a:t>
            </a:r>
            <a:r>
              <a:rPr lang="el-GR" sz="2800">
                <a:solidFill>
                  <a:schemeClr val="tx2"/>
                </a:solidFill>
              </a:rPr>
              <a:t>μ</a:t>
            </a:r>
            <a:r>
              <a:rPr lang="en-US" sz="2800">
                <a:solidFill>
                  <a:schemeClr val="tx2"/>
                </a:solidFill>
                <a:latin typeface="Montserrat" panose="00000500000000000000" pitchFamily="2" charset="0"/>
              </a:rPr>
              <a:t>U/ml).</a:t>
            </a:r>
          </a:p>
          <a:p>
            <a:pPr marL="367029" lvl="1" algn="just">
              <a:lnSpc>
                <a:spcPct val="150000"/>
              </a:lnSpc>
            </a:pPr>
            <a:r>
              <a:rPr lang="en-US" sz="2800" b="1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BMI: </a:t>
            </a:r>
            <a:r>
              <a:rPr lang="en-US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Chỉ số khối cơ thể (kg/m</a:t>
            </a:r>
            <a:r>
              <a:rPr lang="en-US" sz="2800">
                <a:solidFill>
                  <a:schemeClr val="tx2"/>
                </a:solidFill>
                <a:latin typeface="Montserrat" panose="00000500000000000000" pitchFamily="2" charset="0"/>
              </a:rPr>
              <a:t>²</a:t>
            </a:r>
            <a:r>
              <a:rPr lang="en-US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)</a:t>
            </a:r>
          </a:p>
          <a:p>
            <a:pPr marL="367029" lvl="1" algn="just">
              <a:lnSpc>
                <a:spcPct val="150000"/>
              </a:lnSpc>
            </a:pPr>
            <a:r>
              <a:rPr lang="en-US" sz="2800" b="1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Diabetes Pedigree Function (DPF): </a:t>
            </a:r>
            <a:r>
              <a:rPr lang="en-US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Hàm số tổng hợp tiền sử bệnh của người thân và mối quan hệ di truyền để đo lường rủi ro.</a:t>
            </a:r>
          </a:p>
          <a:p>
            <a:pPr marL="367029" lvl="1" algn="just">
              <a:lnSpc>
                <a:spcPct val="150000"/>
              </a:lnSpc>
            </a:pPr>
            <a:r>
              <a:rPr lang="en-US" sz="2800" b="1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Age: </a:t>
            </a:r>
            <a:r>
              <a:rPr lang="en-US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Độ tuổi tính theo năm tại thời điểm thực hiện kiểm tra.</a:t>
            </a:r>
          </a:p>
        </p:txBody>
      </p:sp>
    </p:spTree>
    <p:extLst>
      <p:ext uri="{BB962C8B-B14F-4D97-AF65-F5344CB8AC3E}">
        <p14:creationId xmlns:p14="http://schemas.microsoft.com/office/powerpoint/2010/main" val="39393524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8560C7-1A8B-3A11-BA62-C9F17E0AF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F3BA8F99-12E0-8FB5-4754-085A8CE09C09}"/>
              </a:ext>
            </a:extLst>
          </p:cNvPr>
          <p:cNvSpPr txBox="1"/>
          <p:nvPr/>
        </p:nvSpPr>
        <p:spPr>
          <a:xfrm>
            <a:off x="0" y="0"/>
            <a:ext cx="18288000" cy="14599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446"/>
              </a:lnSpc>
            </a:pPr>
            <a:r>
              <a:rPr lang="en-US" sz="5400" b="1">
                <a:solidFill>
                  <a:srgbClr val="0C3571"/>
                </a:solidFill>
                <a:latin typeface="Montserrat" panose="00000500000000000000" pitchFamily="2" charset="0"/>
                <a:ea typeface="Anantason Bold"/>
                <a:cs typeface="Anantason Bold"/>
                <a:sym typeface="Anantason Bold"/>
              </a:rPr>
              <a:t>	Giới thiệu bộ dữ liệu Pima Indians Diabetes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640DC7B3-22AF-5068-1AF8-157FB45EC75B}"/>
              </a:ext>
            </a:extLst>
          </p:cNvPr>
          <p:cNvSpPr txBox="1"/>
          <p:nvPr/>
        </p:nvSpPr>
        <p:spPr>
          <a:xfrm>
            <a:off x="1558103" y="1855933"/>
            <a:ext cx="15171794" cy="6575133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t">
            <a:spAutoFit/>
          </a:bodyPr>
          <a:lstStyle/>
          <a:p>
            <a:pPr marL="367029" lvl="1" algn="just">
              <a:lnSpc>
                <a:spcPct val="150000"/>
              </a:lnSpc>
            </a:pPr>
            <a:r>
              <a:rPr lang="en-US" sz="3200" b="1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Chi tiết về Hàm phả hệ (DPF)</a:t>
            </a: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r>
              <a:rPr lang="en-US" sz="2800" b="1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Ý nghĩa: </a:t>
            </a:r>
            <a:r>
              <a:rPr lang="en-US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Cung cấp một phép đo tổng hợp về ảnh hưởng di truyền của các thế hệ trước đối với nguy cơ mắc bệnh của chủ thể.</a:t>
            </a:r>
          </a:p>
          <a:p>
            <a:pPr marL="367029" lvl="1" algn="just">
              <a:lnSpc>
                <a:spcPct val="150000"/>
              </a:lnSpc>
            </a:pPr>
            <a:r>
              <a:rPr lang="en-US" sz="2800" b="1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Cơ cấu tính toán:</a:t>
            </a:r>
            <a:r>
              <a:rPr lang="en-US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Dựa trên dữ liệu từ bố mẹ, ông bà, anh chị em ruột, cô dì chú bác và anh chị em họ.</a:t>
            </a:r>
          </a:p>
          <a:p>
            <a:pPr marL="367029" lvl="1" algn="just">
              <a:lnSpc>
                <a:spcPct val="150000"/>
              </a:lnSpc>
            </a:pPr>
            <a:r>
              <a:rPr lang="en-US" sz="2800" b="1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Đặc điểm biến số: </a:t>
            </a:r>
          </a:p>
          <a:p>
            <a:pPr marL="824229" lvl="2" algn="just">
              <a:lnSpc>
                <a:spcPct val="150000"/>
              </a:lnSpc>
            </a:pPr>
            <a:r>
              <a:rPr lang="en-US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Giá trị DPF tăng khi số lượng người thân mắc bệnh tăng và tuổi khởi phát thấp.</a:t>
            </a:r>
          </a:p>
          <a:p>
            <a:pPr marL="824229" lvl="2" algn="just">
              <a:lnSpc>
                <a:spcPct val="150000"/>
              </a:lnSpc>
            </a:pPr>
            <a:r>
              <a:rPr lang="en-US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Giá trị DPF giảm khi số lượng người thân mắc bệnh tăng và độ tuổi kiểm tra cuối cùng cao.</a:t>
            </a:r>
          </a:p>
        </p:txBody>
      </p:sp>
    </p:spTree>
    <p:extLst>
      <p:ext uri="{BB962C8B-B14F-4D97-AF65-F5344CB8AC3E}">
        <p14:creationId xmlns:p14="http://schemas.microsoft.com/office/powerpoint/2010/main" val="13412354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F1B3A1-7373-3EFD-9B22-58A500073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143793E4-3AC3-D829-C6F4-9DB831CDCE21}"/>
              </a:ext>
            </a:extLst>
          </p:cNvPr>
          <p:cNvSpPr txBox="1"/>
          <p:nvPr/>
        </p:nvSpPr>
        <p:spPr>
          <a:xfrm>
            <a:off x="0" y="0"/>
            <a:ext cx="18288000" cy="14599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446"/>
              </a:lnSpc>
            </a:pPr>
            <a:r>
              <a:rPr lang="en-US" sz="5400" b="1">
                <a:solidFill>
                  <a:srgbClr val="0C3571"/>
                </a:solidFill>
                <a:latin typeface="Montserrat" panose="00000500000000000000" pitchFamily="2" charset="0"/>
                <a:ea typeface="Anantason Bold"/>
                <a:cs typeface="Anantason Bold"/>
                <a:sym typeface="Anantason Bold"/>
              </a:rPr>
              <a:t>	Giới thiệu bộ dữ liệu Pima Indians Diabetes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876F0D6D-5C5B-BBFA-DF1D-B0D4A60238AB}"/>
              </a:ext>
            </a:extLst>
          </p:cNvPr>
          <p:cNvSpPr txBox="1"/>
          <p:nvPr/>
        </p:nvSpPr>
        <p:spPr>
          <a:xfrm>
            <a:off x="1558103" y="1855933"/>
            <a:ext cx="15171794" cy="5928803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t">
            <a:spAutoFit/>
          </a:bodyPr>
          <a:lstStyle/>
          <a:p>
            <a:pPr marL="367029" lvl="1" algn="just">
              <a:lnSpc>
                <a:spcPct val="150000"/>
              </a:lnSpc>
            </a:pPr>
            <a:r>
              <a:rPr lang="en-US" sz="3200" b="1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Phân bố biến mục tiêu</a:t>
            </a:r>
          </a:p>
          <a:p>
            <a:pPr marL="367029" lvl="1" algn="just">
              <a:lnSpc>
                <a:spcPct val="150000"/>
              </a:lnSpc>
            </a:pPr>
            <a:endParaRPr lang="en-US" sz="3200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r>
              <a:rPr lang="en-US" sz="2800" b="1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Định nghĩa: </a:t>
            </a:r>
            <a:r>
              <a:rPr lang="en-US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Kết quả dự báo là một biến phân loại nhị phân (0 hoặc 1).</a:t>
            </a:r>
          </a:p>
          <a:p>
            <a:pPr marL="367029" lvl="1" algn="just">
              <a:lnSpc>
                <a:spcPct val="150000"/>
              </a:lnSpc>
            </a:pPr>
            <a:r>
              <a:rPr lang="en-US" sz="2800" b="1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Nhãn 0 (Khỏe mạnh): </a:t>
            </a:r>
            <a:r>
              <a:rPr lang="en-US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Đối tượng có kết quả âm tính với đái tháo đường sau ít nhất 5 năm kể từ lần kiểm tra chỉ số.</a:t>
            </a:r>
          </a:p>
          <a:p>
            <a:pPr marL="367029" lvl="1" algn="just">
              <a:lnSpc>
                <a:spcPct val="150000"/>
              </a:lnSpc>
            </a:pPr>
            <a:r>
              <a:rPr lang="en-US" sz="2800" b="1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Nhãn 1 (Mắc bệnh): </a:t>
            </a:r>
            <a:r>
              <a:rPr lang="en-US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Đối tượng được chẩn đoán mắc bệnh đái tháo đường trong khoảng từ 1 đến 5 năm sau khi kiểm tra.</a:t>
            </a:r>
          </a:p>
          <a:p>
            <a:pPr marL="367029" lvl="1" algn="just">
              <a:lnSpc>
                <a:spcPct val="150000"/>
              </a:lnSpc>
            </a:pPr>
            <a:r>
              <a:rPr lang="en-US" sz="2800" b="1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Tính chất: </a:t>
            </a:r>
            <a:r>
              <a:rPr lang="en-US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Đây là bài toán nhận dạng mẫu để dự báo xu hướng sức khỏe trong tương lai.</a:t>
            </a:r>
          </a:p>
        </p:txBody>
      </p:sp>
    </p:spTree>
    <p:extLst>
      <p:ext uri="{BB962C8B-B14F-4D97-AF65-F5344CB8AC3E}">
        <p14:creationId xmlns:p14="http://schemas.microsoft.com/office/powerpoint/2010/main" val="41223117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53F2C5-8E71-70B2-6D93-104A4FBC9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9D561862-3746-BBC1-0BCB-2B4B9755A7F6}"/>
              </a:ext>
            </a:extLst>
          </p:cNvPr>
          <p:cNvSpPr txBox="1"/>
          <p:nvPr/>
        </p:nvSpPr>
        <p:spPr>
          <a:xfrm>
            <a:off x="0" y="0"/>
            <a:ext cx="18288000" cy="14599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446"/>
              </a:lnSpc>
            </a:pPr>
            <a:r>
              <a:rPr lang="en-US" sz="5400" b="1">
                <a:solidFill>
                  <a:srgbClr val="0C3571"/>
                </a:solidFill>
                <a:latin typeface="Montserrat" panose="00000500000000000000" pitchFamily="2" charset="0"/>
                <a:ea typeface="Anantason Bold"/>
                <a:cs typeface="Anantason Bold"/>
                <a:sym typeface="Anantason Bold"/>
              </a:rPr>
              <a:t>	Giới thiệu bộ dữ liệu Pima Indians Diabetes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AAE6DCE-F831-DA9E-C634-A3B107CAE4E0}"/>
              </a:ext>
            </a:extLst>
          </p:cNvPr>
          <p:cNvSpPr txBox="1"/>
          <p:nvPr/>
        </p:nvSpPr>
        <p:spPr>
          <a:xfrm>
            <a:off x="1558103" y="1855933"/>
            <a:ext cx="15171794" cy="5928803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t">
            <a:spAutoFit/>
          </a:bodyPr>
          <a:lstStyle/>
          <a:p>
            <a:pPr marL="367029" lvl="1" algn="just">
              <a:lnSpc>
                <a:spcPct val="150000"/>
              </a:lnSpc>
            </a:pPr>
            <a:r>
              <a:rPr lang="en-US" sz="3200" b="1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Phân tích tỷ lệ mắc bệnh thực tế</a:t>
            </a:r>
          </a:p>
          <a:p>
            <a:pPr marL="367029" lvl="1" algn="just">
              <a:lnSpc>
                <a:spcPct val="150000"/>
              </a:lnSpc>
            </a:pPr>
            <a:endParaRPr lang="en-US" sz="3200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r>
              <a:rPr lang="en-US" sz="2800" b="1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Đặc thù quẩn thể: </a:t>
            </a:r>
            <a:r>
              <a:rPr lang="en-US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Pima Indians có tỷ lệ mắc bệnh rất cao do sự tương tác mạnh mẽ giữa yếu tố di truyền và tình trạng béo phì.</a:t>
            </a:r>
          </a:p>
          <a:p>
            <a:pPr marL="367029" lvl="1" algn="just">
              <a:lnSpc>
                <a:spcPct val="150000"/>
              </a:lnSpc>
            </a:pPr>
            <a:r>
              <a:rPr lang="en-US" sz="2800" b="1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Yếu tố rủi ro: </a:t>
            </a:r>
            <a:r>
              <a:rPr lang="en-US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Phụ nữ đã từng bị tiểu đường thai kỳ (GDM) hoặc béo phì có nguy cơ tiến triển thành đái tháo đường Type 2 cao hơn.</a:t>
            </a:r>
          </a:p>
          <a:p>
            <a:pPr marL="367029" lvl="1" algn="just">
              <a:lnSpc>
                <a:spcPct val="150000"/>
              </a:lnSpc>
            </a:pPr>
            <a:r>
              <a:rPr lang="en-US" sz="2800" b="1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Tỷ lệ trong mẫu: </a:t>
            </a:r>
            <a:r>
              <a:rPr lang="en-US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Trong 768 mẫu nghiên cứu, một phần đáng kể các đối tượng thuộc nhóm có nguy cơ cao (Pima Indians women over 21) đã phát triển bệnh trong vòng 5 năm theo dõi.</a:t>
            </a:r>
          </a:p>
        </p:txBody>
      </p:sp>
    </p:spTree>
    <p:extLst>
      <p:ext uri="{BB962C8B-B14F-4D97-AF65-F5344CB8AC3E}">
        <p14:creationId xmlns:p14="http://schemas.microsoft.com/office/powerpoint/2010/main" val="17067496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67D9BC-58A3-7E82-2EDC-260BD1AE9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EB1D9200-F3E9-F704-5573-9BB0AC62A9B7}"/>
              </a:ext>
            </a:extLst>
          </p:cNvPr>
          <p:cNvSpPr txBox="1"/>
          <p:nvPr/>
        </p:nvSpPr>
        <p:spPr>
          <a:xfrm>
            <a:off x="0" y="0"/>
            <a:ext cx="18288000" cy="14599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446"/>
              </a:lnSpc>
            </a:pPr>
            <a:r>
              <a:rPr lang="en-US" sz="5400" b="1">
                <a:solidFill>
                  <a:srgbClr val="0C3571"/>
                </a:solidFill>
                <a:latin typeface="Montserrat" panose="00000500000000000000" pitchFamily="2" charset="0"/>
                <a:ea typeface="Anantason Bold"/>
                <a:cs typeface="Anantason Bold"/>
                <a:sym typeface="Anantason Bold"/>
              </a:rPr>
              <a:t>	Phân tích biến mục tiêu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1CC4F65-2F68-639C-90BC-A3F399DC9565}"/>
              </a:ext>
            </a:extLst>
          </p:cNvPr>
          <p:cNvSpPr txBox="1"/>
          <p:nvPr/>
        </p:nvSpPr>
        <p:spPr>
          <a:xfrm>
            <a:off x="1558103" y="1852304"/>
            <a:ext cx="15171794" cy="5836470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t">
            <a:spAutoFit/>
          </a:bodyPr>
          <a:lstStyle/>
          <a:p>
            <a:pPr marL="367029" lvl="1" algn="just">
              <a:lnSpc>
                <a:spcPct val="150000"/>
              </a:lnSpc>
            </a:pPr>
            <a:r>
              <a:rPr lang="en-US" sz="3200" b="1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Tỷ lệ mắc bệnh đái tháo đường</a:t>
            </a:r>
          </a:p>
          <a:p>
            <a:pPr marL="367029" lvl="1">
              <a:lnSpc>
                <a:spcPct val="150000"/>
              </a:lnSpc>
            </a:pPr>
            <a:r>
              <a:rPr lang="en-US" sz="2800" b="1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Kết quả</a:t>
            </a:r>
          </a:p>
          <a:p>
            <a:pPr marL="824229" lvl="2">
              <a:lnSpc>
                <a:spcPct val="150000"/>
              </a:lnSpc>
            </a:pPr>
            <a:r>
              <a:rPr lang="en-US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Không mắc: 500 cases (65.56%)</a:t>
            </a:r>
          </a:p>
          <a:p>
            <a:pPr marL="824229" lvl="2">
              <a:lnSpc>
                <a:spcPct val="150000"/>
              </a:lnSpc>
            </a:pPr>
            <a:r>
              <a:rPr lang="en-US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Mắc bệnh: 268 cases (34.44%)</a:t>
            </a:r>
          </a:p>
          <a:p>
            <a:pPr marL="367029" lvl="1">
              <a:lnSpc>
                <a:spcPct val="150000"/>
              </a:lnSpc>
            </a:pPr>
            <a:r>
              <a:rPr lang="en-US" sz="2800" b="1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Nhóm khỏe mạnh</a:t>
            </a:r>
          </a:p>
          <a:p>
            <a:pPr marL="824229" lvl="2">
              <a:lnSpc>
                <a:spcPct val="150000"/>
              </a:lnSpc>
            </a:pPr>
            <a:r>
              <a:rPr lang="en-US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Tỷ lệ mắc bệnh 3</a:t>
            </a:r>
            <a:r>
              <a:rPr lang="vi-VN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4.44</a:t>
            </a:r>
            <a:r>
              <a:rPr lang="en-US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% là rất</a:t>
            </a:r>
          </a:p>
          <a:p>
            <a:pPr marL="824229" lvl="2">
              <a:lnSpc>
                <a:spcPct val="150000"/>
              </a:lnSpc>
            </a:pPr>
            <a:r>
              <a:rPr lang="en-US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cao so với dân số chung (thường là 8-10%)</a:t>
            </a:r>
          </a:p>
          <a:p>
            <a:pPr marL="824229" lvl="2">
              <a:lnSpc>
                <a:spcPct val="150000"/>
              </a:lnSpc>
            </a:pPr>
            <a:r>
              <a:rPr lang="en-US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Người Pima Indians có tỷ lệ đái tháo</a:t>
            </a:r>
          </a:p>
          <a:p>
            <a:pPr marL="824229" lvl="2">
              <a:lnSpc>
                <a:spcPct val="150000"/>
              </a:lnSpc>
            </a:pPr>
            <a:r>
              <a:rPr lang="en-US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đường cao nhất thế giới.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FE1F0E-67D1-B0EE-0AA7-BA54148F99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2200" y="2612825"/>
            <a:ext cx="6573167" cy="4315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509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D8A705-1673-DD0B-C551-DEC7807F5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301CABCD-1E25-3769-9287-EF6D81A17DB1}"/>
              </a:ext>
            </a:extLst>
          </p:cNvPr>
          <p:cNvSpPr txBox="1"/>
          <p:nvPr/>
        </p:nvSpPr>
        <p:spPr>
          <a:xfrm>
            <a:off x="0" y="0"/>
            <a:ext cx="18288000" cy="14599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446"/>
              </a:lnSpc>
            </a:pPr>
            <a:r>
              <a:rPr lang="en-US" sz="5400" b="1">
                <a:solidFill>
                  <a:srgbClr val="0C3571"/>
                </a:solidFill>
                <a:latin typeface="Montserrat" panose="00000500000000000000" pitchFamily="2" charset="0"/>
                <a:ea typeface="Anantason Bold"/>
                <a:cs typeface="Anantason Bold"/>
                <a:sym typeface="Anantason Bold"/>
              </a:rPr>
              <a:t>	Phân tích biến mục tiêu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8ADC3C15-A02C-63E6-CCC3-0ECB2E19B27E}"/>
              </a:ext>
            </a:extLst>
          </p:cNvPr>
          <p:cNvSpPr txBox="1"/>
          <p:nvPr/>
        </p:nvSpPr>
        <p:spPr>
          <a:xfrm>
            <a:off x="1558103" y="1459951"/>
            <a:ext cx="15171794" cy="7775462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t">
            <a:spAutoFit/>
          </a:bodyPr>
          <a:lstStyle/>
          <a:p>
            <a:pPr marL="367029" lvl="1" algn="just">
              <a:lnSpc>
                <a:spcPct val="150000"/>
              </a:lnSpc>
            </a:pPr>
            <a:r>
              <a:rPr lang="en-US" sz="3200" b="1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Đặc điểm nhóm bệnh nhân và nhóm khỏe mạnh</a:t>
            </a:r>
          </a:p>
          <a:p>
            <a:pPr marL="367029" lvl="1" algn="just">
              <a:lnSpc>
                <a:spcPct val="150000"/>
              </a:lnSpc>
            </a:pPr>
            <a:r>
              <a:rPr lang="en-US" sz="2800" b="1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Nhóm mắc bệnh:</a:t>
            </a:r>
          </a:p>
          <a:p>
            <a:pPr marL="367029" lvl="1" algn="just">
              <a:lnSpc>
                <a:spcPct val="150000"/>
              </a:lnSpc>
            </a:pPr>
            <a:r>
              <a:rPr lang="en-US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Glucose cao vượt ngưỡng chẩn đoán (&gt; 140 mg/dL)</a:t>
            </a:r>
          </a:p>
          <a:p>
            <a:pPr marL="367029" lvl="1" algn="just">
              <a:lnSpc>
                <a:spcPct val="150000"/>
              </a:lnSpc>
            </a:pPr>
            <a:r>
              <a:rPr lang="en-US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BMI: cao, đa số rơi vào ngưỡng béo phì (&gt;32)</a:t>
            </a:r>
          </a:p>
          <a:p>
            <a:pPr marL="367029" lvl="1" algn="just">
              <a:lnSpc>
                <a:spcPct val="150000"/>
              </a:lnSpc>
            </a:pPr>
            <a:r>
              <a:rPr lang="en-US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Tuổi: Thường từ 30 trở lên</a:t>
            </a:r>
          </a:p>
          <a:p>
            <a:pPr marL="367029" lvl="1" algn="just">
              <a:lnSpc>
                <a:spcPct val="150000"/>
              </a:lnSpc>
            </a:pPr>
            <a:r>
              <a:rPr lang="en-US" sz="2800" b="1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Nhóm không mắc:</a:t>
            </a:r>
          </a:p>
          <a:p>
            <a:pPr marL="367029" lvl="1" algn="just">
              <a:lnSpc>
                <a:spcPct val="150000"/>
              </a:lnSpc>
            </a:pPr>
            <a:r>
              <a:rPr lang="en-US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Glucose bình thường (100-110 mg/dL)</a:t>
            </a:r>
          </a:p>
          <a:p>
            <a:pPr marL="367029" lvl="1" algn="just">
              <a:lnSpc>
                <a:spcPct val="150000"/>
              </a:lnSpc>
            </a:pPr>
            <a:r>
              <a:rPr lang="en-US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BMI: thấp hơn những vẫn ở mức hơi cao (28-30)</a:t>
            </a:r>
          </a:p>
          <a:p>
            <a:pPr marL="367029" lvl="1" algn="just">
              <a:lnSpc>
                <a:spcPct val="150000"/>
              </a:lnSpc>
            </a:pPr>
            <a:r>
              <a:rPr lang="en-US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Tuổi: Trẻ hơn, tập trung dày đặc ở nhóm 21-25 tuổi</a:t>
            </a:r>
          </a:p>
          <a:p>
            <a:pPr marL="367029" lvl="1" algn="just">
              <a:lnSpc>
                <a:spcPct val="150000"/>
              </a:lnSpc>
            </a:pPr>
            <a:r>
              <a:rPr lang="en-US" sz="2800" b="1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Ý nghĩa lâm sàng</a:t>
            </a:r>
          </a:p>
          <a:p>
            <a:pPr marL="367029" lvl="1" algn="just">
              <a:lnSpc>
                <a:spcPct val="150000"/>
              </a:lnSpc>
            </a:pPr>
            <a:r>
              <a:rPr lang="en-US" sz="2800" b="1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	</a:t>
            </a:r>
            <a:r>
              <a:rPr lang="en-US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Glucose cao -&gt; yếu tố quyết định</a:t>
            </a:r>
          </a:p>
          <a:p>
            <a:pPr marL="367029" lvl="1" algn="just">
              <a:lnSpc>
                <a:spcPct val="150000"/>
              </a:lnSpc>
            </a:pPr>
            <a:r>
              <a:rPr lang="en-US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	Tuổi &amp; BMI cao -&gt; nguy cơ quan trọng</a:t>
            </a:r>
          </a:p>
        </p:txBody>
      </p:sp>
    </p:spTree>
    <p:extLst>
      <p:ext uri="{BB962C8B-B14F-4D97-AF65-F5344CB8AC3E}">
        <p14:creationId xmlns:p14="http://schemas.microsoft.com/office/powerpoint/2010/main" val="19416940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FA921A-81DF-7FE7-E61B-B8D767C8D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3A807605-75CE-A265-909A-26D55E367808}"/>
              </a:ext>
            </a:extLst>
          </p:cNvPr>
          <p:cNvSpPr txBox="1"/>
          <p:nvPr/>
        </p:nvSpPr>
        <p:spPr>
          <a:xfrm>
            <a:off x="0" y="0"/>
            <a:ext cx="18288000" cy="14599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446"/>
              </a:lnSpc>
            </a:pPr>
            <a:r>
              <a:rPr lang="en-US" sz="5400" b="1">
                <a:solidFill>
                  <a:srgbClr val="0C3571"/>
                </a:solidFill>
                <a:latin typeface="Montserrat" panose="00000500000000000000" pitchFamily="2" charset="0"/>
                <a:ea typeface="Anantason Bold"/>
                <a:cs typeface="Anantason Bold"/>
                <a:sym typeface="Anantason Bold"/>
              </a:rPr>
              <a:t>	Phân tích theo nhóm tuổi và BMI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E629F4A1-5EC8-6F9A-597E-4C18A966F0DF}"/>
              </a:ext>
            </a:extLst>
          </p:cNvPr>
          <p:cNvSpPr txBox="1"/>
          <p:nvPr/>
        </p:nvSpPr>
        <p:spPr>
          <a:xfrm>
            <a:off x="1558103" y="1855933"/>
            <a:ext cx="15171794" cy="6564682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t">
            <a:spAutoFit/>
          </a:bodyPr>
          <a:lstStyle/>
          <a:p>
            <a:pPr marL="367029" lvl="1" algn="just">
              <a:lnSpc>
                <a:spcPct val="150000"/>
              </a:lnSpc>
            </a:pPr>
            <a:r>
              <a:rPr lang="en-US" sz="3200" b="1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Phân bố bệnh theo độ tuổi</a:t>
            </a: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6B8502-CCB6-568F-6059-88A3EF7FDA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2146" y="2628900"/>
            <a:ext cx="5643707" cy="5422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3137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6928DB-9B17-79BE-CD60-8F1E9E242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15BD44E6-8C33-393F-9EAD-9BAB88E0B82B}"/>
              </a:ext>
            </a:extLst>
          </p:cNvPr>
          <p:cNvSpPr txBox="1"/>
          <p:nvPr/>
        </p:nvSpPr>
        <p:spPr>
          <a:xfrm>
            <a:off x="0" y="0"/>
            <a:ext cx="18288000" cy="31783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446"/>
              </a:lnSpc>
            </a:pPr>
            <a:r>
              <a:rPr lang="en-US" sz="5400" b="1">
                <a:solidFill>
                  <a:srgbClr val="0C3571"/>
                </a:solidFill>
                <a:latin typeface="Montserrat" panose="00000500000000000000" pitchFamily="2" charset="0"/>
                <a:ea typeface="Anantason Bold"/>
                <a:cs typeface="Anantason Bold"/>
                <a:sym typeface="Anantason Bold"/>
              </a:rPr>
              <a:t>	Phân tích theo nhóm tuổi và BMI</a:t>
            </a:r>
          </a:p>
          <a:p>
            <a:pPr>
              <a:lnSpc>
                <a:spcPts val="13446"/>
              </a:lnSpc>
            </a:pPr>
            <a:endParaRPr lang="en-US" sz="5400" b="1">
              <a:solidFill>
                <a:srgbClr val="0C3571"/>
              </a:solidFill>
              <a:latin typeface="Montserrat" panose="00000500000000000000" pitchFamily="2" charset="0"/>
              <a:ea typeface="Anantason Bold"/>
              <a:cs typeface="Anantason Bold"/>
              <a:sym typeface="Anantason Bold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B880D190-4F60-2CFA-D561-7480AAF81EAF}"/>
              </a:ext>
            </a:extLst>
          </p:cNvPr>
          <p:cNvSpPr txBox="1"/>
          <p:nvPr/>
        </p:nvSpPr>
        <p:spPr>
          <a:xfrm>
            <a:off x="1558103" y="1953492"/>
            <a:ext cx="15171794" cy="6482800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t">
            <a:spAutoFit/>
          </a:bodyPr>
          <a:lstStyle/>
          <a:p>
            <a:pPr marL="367029" lvl="1" algn="just">
              <a:lnSpc>
                <a:spcPct val="150000"/>
              </a:lnSpc>
            </a:pPr>
            <a:r>
              <a:rPr lang="en-US" sz="3200" b="1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Phân bố bệnh theo độ tuổi</a:t>
            </a:r>
          </a:p>
          <a:p>
            <a:pPr marL="367029" lvl="1" algn="just">
              <a:lnSpc>
                <a:spcPct val="150000"/>
              </a:lnSpc>
            </a:pPr>
            <a:r>
              <a:rPr lang="en-US" sz="2800" b="1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Phân tầng theo độ tuổi:</a:t>
            </a:r>
            <a:r>
              <a:rPr lang="en-US" sz="2800">
                <a:solidFill>
                  <a:schemeClr val="tx2"/>
                </a:solidFill>
                <a:latin typeface="Montserrat" panose="00000500000000000000" pitchFamily="2" charset="0"/>
              </a:rPr>
              <a:t> </a:t>
            </a:r>
            <a:endParaRPr lang="en-US" sz="28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824229" lvl="2" algn="just">
              <a:lnSpc>
                <a:spcPct val="150000"/>
              </a:lnSpc>
            </a:pPr>
            <a:r>
              <a:rPr lang="en-US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21-30 tuổi: 20.7% tỷ lệ mắc bệnh </a:t>
            </a:r>
          </a:p>
          <a:p>
            <a:pPr marL="824229" lvl="2" algn="just">
              <a:lnSpc>
                <a:spcPct val="150000"/>
              </a:lnSpc>
            </a:pPr>
            <a:r>
              <a:rPr lang="en-US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31-40 tuổi: 47.6% tỷ lệ mắc bệnh </a:t>
            </a:r>
          </a:p>
          <a:p>
            <a:pPr marL="824229" lvl="2" algn="just">
              <a:lnSpc>
                <a:spcPct val="150000"/>
              </a:lnSpc>
            </a:pPr>
            <a:r>
              <a:rPr lang="en-US" sz="2800">
                <a:solidFill>
                  <a:schemeClr val="tx2"/>
                </a:solidFill>
                <a:latin typeface="Montserrat" panose="00000500000000000000" pitchFamily="2" charset="0"/>
              </a:rPr>
              <a:t>41-50 tuổi: 56.5% tỷ lệ mắc bệnh</a:t>
            </a:r>
          </a:p>
          <a:p>
            <a:pPr marL="824229" lvl="2" algn="just">
              <a:lnSpc>
                <a:spcPct val="150000"/>
              </a:lnSpc>
            </a:pPr>
            <a:r>
              <a:rPr lang="en-US" sz="2800">
                <a:solidFill>
                  <a:schemeClr val="tx2"/>
                </a:solidFill>
                <a:latin typeface="Montserrat" panose="00000500000000000000" pitchFamily="2" charset="0"/>
              </a:rPr>
              <a:t>&gt;50 tuổi: 47.4% tỷ lệ mắc bệnh </a:t>
            </a:r>
          </a:p>
          <a:p>
            <a:pPr marL="824229" lvl="2" algn="just">
              <a:lnSpc>
                <a:spcPct val="150000"/>
              </a:lnSpc>
            </a:pPr>
            <a:r>
              <a:rPr lang="en-US" sz="2800" b="1">
                <a:solidFill>
                  <a:schemeClr val="tx2"/>
                </a:solidFill>
                <a:latin typeface="Montserrat" panose="00000500000000000000" pitchFamily="2" charset="0"/>
              </a:rPr>
              <a:t>Nhận xét:</a:t>
            </a:r>
          </a:p>
          <a:p>
            <a:pPr marL="824229" lvl="2" algn="just">
              <a:lnSpc>
                <a:spcPct val="150000"/>
              </a:lnSpc>
            </a:pPr>
            <a:r>
              <a:rPr lang="en-US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Có xu hướng tăng tuyến tính theo tuổi</a:t>
            </a:r>
          </a:p>
          <a:p>
            <a:pPr marL="824229" lvl="2" algn="just">
              <a:lnSpc>
                <a:spcPct val="150000"/>
              </a:lnSpc>
            </a:pPr>
            <a:r>
              <a:rPr lang="en-US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Nhóm 21-30 tuổi cũng có tỷ lệ mắc bệnh cao</a:t>
            </a:r>
          </a:p>
          <a:p>
            <a:pPr marL="824229" lvl="2" algn="just">
              <a:lnSpc>
                <a:spcPct val="150000"/>
              </a:lnSpc>
            </a:pPr>
            <a:r>
              <a:rPr lang="en-US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Điều này phản ánh đặc thù di truyền của người Pima Indians</a:t>
            </a:r>
          </a:p>
        </p:txBody>
      </p:sp>
    </p:spTree>
    <p:extLst>
      <p:ext uri="{BB962C8B-B14F-4D97-AF65-F5344CB8AC3E}">
        <p14:creationId xmlns:p14="http://schemas.microsoft.com/office/powerpoint/2010/main" val="17876700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E35163-AF0E-4269-49A4-135961574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144FAEFC-2E9F-A156-29C2-1BA76B599605}"/>
              </a:ext>
            </a:extLst>
          </p:cNvPr>
          <p:cNvSpPr txBox="1"/>
          <p:nvPr/>
        </p:nvSpPr>
        <p:spPr>
          <a:xfrm>
            <a:off x="0" y="0"/>
            <a:ext cx="18288000" cy="31783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446"/>
              </a:lnSpc>
            </a:pPr>
            <a:r>
              <a:rPr lang="en-US" sz="5400" b="1">
                <a:solidFill>
                  <a:srgbClr val="0C3571"/>
                </a:solidFill>
                <a:latin typeface="Montserrat" panose="00000500000000000000" pitchFamily="2" charset="0"/>
                <a:ea typeface="Anantason Bold"/>
                <a:cs typeface="Anantason Bold"/>
                <a:sym typeface="Anantason Bold"/>
              </a:rPr>
              <a:t>	Phân tích theo nhóm tuổi và BMI</a:t>
            </a:r>
          </a:p>
          <a:p>
            <a:pPr>
              <a:lnSpc>
                <a:spcPts val="13446"/>
              </a:lnSpc>
            </a:pPr>
            <a:endParaRPr lang="en-US" sz="5400" b="1">
              <a:solidFill>
                <a:srgbClr val="0C3571"/>
              </a:solidFill>
              <a:latin typeface="Montserrat" panose="00000500000000000000" pitchFamily="2" charset="0"/>
              <a:ea typeface="Anantason Bold"/>
              <a:cs typeface="Anantason Bold"/>
              <a:sym typeface="Anantason Bold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29CB6EF-2DC3-2E0B-E2D1-B6F1520B8994}"/>
              </a:ext>
            </a:extLst>
          </p:cNvPr>
          <p:cNvSpPr txBox="1"/>
          <p:nvPr/>
        </p:nvSpPr>
        <p:spPr>
          <a:xfrm>
            <a:off x="1558103" y="1973401"/>
            <a:ext cx="15171794" cy="5928803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t">
            <a:spAutoFit/>
          </a:bodyPr>
          <a:lstStyle/>
          <a:p>
            <a:pPr marL="367029" lvl="1" algn="just">
              <a:lnSpc>
                <a:spcPct val="150000"/>
              </a:lnSpc>
            </a:pPr>
            <a:r>
              <a:rPr lang="en-US" sz="3200" b="1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Tiêu chuẩn chẩn đoán theo WHO &amp; NDDG</a:t>
            </a: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lvl="1">
              <a:lnSpc>
                <a:spcPct val="150000"/>
              </a:lnSpc>
            </a:pPr>
            <a:r>
              <a:rPr lang="vi-VN" sz="2800" b="1">
                <a:solidFill>
                  <a:schemeClr val="tx2"/>
                </a:solidFill>
                <a:latin typeface="Montserrat" panose="00000500000000000000" pitchFamily="2" charset="0"/>
              </a:rPr>
              <a:t>Đường huyết lúc đói (FPG):</a:t>
            </a:r>
            <a:r>
              <a:rPr lang="vi-VN" sz="2800">
                <a:solidFill>
                  <a:schemeClr val="tx2"/>
                </a:solidFill>
                <a:latin typeface="Montserrat" panose="00000500000000000000" pitchFamily="2" charset="0"/>
              </a:rPr>
              <a:t> ≥140 mg/dL.</a:t>
            </a:r>
          </a:p>
          <a:p>
            <a:pPr lvl="1">
              <a:lnSpc>
                <a:spcPct val="150000"/>
              </a:lnSpc>
            </a:pPr>
            <a:r>
              <a:rPr lang="vi-VN" sz="2800" b="1">
                <a:solidFill>
                  <a:schemeClr val="tx2"/>
                </a:solidFill>
                <a:latin typeface="Montserrat" panose="00000500000000000000" pitchFamily="2" charset="0"/>
              </a:rPr>
              <a:t>Nghiệm pháp OGTT (sau 2 giờ):</a:t>
            </a:r>
            <a:r>
              <a:rPr lang="vi-VN" sz="2800">
                <a:solidFill>
                  <a:schemeClr val="tx2"/>
                </a:solidFill>
                <a:latin typeface="Montserrat" panose="00000500000000000000" pitchFamily="2" charset="0"/>
              </a:rPr>
              <a:t> ≥200 mg/dL.</a:t>
            </a:r>
          </a:p>
          <a:p>
            <a:pPr lvl="1">
              <a:lnSpc>
                <a:spcPct val="150000"/>
              </a:lnSpc>
            </a:pPr>
            <a:r>
              <a:rPr lang="vi-VN" sz="2800" b="1">
                <a:solidFill>
                  <a:schemeClr val="tx2"/>
                </a:solidFill>
                <a:latin typeface="Montserrat" panose="00000500000000000000" pitchFamily="2" charset="0"/>
              </a:rPr>
              <a:t>Đặc điểm:</a:t>
            </a:r>
            <a:r>
              <a:rPr lang="vi-VN" sz="2800">
                <a:solidFill>
                  <a:schemeClr val="tx2"/>
                </a:solidFill>
                <a:latin typeface="Montserrat" panose="00000500000000000000" pitchFamily="2" charset="0"/>
              </a:rPr>
              <a:t> Tập trung vào việc xác định bệnh khi đã có nguy cơ biến chứng rõ rệt.</a:t>
            </a:r>
          </a:p>
          <a:p>
            <a:pPr lvl="1">
              <a:lnSpc>
                <a:spcPct val="150000"/>
              </a:lnSpc>
            </a:pPr>
            <a:r>
              <a:rPr lang="vi-VN" sz="2800" b="1">
                <a:solidFill>
                  <a:schemeClr val="tx2"/>
                </a:solidFill>
                <a:latin typeface="Montserrat" panose="00000500000000000000" pitchFamily="2" charset="0"/>
              </a:rPr>
              <a:t>Tiêu chuẩn WHO (Cập nhật - Phổ biến hiện nay)</a:t>
            </a:r>
          </a:p>
          <a:p>
            <a:pPr lvl="1">
              <a:lnSpc>
                <a:spcPct val="150000"/>
              </a:lnSpc>
            </a:pPr>
            <a:r>
              <a:rPr lang="vi-VN" sz="2800" b="1">
                <a:solidFill>
                  <a:schemeClr val="tx2"/>
                </a:solidFill>
                <a:latin typeface="Montserrat" panose="00000500000000000000" pitchFamily="2" charset="0"/>
              </a:rPr>
              <a:t>Đường huyết lúc đói (FPG):</a:t>
            </a:r>
            <a:r>
              <a:rPr lang="vi-VN" sz="2800">
                <a:solidFill>
                  <a:schemeClr val="tx2"/>
                </a:solidFill>
                <a:latin typeface="Montserrat" panose="00000500000000000000" pitchFamily="2" charset="0"/>
              </a:rPr>
              <a:t> ≥126 mg/dL (Hạ ngưỡng để phát hiện sớm hơn).</a:t>
            </a:r>
          </a:p>
          <a:p>
            <a:pPr lvl="1">
              <a:lnSpc>
                <a:spcPct val="150000"/>
              </a:lnSpc>
            </a:pPr>
            <a:r>
              <a:rPr lang="vi-VN" sz="2800" b="1">
                <a:solidFill>
                  <a:schemeClr val="tx2"/>
                </a:solidFill>
                <a:latin typeface="Montserrat" panose="00000500000000000000" pitchFamily="2" charset="0"/>
              </a:rPr>
              <a:t>Nghiệm pháp OGTT (sau 2 giờ):</a:t>
            </a:r>
            <a:r>
              <a:rPr lang="vi-VN" sz="2800">
                <a:solidFill>
                  <a:schemeClr val="tx2"/>
                </a:solidFill>
                <a:latin typeface="Montserrat" panose="00000500000000000000" pitchFamily="2" charset="0"/>
              </a:rPr>
              <a:t> ≥200 mg/dL.</a:t>
            </a:r>
          </a:p>
          <a:p>
            <a:pPr lvl="1">
              <a:lnSpc>
                <a:spcPct val="150000"/>
              </a:lnSpc>
            </a:pPr>
            <a:r>
              <a:rPr lang="vi-VN" sz="2800" b="1">
                <a:solidFill>
                  <a:schemeClr val="tx2"/>
                </a:solidFill>
                <a:latin typeface="Montserrat" panose="00000500000000000000" pitchFamily="2" charset="0"/>
              </a:rPr>
              <a:t>HbA1c:</a:t>
            </a:r>
            <a:r>
              <a:rPr lang="vi-VN" sz="2800">
                <a:solidFill>
                  <a:schemeClr val="tx2"/>
                </a:solidFill>
                <a:latin typeface="Montserrat" panose="00000500000000000000" pitchFamily="2" charset="0"/>
              </a:rPr>
              <a:t> ≥6.5% (Phản ánh trung bình 3 tháng).</a:t>
            </a:r>
          </a:p>
        </p:txBody>
      </p:sp>
    </p:spTree>
    <p:extLst>
      <p:ext uri="{BB962C8B-B14F-4D97-AF65-F5344CB8AC3E}">
        <p14:creationId xmlns:p14="http://schemas.microsoft.com/office/powerpoint/2010/main" val="17867520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4013ED-8560-5B04-FAED-8E8679E7C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D429AE5A-5B3D-ED69-19EB-7122F7BD984B}"/>
              </a:ext>
            </a:extLst>
          </p:cNvPr>
          <p:cNvSpPr txBox="1"/>
          <p:nvPr/>
        </p:nvSpPr>
        <p:spPr>
          <a:xfrm>
            <a:off x="0" y="0"/>
            <a:ext cx="18288000" cy="14599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446"/>
              </a:lnSpc>
            </a:pPr>
            <a:r>
              <a:rPr lang="en-US" sz="5400" b="1">
                <a:solidFill>
                  <a:srgbClr val="0C3571"/>
                </a:solidFill>
                <a:latin typeface="Montserrat" panose="00000500000000000000" pitchFamily="2" charset="0"/>
                <a:ea typeface="Anantason Bold"/>
                <a:cs typeface="Anantason Bold"/>
                <a:sym typeface="Anantason Bold"/>
              </a:rPr>
              <a:t>	Phân tích theo nhóm tuổi và BMI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782EEA9A-3D72-A3E9-1F88-40F8254E0069}"/>
              </a:ext>
            </a:extLst>
          </p:cNvPr>
          <p:cNvSpPr txBox="1"/>
          <p:nvPr/>
        </p:nvSpPr>
        <p:spPr>
          <a:xfrm>
            <a:off x="1558103" y="1790700"/>
            <a:ext cx="15171794" cy="6564682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t">
            <a:spAutoFit/>
          </a:bodyPr>
          <a:lstStyle/>
          <a:p>
            <a:pPr marL="367029" lvl="1" algn="just">
              <a:lnSpc>
                <a:spcPct val="150000"/>
              </a:lnSpc>
            </a:pPr>
            <a:r>
              <a:rPr lang="en-US" sz="3200" b="1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Yếu tố nguy cơ ở từng nhóm tuổi</a:t>
            </a: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C6B2EA-CCE9-B0AE-3A4C-C9A26851A5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4055" y="2705100"/>
            <a:ext cx="7139890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8515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8A52D0-2157-BA16-3437-3ED0879DF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D540C7AA-4B0D-7976-E09B-C5E717F05097}"/>
              </a:ext>
            </a:extLst>
          </p:cNvPr>
          <p:cNvSpPr txBox="1"/>
          <p:nvPr/>
        </p:nvSpPr>
        <p:spPr>
          <a:xfrm>
            <a:off x="0" y="0"/>
            <a:ext cx="18288000" cy="14599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446"/>
              </a:lnSpc>
            </a:pPr>
            <a:r>
              <a:rPr lang="en-US" sz="5400" b="1">
                <a:solidFill>
                  <a:srgbClr val="0C3571"/>
                </a:solidFill>
                <a:latin typeface="Montserrat" panose="00000500000000000000" pitchFamily="2" charset="0"/>
                <a:ea typeface="Anantason Bold"/>
                <a:cs typeface="Anantason Bold"/>
                <a:sym typeface="Anantason Bold"/>
              </a:rPr>
              <a:t>	Phân tích theo nhóm tuổi và BMI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B757AFF5-3F90-B0FB-58E3-2333014952FA}"/>
              </a:ext>
            </a:extLst>
          </p:cNvPr>
          <p:cNvSpPr txBox="1"/>
          <p:nvPr/>
        </p:nvSpPr>
        <p:spPr>
          <a:xfrm>
            <a:off x="1558102" y="1638300"/>
            <a:ext cx="15358297" cy="8042010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t">
            <a:spAutoFit/>
          </a:bodyPr>
          <a:lstStyle/>
          <a:p>
            <a:pPr marL="367029" lvl="1" algn="just">
              <a:lnSpc>
                <a:spcPct val="150000"/>
              </a:lnSpc>
            </a:pPr>
            <a:r>
              <a:rPr lang="en-US" sz="3200" b="1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Yếu tố nguy cơ ở từng nhóm tuổi</a:t>
            </a: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D48F546-CD9E-56EF-984F-DDAC35B49A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0063172"/>
              </p:ext>
            </p:extLst>
          </p:nvPr>
        </p:nvGraphicFramePr>
        <p:xfrm>
          <a:off x="3103150" y="2450472"/>
          <a:ext cx="12268200" cy="6838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7050">
                  <a:extLst>
                    <a:ext uri="{9D8B030D-6E8A-4147-A177-3AD203B41FA5}">
                      <a16:colId xmlns:a16="http://schemas.microsoft.com/office/drawing/2014/main" val="1980508322"/>
                    </a:ext>
                  </a:extLst>
                </a:gridCol>
                <a:gridCol w="3067050">
                  <a:extLst>
                    <a:ext uri="{9D8B030D-6E8A-4147-A177-3AD203B41FA5}">
                      <a16:colId xmlns:a16="http://schemas.microsoft.com/office/drawing/2014/main" val="1002495072"/>
                    </a:ext>
                  </a:extLst>
                </a:gridCol>
                <a:gridCol w="3067050">
                  <a:extLst>
                    <a:ext uri="{9D8B030D-6E8A-4147-A177-3AD203B41FA5}">
                      <a16:colId xmlns:a16="http://schemas.microsoft.com/office/drawing/2014/main" val="3753595172"/>
                    </a:ext>
                  </a:extLst>
                </a:gridCol>
                <a:gridCol w="3067050">
                  <a:extLst>
                    <a:ext uri="{9D8B030D-6E8A-4147-A177-3AD203B41FA5}">
                      <a16:colId xmlns:a16="http://schemas.microsoft.com/office/drawing/2014/main" val="2243244639"/>
                    </a:ext>
                  </a:extLst>
                </a:gridCol>
              </a:tblGrid>
              <a:tr h="1016628">
                <a:tc>
                  <a:txBody>
                    <a:bodyPr/>
                    <a:lstStyle/>
                    <a:p>
                      <a:r>
                        <a:rPr lang="en-US" sz="2800">
                          <a:latin typeface="Montserrat" panose="00000500000000000000" pitchFamily="2" charset="0"/>
                        </a:rPr>
                        <a:t>Nhóm tuổi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latin typeface="Montserrat" panose="00000500000000000000" pitchFamily="2" charset="0"/>
                        </a:rPr>
                        <a:t>Yếu tố chính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latin typeface="Montserrat" panose="00000500000000000000" pitchFamily="2" charset="0"/>
                        </a:rPr>
                        <a:t>Đặc điểm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latin typeface="Montserrat" panose="00000500000000000000" pitchFamily="2" charset="0"/>
                        </a:rPr>
                        <a:t>Phương pháp can thiệp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1175940"/>
                  </a:ext>
                </a:extLst>
              </a:tr>
              <a:tr h="619218">
                <a:tc>
                  <a:txBody>
                    <a:bodyPr/>
                    <a:lstStyle/>
                    <a:p>
                      <a:r>
                        <a:rPr lang="en-US" sz="2800">
                          <a:latin typeface="Montserrat" panose="00000500000000000000" pitchFamily="2" charset="0"/>
                        </a:rPr>
                        <a:t>Trẻ (&lt;30 tuổi)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latin typeface="Montserrat" panose="00000500000000000000" pitchFamily="2" charset="0"/>
                        </a:rPr>
                        <a:t>BMI, kháng Insulin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latin typeface="Montserrat" panose="00000500000000000000" pitchFamily="2" charset="0"/>
                        </a:rPr>
                        <a:t>Béo phì sớm, kháng insulin do lối sống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latin typeface="Montserrat" panose="00000500000000000000" pitchFamily="2" charset="0"/>
                        </a:rPr>
                        <a:t>Kiểm soát cân nặng, thay đổi lối sống lành mạnh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2057909"/>
                  </a:ext>
                </a:extLst>
              </a:tr>
              <a:tr h="619218">
                <a:tc>
                  <a:txBody>
                    <a:bodyPr/>
                    <a:lstStyle/>
                    <a:p>
                      <a:r>
                        <a:rPr lang="en-US" sz="2800">
                          <a:latin typeface="Montserrat" panose="00000500000000000000" pitchFamily="2" charset="0"/>
                        </a:rPr>
                        <a:t>Trung niên (30-50 tuổi)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latin typeface="Montserrat" panose="00000500000000000000" pitchFamily="2" charset="0"/>
                        </a:rPr>
                        <a:t>Tích lũy đa sắc tố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latin typeface="Montserrat" panose="00000500000000000000" pitchFamily="2" charset="0"/>
                        </a:rPr>
                        <a:t>Tuổi tác, sinh sản, béo phì,...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Kết hợp kiểm soát chế độ ăn, vận động và tầm soát định kỳ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4476648"/>
                  </a:ext>
                </a:extLst>
              </a:tr>
              <a:tr h="619218">
                <a:tc>
                  <a:txBody>
                    <a:bodyPr/>
                    <a:lstStyle/>
                    <a:p>
                      <a:r>
                        <a:rPr lang="en-US" sz="2800">
                          <a:latin typeface="Montserrat" panose="00000500000000000000" pitchFamily="2" charset="0"/>
                        </a:rPr>
                        <a:t>Cao tuổi (&gt;50 tuổi)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latin typeface="Montserrat" panose="00000500000000000000" pitchFamily="2" charset="0"/>
                        </a:rPr>
                        <a:t>Glucose, Huyết áp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latin typeface="Montserrat" panose="00000500000000000000" pitchFamily="2" charset="0"/>
                        </a:rPr>
                        <a:t>Suy giảm chức năng nội tiết, biến chứng tim mạch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latin typeface="Montserrat" panose="00000500000000000000" pitchFamily="2" charset="0"/>
                        </a:rPr>
                        <a:t>Điều trị y tế, kiểm soát biến chứng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99009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21876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153A0E-75BE-5878-D741-DD7E3C055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D354BA26-6FBA-815D-C9C2-044C030D643D}"/>
              </a:ext>
            </a:extLst>
          </p:cNvPr>
          <p:cNvSpPr txBox="1"/>
          <p:nvPr/>
        </p:nvSpPr>
        <p:spPr>
          <a:xfrm>
            <a:off x="0" y="0"/>
            <a:ext cx="18288000" cy="14599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446"/>
              </a:lnSpc>
            </a:pPr>
            <a:r>
              <a:rPr lang="en-US" sz="5400" b="1">
                <a:solidFill>
                  <a:srgbClr val="0C3571"/>
                </a:solidFill>
                <a:latin typeface="Montserrat" panose="00000500000000000000" pitchFamily="2" charset="0"/>
                <a:ea typeface="Anantason Bold"/>
                <a:cs typeface="Anantason Bold"/>
                <a:sym typeface="Anantason Bold"/>
              </a:rPr>
              <a:t>	Phân tích theo chỉ số BMI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DB7A9ACE-B9DA-A3F1-3BDC-DE3495DB7DFE}"/>
              </a:ext>
            </a:extLst>
          </p:cNvPr>
          <p:cNvSpPr txBox="1"/>
          <p:nvPr/>
        </p:nvSpPr>
        <p:spPr>
          <a:xfrm>
            <a:off x="1007651" y="1630326"/>
            <a:ext cx="16272698" cy="7211013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t">
            <a:spAutoFit/>
          </a:bodyPr>
          <a:lstStyle/>
          <a:p>
            <a:pPr marL="367029" lvl="1" algn="just">
              <a:lnSpc>
                <a:spcPct val="150000"/>
              </a:lnSpc>
            </a:pPr>
            <a:r>
              <a:rPr lang="en-US" sz="3200" b="1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Phân loại BMI và tỷ lệ mắc bệnh</a:t>
            </a:r>
          </a:p>
          <a:p>
            <a:pPr marL="367029" lvl="1" algn="just">
              <a:lnSpc>
                <a:spcPct val="150000"/>
              </a:lnSpc>
            </a:pPr>
            <a:r>
              <a:rPr lang="en-US" sz="2800" b="1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Theo phân loại WHO:</a:t>
            </a:r>
            <a:r>
              <a:rPr lang="en-US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&gt;18.5 (gầy), 	18.5-24.9 (bình thường), 25-29.9 (thừa cân),</a:t>
            </a:r>
            <a:r>
              <a:rPr lang="en-US" sz="2800" u="sng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&gt;</a:t>
            </a:r>
            <a:r>
              <a:rPr lang="en-US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30 (béo phì.</a:t>
            </a: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7A12AE-C13E-6C00-F767-AF780D4F94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5561" y="3009900"/>
            <a:ext cx="5736877" cy="5513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3393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F596A9-B3F7-CC03-39A9-01EB7F80F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E33247B5-B67F-9D84-A3A9-CF1DC9F81F03}"/>
              </a:ext>
            </a:extLst>
          </p:cNvPr>
          <p:cNvSpPr txBox="1"/>
          <p:nvPr/>
        </p:nvSpPr>
        <p:spPr>
          <a:xfrm>
            <a:off x="0" y="0"/>
            <a:ext cx="18288000" cy="14599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446"/>
              </a:lnSpc>
            </a:pPr>
            <a:r>
              <a:rPr lang="en-US" sz="5400" b="1">
                <a:solidFill>
                  <a:srgbClr val="0C3571"/>
                </a:solidFill>
                <a:latin typeface="Montserrat" panose="00000500000000000000" pitchFamily="2" charset="0"/>
                <a:ea typeface="Anantason Bold"/>
                <a:cs typeface="Anantason Bold"/>
                <a:sym typeface="Anantason Bold"/>
              </a:rPr>
              <a:t>	Phân tích theo chỉ số BMI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4ACFAC23-6CDD-4D00-6DEF-91F7A810AB9A}"/>
              </a:ext>
            </a:extLst>
          </p:cNvPr>
          <p:cNvSpPr txBox="1"/>
          <p:nvPr/>
        </p:nvSpPr>
        <p:spPr>
          <a:xfrm>
            <a:off x="190500" y="1714500"/>
            <a:ext cx="17906999" cy="9242338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t">
            <a:spAutoFit/>
          </a:bodyPr>
          <a:lstStyle/>
          <a:p>
            <a:pPr marL="367029" lvl="1" algn="just">
              <a:lnSpc>
                <a:spcPct val="150000"/>
              </a:lnSpc>
            </a:pPr>
            <a:r>
              <a:rPr lang="en-US" sz="3200" b="1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Mối quan hệ giữa béo phì và đái tháo đường</a:t>
            </a: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r>
              <a:rPr lang="en-US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Tỷ lệ mắc bệnh tăng dần theo BMI, cao nhất ở nhóm béo phì (45%).</a:t>
            </a:r>
          </a:p>
          <a:p>
            <a:pPr marL="367029" lvl="1" algn="just">
              <a:lnSpc>
                <a:spcPct val="150000"/>
              </a:lnSpc>
            </a:pPr>
            <a:r>
              <a:rPr lang="en-US" sz="2800" b="1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Cơ chế sinh bệnh: </a:t>
            </a:r>
            <a:r>
              <a:rPr lang="en-US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Béo phì làm tăng kháng insulin, tăng viêm mãn tính, rối loạn lipid máu, stress oxy hóa.</a:t>
            </a: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71EBE8C-0586-D9C9-80F1-115061C168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621321"/>
              </p:ext>
            </p:extLst>
          </p:nvPr>
        </p:nvGraphicFramePr>
        <p:xfrm>
          <a:off x="1485900" y="3009900"/>
          <a:ext cx="15316200" cy="435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3240">
                  <a:extLst>
                    <a:ext uri="{9D8B030D-6E8A-4147-A177-3AD203B41FA5}">
                      <a16:colId xmlns:a16="http://schemas.microsoft.com/office/drawing/2014/main" val="780261336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3682211704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3944705301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1295260551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602318160"/>
                    </a:ext>
                  </a:extLst>
                </a:gridCol>
              </a:tblGrid>
              <a:tr h="853440"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Nhóm BMI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Tổng số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Số ca mắc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Tỷ lệ mắc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BMI Trung binh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0674874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r>
                        <a:rPr lang="en-US" sz="2800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Gầy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18.2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1376627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r>
                        <a:rPr lang="en-US" sz="2800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Bình thường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22.8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7157491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r>
                        <a:rPr lang="en-US" sz="2800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Thừa cân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22%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27.5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563095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r>
                        <a:rPr lang="en-US" sz="2800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Béo phì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451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203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36.5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00017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62015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1FA4FE-7789-81DC-D3D5-D71C5196D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2445B77F-C0E4-F7D2-4768-EDAB4C619AA6}"/>
              </a:ext>
            </a:extLst>
          </p:cNvPr>
          <p:cNvSpPr txBox="1"/>
          <p:nvPr/>
        </p:nvSpPr>
        <p:spPr>
          <a:xfrm>
            <a:off x="0" y="0"/>
            <a:ext cx="18288000" cy="14599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446"/>
              </a:lnSpc>
            </a:pPr>
            <a:r>
              <a:rPr lang="en-US" sz="5400" b="1">
                <a:solidFill>
                  <a:srgbClr val="0C3571"/>
                </a:solidFill>
                <a:latin typeface="Montserrat" panose="00000500000000000000" pitchFamily="2" charset="0"/>
                <a:ea typeface="Anantason Bold"/>
                <a:cs typeface="Anantason Bold"/>
                <a:sym typeface="Anantason Bold"/>
              </a:rPr>
              <a:t>	Phân tích theo chỉ số BMI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F846D949-92D1-1886-4532-2B3A51041B5E}"/>
              </a:ext>
            </a:extLst>
          </p:cNvPr>
          <p:cNvSpPr txBox="1"/>
          <p:nvPr/>
        </p:nvSpPr>
        <p:spPr>
          <a:xfrm>
            <a:off x="1558103" y="1500176"/>
            <a:ext cx="15171794" cy="7867795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t">
            <a:spAutoFit/>
          </a:bodyPr>
          <a:lstStyle/>
          <a:p>
            <a:pPr marL="367029" lvl="1" algn="just">
              <a:lnSpc>
                <a:spcPct val="150000"/>
              </a:lnSpc>
            </a:pPr>
            <a:r>
              <a:rPr lang="en-US" sz="3200" b="1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BMI kết hợp với các yếu tố khác</a:t>
            </a: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r>
              <a:rPr lang="en-US" sz="2800" b="1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Xu hướng tổng thể:</a:t>
            </a:r>
          </a:p>
          <a:p>
            <a:pPr marL="367029" lvl="1" algn="just">
              <a:lnSpc>
                <a:spcPct val="150000"/>
              </a:lnSpc>
            </a:pPr>
            <a:r>
              <a:rPr lang="vi-VN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Điểm </a:t>
            </a:r>
            <a:r>
              <a:rPr lang="en-US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đỏ</a:t>
            </a:r>
            <a:r>
              <a:rPr lang="vi-VN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(</a:t>
            </a:r>
            <a:r>
              <a:rPr lang="en-US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mắc bệnh</a:t>
            </a:r>
            <a:r>
              <a:rPr lang="vi-VN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) tập trung ở vùng BMI</a:t>
            </a:r>
            <a:endParaRPr lang="en-US" sz="2800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r>
              <a:rPr lang="vi-VN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cao + Glucose cao.</a:t>
            </a:r>
            <a:endParaRPr lang="en-US" sz="2800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r>
              <a:rPr lang="vi-VN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Điểm </a:t>
            </a:r>
            <a:r>
              <a:rPr lang="en-US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xanh</a:t>
            </a:r>
            <a:r>
              <a:rPr lang="vi-VN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(</a:t>
            </a:r>
            <a:r>
              <a:rPr lang="en-US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không mắc</a:t>
            </a:r>
            <a:r>
              <a:rPr lang="vi-VN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) tập trung ở vùng BMI</a:t>
            </a:r>
            <a:endParaRPr lang="en-US" sz="2800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r>
              <a:rPr lang="vi-VN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thấp + Glucose thấp</a:t>
            </a:r>
            <a:endParaRPr lang="en-US" sz="2800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r>
              <a:rPr lang="vi-VN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BMI tăng → Glucose cũng tăng, mối liên hệ rõ</a:t>
            </a:r>
            <a:endParaRPr lang="en-US" sz="2800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r>
              <a:rPr lang="vi-VN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rệt hơn ở nhóm bệnh.</a:t>
            </a:r>
          </a:p>
          <a:p>
            <a:pPr marL="367029" lvl="1" algn="just">
              <a:lnSpc>
                <a:spcPct val="150000"/>
              </a:lnSpc>
            </a:pPr>
            <a:r>
              <a:rPr lang="vi-VN" sz="2800" b="1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Ý nghĩa:</a:t>
            </a:r>
            <a:endParaRPr lang="en-US" sz="28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r>
              <a:rPr lang="vi-VN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Cần kiểm soát đồng thời cả BMI và Glucose</a:t>
            </a:r>
            <a:endParaRPr lang="en-US" sz="2800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r>
              <a:rPr lang="vi-VN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để phòng ngừa và quản lý đái tháo đường.</a:t>
            </a:r>
            <a:endParaRPr lang="en-US" sz="2800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2638AC-72EB-2288-A04C-AE7BCFFDDC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0800" y="2628900"/>
            <a:ext cx="6334913" cy="5117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4968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3AB226-ABE5-972D-94F1-90F5D7A1D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E7C3E78F-F599-AA8F-7AEB-7A60DD6A108C}"/>
              </a:ext>
            </a:extLst>
          </p:cNvPr>
          <p:cNvSpPr txBox="1"/>
          <p:nvPr/>
        </p:nvSpPr>
        <p:spPr>
          <a:xfrm>
            <a:off x="0" y="0"/>
            <a:ext cx="18288000" cy="14599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446"/>
              </a:lnSpc>
            </a:pPr>
            <a:r>
              <a:rPr lang="en-US" sz="5400" b="1">
                <a:solidFill>
                  <a:srgbClr val="0C3571"/>
                </a:solidFill>
                <a:latin typeface="Montserrat" panose="00000500000000000000" pitchFamily="2" charset="0"/>
                <a:ea typeface="Anantason Bold"/>
                <a:cs typeface="Anantason Bold"/>
                <a:sym typeface="Anantason Bold"/>
              </a:rPr>
              <a:t>	Phân tích theo Glucose và tuổi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7738B1D-6F6D-55BA-F8BF-2A2A58D0F878}"/>
              </a:ext>
            </a:extLst>
          </p:cNvPr>
          <p:cNvSpPr txBox="1"/>
          <p:nvPr/>
        </p:nvSpPr>
        <p:spPr>
          <a:xfrm>
            <a:off x="1558103" y="1866900"/>
            <a:ext cx="15171794" cy="7775462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t">
            <a:spAutoFit/>
          </a:bodyPr>
          <a:lstStyle/>
          <a:p>
            <a:pPr marL="367029" lvl="1" algn="just">
              <a:lnSpc>
                <a:spcPct val="150000"/>
              </a:lnSpc>
            </a:pPr>
            <a:r>
              <a:rPr lang="en-US" sz="3200" b="1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Glucose với tuổi</a:t>
            </a:r>
          </a:p>
          <a:p>
            <a:pPr marL="367029" lvl="1" algn="just">
              <a:lnSpc>
                <a:spcPct val="150000"/>
              </a:lnSpc>
            </a:pPr>
            <a:r>
              <a:rPr lang="en-US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Các chấm đỏ tập trung dày đặc ở vùng Glucose &gt; 125 mg/dL, bất kể độ tuổi.</a:t>
            </a:r>
          </a:p>
          <a:p>
            <a:pPr marL="367029" lvl="1" algn="just">
              <a:lnSpc>
                <a:spcPct val="150000"/>
              </a:lnSpc>
            </a:pPr>
            <a:r>
              <a:rPr lang="en-US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Ở mức Glucose trung bình (100-140 mg/dL), các chấm đỏ và xanh đan xen, cho thấy khó dự báo nếu chỉ dựa vào một chỉ số đơn lẻ. </a:t>
            </a:r>
          </a:p>
          <a:p>
            <a:pPr marL="367029" lvl="1" algn="just">
              <a:lnSpc>
                <a:spcPct val="150000"/>
              </a:lnSpc>
            </a:pPr>
            <a:endParaRPr lang="en-US" sz="2800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2800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2800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2800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2800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2800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2800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2800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FDB826-66C4-0AC4-9AFE-3EE3062CE0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5575" y="4543231"/>
            <a:ext cx="6496850" cy="5115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1702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DFADC6-7998-7E41-8B41-C23725EE4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513B655F-27B1-1BEB-B4A9-F15B0D091FCB}"/>
              </a:ext>
            </a:extLst>
          </p:cNvPr>
          <p:cNvSpPr txBox="1"/>
          <p:nvPr/>
        </p:nvSpPr>
        <p:spPr>
          <a:xfrm>
            <a:off x="0" y="0"/>
            <a:ext cx="18288000" cy="14599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446"/>
              </a:lnSpc>
            </a:pPr>
            <a:r>
              <a:rPr lang="en-US" sz="5400" b="1">
                <a:solidFill>
                  <a:srgbClr val="0C3571"/>
                </a:solidFill>
                <a:latin typeface="Montserrat" panose="00000500000000000000" pitchFamily="2" charset="0"/>
                <a:ea typeface="Anantason Bold"/>
                <a:cs typeface="Anantason Bold"/>
                <a:sym typeface="Anantason Bold"/>
              </a:rPr>
              <a:t>	Phân tích Glucose và Insulin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BCEA1CAD-0289-02EA-F509-B76C6DA1FB74}"/>
              </a:ext>
            </a:extLst>
          </p:cNvPr>
          <p:cNvSpPr txBox="1"/>
          <p:nvPr/>
        </p:nvSpPr>
        <p:spPr>
          <a:xfrm>
            <a:off x="1558103" y="1861159"/>
            <a:ext cx="15171794" cy="6564682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t">
            <a:spAutoFit/>
          </a:bodyPr>
          <a:lstStyle/>
          <a:p>
            <a:pPr marL="367029" lvl="1" algn="just">
              <a:lnSpc>
                <a:spcPct val="150000"/>
              </a:lnSpc>
            </a:pPr>
            <a:r>
              <a:rPr lang="en-US" sz="3200" b="1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Phân bố bệnh theo nồng độ Glucose</a:t>
            </a: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BF83FB-895E-9BA9-34FB-35EC230249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8718" y="2531269"/>
            <a:ext cx="5510564" cy="5224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0901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C81836-719C-1047-E019-ADEA1229F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3044DD7B-041B-17F8-393F-DE5ACFBE3B8B}"/>
              </a:ext>
            </a:extLst>
          </p:cNvPr>
          <p:cNvSpPr txBox="1"/>
          <p:nvPr/>
        </p:nvSpPr>
        <p:spPr>
          <a:xfrm>
            <a:off x="0" y="0"/>
            <a:ext cx="18288000" cy="14599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446"/>
              </a:lnSpc>
            </a:pPr>
            <a:r>
              <a:rPr lang="en-US" sz="5400" b="1">
                <a:solidFill>
                  <a:srgbClr val="0C3571"/>
                </a:solidFill>
                <a:latin typeface="Montserrat" panose="00000500000000000000" pitchFamily="2" charset="0"/>
                <a:ea typeface="Anantason Bold"/>
                <a:cs typeface="Anantason Bold"/>
                <a:sym typeface="Anantason Bold"/>
              </a:rPr>
              <a:t>	Phân tích Glucose và Insulin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767B57D5-44C1-D9F4-9339-84D53E53409A}"/>
              </a:ext>
            </a:extLst>
          </p:cNvPr>
          <p:cNvSpPr txBox="1"/>
          <p:nvPr/>
        </p:nvSpPr>
        <p:spPr>
          <a:xfrm>
            <a:off x="1558103" y="1866900"/>
            <a:ext cx="15171794" cy="545668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t">
            <a:spAutoFit/>
          </a:bodyPr>
          <a:lstStyle/>
          <a:p>
            <a:pPr marL="367029" lvl="1" algn="just">
              <a:lnSpc>
                <a:spcPct val="150000"/>
              </a:lnSpc>
            </a:pPr>
            <a:r>
              <a:rPr lang="en-US" sz="3200" b="1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Phân bố bệnh theo nồng độ Glucose</a:t>
            </a:r>
          </a:p>
          <a:p>
            <a:pPr marL="367029" lvl="1" algn="just">
              <a:lnSpc>
                <a:spcPct val="150000"/>
              </a:lnSpc>
            </a:pPr>
            <a:r>
              <a:rPr lang="en-US" sz="3200" b="1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	</a:t>
            </a:r>
          </a:p>
          <a:p>
            <a:pPr marL="367029" lvl="1" algn="just">
              <a:lnSpc>
                <a:spcPct val="150000"/>
              </a:lnSpc>
            </a:pPr>
            <a:r>
              <a:rPr lang="en-US" sz="2800" b="1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Theo tiêu chuẩn WHO:</a:t>
            </a:r>
          </a:p>
          <a:p>
            <a:pPr marL="367029" lvl="1" algn="just">
              <a:lnSpc>
                <a:spcPct val="150000"/>
              </a:lnSpc>
            </a:pPr>
            <a:r>
              <a:rPr lang="en-US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	Normal (&lt;100 mg/dL): có 179/7</a:t>
            </a:r>
            <a:r>
              <a:rPr lang="vi-VN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68</a:t>
            </a:r>
            <a:r>
              <a:rPr lang="en-US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người (24.9%) và 7.3% mắc bệnh.</a:t>
            </a:r>
          </a:p>
          <a:p>
            <a:pPr marL="367029" lvl="1" algn="just">
              <a:lnSpc>
                <a:spcPct val="150000"/>
              </a:lnSpc>
            </a:pPr>
            <a:r>
              <a:rPr lang="en-US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	Prediabetes (100-125 mg/dL): có 258/7</a:t>
            </a:r>
            <a:r>
              <a:rPr lang="vi-VN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68</a:t>
            </a:r>
            <a:r>
              <a:rPr lang="en-US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người (35.8%) và 27.5% mắc bệnh.</a:t>
            </a:r>
          </a:p>
          <a:p>
            <a:pPr marL="367029" lvl="1" algn="just">
              <a:lnSpc>
                <a:spcPct val="150000"/>
              </a:lnSpc>
            </a:pPr>
            <a:r>
              <a:rPr lang="en-US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	Diabetes ( </a:t>
            </a:r>
            <a:r>
              <a:rPr lang="en-US" sz="2800" u="sng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&gt;</a:t>
            </a:r>
            <a:r>
              <a:rPr lang="en-US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126 mg/dL): có 283/7</a:t>
            </a:r>
            <a:r>
              <a:rPr lang="vi-VN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68</a:t>
            </a:r>
            <a:r>
              <a:rPr lang="en-US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người (39.3%), 58% mắc bệnh.</a:t>
            </a:r>
          </a:p>
          <a:p>
            <a:pPr marL="367029" lvl="1" algn="just">
              <a:lnSpc>
                <a:spcPct val="150000"/>
              </a:lnSpc>
            </a:pPr>
            <a:r>
              <a:rPr lang="en-US" sz="32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100 mg/dL là giá trị </a:t>
            </a:r>
            <a:r>
              <a:rPr lang="en-US" sz="3200" b="1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phổ biến </a:t>
            </a:r>
            <a:r>
              <a:rPr lang="en-US" sz="32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nhất.</a:t>
            </a:r>
          </a:p>
          <a:p>
            <a:pPr marL="367029" lvl="1" algn="just">
              <a:lnSpc>
                <a:spcPct val="150000"/>
              </a:lnSpc>
            </a:pPr>
            <a:endParaRPr lang="en-US" sz="3200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</p:txBody>
      </p:sp>
    </p:spTree>
    <p:extLst>
      <p:ext uri="{BB962C8B-B14F-4D97-AF65-F5344CB8AC3E}">
        <p14:creationId xmlns:p14="http://schemas.microsoft.com/office/powerpoint/2010/main" val="40439495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0EA863-612A-72D5-DF19-2DA1F0D57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075F97F6-C21A-2084-388A-32172C0D5E69}"/>
              </a:ext>
            </a:extLst>
          </p:cNvPr>
          <p:cNvSpPr txBox="1"/>
          <p:nvPr/>
        </p:nvSpPr>
        <p:spPr>
          <a:xfrm>
            <a:off x="0" y="0"/>
            <a:ext cx="18288000" cy="14599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446"/>
              </a:lnSpc>
            </a:pPr>
            <a:r>
              <a:rPr lang="en-US" sz="5400" b="1">
                <a:solidFill>
                  <a:srgbClr val="0C3571"/>
                </a:solidFill>
                <a:latin typeface="Montserrat" panose="00000500000000000000" pitchFamily="2" charset="0"/>
                <a:ea typeface="Anantason Bold"/>
                <a:cs typeface="Anantason Bold"/>
                <a:sym typeface="Anantason Bold"/>
              </a:rPr>
              <a:t>	Phân tích Glucose và Insulin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82B4104C-E474-7885-4142-BD8D97F6B53E}"/>
              </a:ext>
            </a:extLst>
          </p:cNvPr>
          <p:cNvSpPr txBox="1"/>
          <p:nvPr/>
        </p:nvSpPr>
        <p:spPr>
          <a:xfrm>
            <a:off x="1558103" y="1790700"/>
            <a:ext cx="15171794" cy="7775462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t">
            <a:spAutoFit/>
          </a:bodyPr>
          <a:lstStyle/>
          <a:p>
            <a:pPr marL="367029" lvl="1" algn="just">
              <a:lnSpc>
                <a:spcPct val="150000"/>
              </a:lnSpc>
            </a:pPr>
            <a:r>
              <a:rPr lang="en-US" sz="3200" b="1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Mối quan hệ giữa Glucose và Insulin</a:t>
            </a:r>
          </a:p>
          <a:p>
            <a:pPr marL="367029" lvl="1" algn="just">
              <a:lnSpc>
                <a:spcPct val="150000"/>
              </a:lnSpc>
            </a:pPr>
            <a:r>
              <a:rPr lang="en-US" sz="2800" b="1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Glucose – Insulin: </a:t>
            </a:r>
          </a:p>
          <a:p>
            <a:pPr marL="824229" lvl="2" algn="just">
              <a:lnSpc>
                <a:spcPct val="150000"/>
              </a:lnSpc>
            </a:pPr>
            <a:r>
              <a:rPr lang="en-US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Khi Glucose tăng -&gt; Insulin cũng tăng theo để điều tiết (mối quan hệ đồng biến)</a:t>
            </a:r>
          </a:p>
          <a:p>
            <a:pPr marL="824229" lvl="2" algn="just">
              <a:lnSpc>
                <a:spcPct val="150000"/>
              </a:lnSpc>
            </a:pPr>
            <a:r>
              <a:rPr lang="en-US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Lý do sinh bệnh có thể là: kháng insulin, thiếu insulin hoặc cả hai.</a:t>
            </a:r>
          </a:p>
          <a:p>
            <a:pPr marL="824229" lvl="2" algn="just">
              <a:lnSpc>
                <a:spcPct val="150000"/>
              </a:lnSpc>
            </a:pPr>
            <a:endParaRPr lang="en-US" sz="2800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824229" lvl="2" algn="just">
              <a:lnSpc>
                <a:spcPct val="150000"/>
              </a:lnSpc>
            </a:pPr>
            <a:endParaRPr lang="en-US" sz="2800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824229" lvl="2" algn="just">
              <a:lnSpc>
                <a:spcPct val="150000"/>
              </a:lnSpc>
            </a:pPr>
            <a:endParaRPr lang="en-US" sz="2800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824229" lvl="2" algn="just">
              <a:lnSpc>
                <a:spcPct val="150000"/>
              </a:lnSpc>
            </a:pPr>
            <a:endParaRPr lang="en-US" sz="2800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824229" lvl="2" algn="just">
              <a:lnSpc>
                <a:spcPct val="150000"/>
              </a:lnSpc>
            </a:pPr>
            <a:endParaRPr lang="en-US" sz="2800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r>
              <a:rPr lang="en-US" sz="2800" b="1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					</a:t>
            </a:r>
          </a:p>
          <a:p>
            <a:pPr marL="3567429" lvl="8" algn="just">
              <a:lnSpc>
                <a:spcPct val="150000"/>
              </a:lnSpc>
            </a:pPr>
            <a:endParaRPr lang="en-US" sz="28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567429" lvl="8" algn="just">
              <a:lnSpc>
                <a:spcPct val="150000"/>
              </a:lnSpc>
            </a:pPr>
            <a:endParaRPr lang="en-US" sz="28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3E800A-4F47-E611-76A3-4D8D2C36B6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7900" y="4457700"/>
            <a:ext cx="6172200" cy="4931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0024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9406AF-1CE4-7FE8-2F94-C0A143457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C02B5C89-64DB-BC84-5B3E-55CF87522DDD}"/>
              </a:ext>
            </a:extLst>
          </p:cNvPr>
          <p:cNvSpPr txBox="1"/>
          <p:nvPr/>
        </p:nvSpPr>
        <p:spPr>
          <a:xfrm>
            <a:off x="0" y="0"/>
            <a:ext cx="18288000" cy="14599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446"/>
              </a:lnSpc>
            </a:pPr>
            <a:r>
              <a:rPr lang="en-US" sz="5400" b="1">
                <a:solidFill>
                  <a:srgbClr val="0C3571"/>
                </a:solidFill>
                <a:latin typeface="Montserrat" panose="00000500000000000000" pitchFamily="2" charset="0"/>
                <a:ea typeface="Anantason Bold"/>
                <a:cs typeface="Anantason Bold"/>
                <a:sym typeface="Anantason Bold"/>
              </a:rPr>
              <a:t>	Phân tích yếu tố di truyền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019E20CD-2463-ECC7-01C7-6BD101D020BA}"/>
              </a:ext>
            </a:extLst>
          </p:cNvPr>
          <p:cNvSpPr txBox="1"/>
          <p:nvPr/>
        </p:nvSpPr>
        <p:spPr>
          <a:xfrm>
            <a:off x="1558103" y="1866900"/>
            <a:ext cx="15171794" cy="6113468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t">
            <a:spAutoFit/>
          </a:bodyPr>
          <a:lstStyle/>
          <a:p>
            <a:pPr marL="367029" lvl="1" algn="just">
              <a:lnSpc>
                <a:spcPct val="150000"/>
              </a:lnSpc>
            </a:pPr>
            <a:r>
              <a:rPr lang="en-US" sz="3200" b="1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Hàm phả hệ đái tháo đường</a:t>
            </a: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2800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2800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2800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2800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2800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FB6D38-9128-40EA-9F46-13872274AE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0497" y="2647589"/>
            <a:ext cx="5327005" cy="4991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4047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ABE21D-C75C-1127-0F61-26B457134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F12A1DFC-FDE8-88B8-0DEC-C4874E88AC33}"/>
              </a:ext>
            </a:extLst>
          </p:cNvPr>
          <p:cNvSpPr txBox="1"/>
          <p:nvPr/>
        </p:nvSpPr>
        <p:spPr>
          <a:xfrm>
            <a:off x="0" y="0"/>
            <a:ext cx="18288000" cy="14599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446"/>
              </a:lnSpc>
            </a:pPr>
            <a:r>
              <a:rPr lang="en-US" sz="5400" b="1">
                <a:solidFill>
                  <a:srgbClr val="0C3571"/>
                </a:solidFill>
                <a:latin typeface="Montserrat" panose="00000500000000000000" pitchFamily="2" charset="0"/>
                <a:ea typeface="Anantason Bold"/>
                <a:cs typeface="Anantason Bold"/>
                <a:sym typeface="Anantason Bold"/>
              </a:rPr>
              <a:t>	Phân tích yếu tố di truyền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844C09C7-B4C4-DDB7-E4B9-D55D75DAD18A}"/>
              </a:ext>
            </a:extLst>
          </p:cNvPr>
          <p:cNvSpPr txBox="1"/>
          <p:nvPr/>
        </p:nvSpPr>
        <p:spPr>
          <a:xfrm>
            <a:off x="1558103" y="1866900"/>
            <a:ext cx="15171794" cy="5836470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t">
            <a:spAutoFit/>
          </a:bodyPr>
          <a:lstStyle/>
          <a:p>
            <a:pPr marL="367029" lvl="1" algn="just">
              <a:lnSpc>
                <a:spcPct val="150000"/>
              </a:lnSpc>
            </a:pPr>
            <a:r>
              <a:rPr lang="en-US" sz="3200" b="1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Tác động của yếu tố di truyền</a:t>
            </a:r>
          </a:p>
          <a:p>
            <a:pPr marL="367029" lvl="1" algn="just">
              <a:lnSpc>
                <a:spcPct val="150000"/>
              </a:lnSpc>
            </a:pPr>
            <a:endParaRPr lang="en-US" sz="2800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824229" lvl="2" algn="just">
              <a:lnSpc>
                <a:spcPct val="150000"/>
              </a:lnSpc>
            </a:pPr>
            <a:r>
              <a:rPr lang="vi-VN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Yếu tố di truyền (Diabetes Pedigree</a:t>
            </a:r>
            <a:endParaRPr lang="en-US" sz="2800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824229" lvl="2" algn="just">
              <a:lnSpc>
                <a:spcPct val="150000"/>
              </a:lnSpc>
            </a:pPr>
            <a:r>
              <a:rPr lang="vi-VN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Function) có sự khác biệt rõ rệt giữa hai</a:t>
            </a:r>
            <a:endParaRPr lang="en-US" sz="2800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824229" lvl="2" algn="just">
              <a:lnSpc>
                <a:spcPct val="150000"/>
              </a:lnSpc>
            </a:pPr>
            <a:r>
              <a:rPr lang="vi-VN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nhóm. Nhóm mắc bệnh có giá trị trung bình</a:t>
            </a:r>
            <a:endParaRPr lang="en-US" sz="2800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824229" lvl="2" algn="just">
              <a:lnSpc>
                <a:spcPct val="150000"/>
              </a:lnSpc>
            </a:pPr>
            <a:r>
              <a:rPr lang="vi-VN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cao hơn đáng kể (0.56 vs 0.43, p &lt; 0.001),</a:t>
            </a:r>
            <a:endParaRPr lang="en-US" sz="2800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824229" lvl="2" algn="just">
              <a:lnSpc>
                <a:spcPct val="150000"/>
              </a:lnSpc>
            </a:pPr>
            <a:r>
              <a:rPr lang="vi-VN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với tỷ lệ người có nguy cơ di truyền cao</a:t>
            </a:r>
            <a:endParaRPr lang="en-US" sz="2800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824229" lvl="2" algn="just">
              <a:lnSpc>
                <a:spcPct val="150000"/>
              </a:lnSpc>
            </a:pPr>
            <a:r>
              <a:rPr lang="vi-VN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(DPF &gt; 0.8) gấp 2-3 lần nhóm khỏe mạnh.</a:t>
            </a:r>
            <a:endParaRPr lang="en-US" sz="2800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824229" lvl="2" algn="just">
              <a:lnSpc>
                <a:spcPct val="150000"/>
              </a:lnSpc>
            </a:pPr>
            <a:endParaRPr lang="en-US" sz="2800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</p:txBody>
      </p:sp>
    </p:spTree>
    <p:extLst>
      <p:ext uri="{BB962C8B-B14F-4D97-AF65-F5344CB8AC3E}">
        <p14:creationId xmlns:p14="http://schemas.microsoft.com/office/powerpoint/2010/main" val="28139934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C81C32-A725-6999-2F33-9F78BE5E1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125D5C8F-E661-6D31-A612-7D23F35160E2}"/>
              </a:ext>
            </a:extLst>
          </p:cNvPr>
          <p:cNvSpPr txBox="1"/>
          <p:nvPr/>
        </p:nvSpPr>
        <p:spPr>
          <a:xfrm>
            <a:off x="0" y="0"/>
            <a:ext cx="18288000" cy="14599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446"/>
              </a:lnSpc>
            </a:pPr>
            <a:r>
              <a:rPr lang="en-US" sz="5400" b="1">
                <a:solidFill>
                  <a:srgbClr val="0C3571"/>
                </a:solidFill>
                <a:latin typeface="Montserrat" panose="00000500000000000000" pitchFamily="2" charset="0"/>
                <a:ea typeface="Anantason Bold"/>
                <a:cs typeface="Anantason Bold"/>
                <a:sym typeface="Anantason Bold"/>
              </a:rPr>
              <a:t>	Phân tích yếu tố di truyền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BBE327F0-337F-5D91-37E1-8E5B4FF8FB64}"/>
              </a:ext>
            </a:extLst>
          </p:cNvPr>
          <p:cNvSpPr txBox="1"/>
          <p:nvPr/>
        </p:nvSpPr>
        <p:spPr>
          <a:xfrm>
            <a:off x="1558103" y="1866900"/>
            <a:ext cx="15171794" cy="6564682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t">
            <a:spAutoFit/>
          </a:bodyPr>
          <a:lstStyle/>
          <a:p>
            <a:pPr marL="367029" lvl="1" algn="just">
              <a:lnSpc>
                <a:spcPct val="150000"/>
              </a:lnSpc>
            </a:pPr>
            <a:r>
              <a:rPr lang="en-US" sz="3200" b="1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Di truyền với các yếu tố khác</a:t>
            </a: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C11AAE-ECE9-4133-FCF9-562F826AB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4557" y="2667000"/>
            <a:ext cx="11818885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8444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0D52B1-9E6B-8088-BA5D-1ECACFE42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CE7B5390-F3B4-C8D9-ED34-9F69F282418D}"/>
              </a:ext>
            </a:extLst>
          </p:cNvPr>
          <p:cNvSpPr txBox="1"/>
          <p:nvPr/>
        </p:nvSpPr>
        <p:spPr>
          <a:xfrm>
            <a:off x="0" y="0"/>
            <a:ext cx="18288000" cy="14599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446"/>
              </a:lnSpc>
            </a:pPr>
            <a:r>
              <a:rPr lang="en-US" sz="5400" b="1">
                <a:solidFill>
                  <a:srgbClr val="0C3571"/>
                </a:solidFill>
                <a:latin typeface="Montserrat" panose="00000500000000000000" pitchFamily="2" charset="0"/>
                <a:ea typeface="Anantason Bold"/>
                <a:cs typeface="Anantason Bold"/>
                <a:sym typeface="Anantason Bold"/>
              </a:rPr>
              <a:t>     Phân tích theo số lần có thai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7574D811-5A2B-8968-E0C8-F9A6C71751A2}"/>
              </a:ext>
            </a:extLst>
          </p:cNvPr>
          <p:cNvSpPr txBox="1"/>
          <p:nvPr/>
        </p:nvSpPr>
        <p:spPr>
          <a:xfrm>
            <a:off x="1558103" y="2594597"/>
            <a:ext cx="15171794" cy="639046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t">
            <a:spAutoFit/>
          </a:bodyPr>
          <a:lstStyle/>
          <a:p>
            <a:pPr marL="367029" lvl="1" algn="just">
              <a:lnSpc>
                <a:spcPct val="150000"/>
              </a:lnSpc>
            </a:pPr>
            <a:r>
              <a:rPr lang="vi-VN" sz="2800" b="1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Nhóm mắc bệnh (Outcome=1):</a:t>
            </a:r>
          </a:p>
          <a:p>
            <a:pPr marL="367029" lvl="1" algn="just">
              <a:lnSpc>
                <a:spcPct val="150000"/>
              </a:lnSpc>
            </a:pPr>
            <a:r>
              <a:rPr lang="vi-VN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Trung vị cao hơn đáng kể (khoảng 4-5 lần)</a:t>
            </a:r>
          </a:p>
          <a:p>
            <a:pPr marL="367029" lvl="1" algn="just">
              <a:lnSpc>
                <a:spcPct val="150000"/>
              </a:lnSpc>
            </a:pPr>
            <a:r>
              <a:rPr lang="vi-VN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Nhiều outliers với số lần mang thai rất cao</a:t>
            </a:r>
          </a:p>
          <a:p>
            <a:pPr marL="367029" lvl="1" algn="just">
              <a:lnSpc>
                <a:spcPct val="150000"/>
              </a:lnSpc>
            </a:pPr>
            <a:r>
              <a:rPr lang="vi-VN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(10-17 lần)</a:t>
            </a:r>
          </a:p>
          <a:p>
            <a:pPr marL="367029" lvl="1" algn="just">
              <a:lnSpc>
                <a:spcPct val="150000"/>
              </a:lnSpc>
            </a:pPr>
            <a:r>
              <a:rPr lang="vi-VN" sz="2800" b="1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Nhóm không mắc (Outcome=0):</a:t>
            </a:r>
          </a:p>
          <a:p>
            <a:pPr marL="367029" lvl="1" algn="just">
              <a:lnSpc>
                <a:spcPct val="150000"/>
              </a:lnSpc>
            </a:pPr>
            <a:r>
              <a:rPr lang="vi-VN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Trung vị thấp hơn (khoảng 2-3 lần)</a:t>
            </a:r>
          </a:p>
          <a:p>
            <a:pPr marL="367029" lvl="1" algn="just">
              <a:lnSpc>
                <a:spcPct val="150000"/>
              </a:lnSpc>
            </a:pPr>
            <a:r>
              <a:rPr lang="vi-VN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Phân bố tập trung ở giá trị thấp</a:t>
            </a:r>
          </a:p>
          <a:p>
            <a:pPr marL="367029" lvl="1" algn="just">
              <a:lnSpc>
                <a:spcPct val="150000"/>
              </a:lnSpc>
            </a:pPr>
            <a:r>
              <a:rPr lang="vi-VN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Ít outliers ở giá trị cao</a:t>
            </a:r>
            <a:endParaRPr lang="en-US" sz="2800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2800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2800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3D6FB0-6F90-DAD9-4371-D90CDA8F20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2200" y="3112931"/>
            <a:ext cx="6001588" cy="5353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6247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46DF99-22AF-BC24-ED62-66AE82E69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035BB508-233C-3262-4A36-ECC8085EE88C}"/>
              </a:ext>
            </a:extLst>
          </p:cNvPr>
          <p:cNvSpPr txBox="1"/>
          <p:nvPr/>
        </p:nvSpPr>
        <p:spPr>
          <a:xfrm>
            <a:off x="0" y="0"/>
            <a:ext cx="18288000" cy="14599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446"/>
              </a:lnSpc>
            </a:pPr>
            <a:r>
              <a:rPr lang="en-US" sz="5400" b="1">
                <a:solidFill>
                  <a:srgbClr val="0C3571"/>
                </a:solidFill>
                <a:latin typeface="Montserrat" panose="00000500000000000000" pitchFamily="2" charset="0"/>
                <a:ea typeface="Anantason Bold"/>
                <a:cs typeface="Anantason Bold"/>
                <a:sym typeface="Anantason Bold"/>
              </a:rPr>
              <a:t>      Phân tích theo số lần có thai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319BEF7C-955A-EDA9-B2AA-8540EAE3B577}"/>
              </a:ext>
            </a:extLst>
          </p:cNvPr>
          <p:cNvSpPr txBox="1"/>
          <p:nvPr/>
        </p:nvSpPr>
        <p:spPr>
          <a:xfrm>
            <a:off x="1558102" y="2230491"/>
            <a:ext cx="15171794" cy="5826018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t">
            <a:spAutoFit/>
          </a:bodyPr>
          <a:lstStyle/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E1072C-4A13-2AF7-F966-F39D8021E3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8358" y="2388021"/>
            <a:ext cx="6631282" cy="5510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3912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9C2A63-CEF2-ADD6-9EB6-4FFE288B3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A51C65E1-C388-3FB5-F0B1-F55621AE366E}"/>
              </a:ext>
            </a:extLst>
          </p:cNvPr>
          <p:cNvSpPr txBox="1"/>
          <p:nvPr/>
        </p:nvSpPr>
        <p:spPr>
          <a:xfrm>
            <a:off x="0" y="0"/>
            <a:ext cx="18288000" cy="14599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446"/>
              </a:lnSpc>
            </a:pPr>
            <a:r>
              <a:rPr lang="en-US" sz="5400" b="1">
                <a:solidFill>
                  <a:srgbClr val="0C3571"/>
                </a:solidFill>
                <a:latin typeface="Montserrat" panose="00000500000000000000" pitchFamily="2" charset="0"/>
                <a:ea typeface="Anantason Bold"/>
                <a:cs typeface="Anantason Bold"/>
                <a:sym typeface="Anantason Bold"/>
              </a:rPr>
              <a:t>      Phân tích theo số lần có thai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D0B17690-D7A2-2ACD-103F-AD848A8635E9}"/>
              </a:ext>
            </a:extLst>
          </p:cNvPr>
          <p:cNvSpPr txBox="1"/>
          <p:nvPr/>
        </p:nvSpPr>
        <p:spPr>
          <a:xfrm>
            <a:off x="1558103" y="1814992"/>
            <a:ext cx="15171794" cy="6657015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t">
            <a:spAutoFit/>
          </a:bodyPr>
          <a:lstStyle/>
          <a:p>
            <a:pPr marL="367029" lvl="1" algn="just">
              <a:lnSpc>
                <a:spcPct val="150000"/>
              </a:lnSpc>
            </a:pPr>
            <a:r>
              <a:rPr lang="en-US" sz="2800" b="1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Cơ chế bệnh sinh:</a:t>
            </a:r>
          </a:p>
          <a:p>
            <a:pPr marL="367029" lvl="1" algn="just">
              <a:lnSpc>
                <a:spcPct val="150000"/>
              </a:lnSpc>
            </a:pPr>
            <a:r>
              <a:rPr lang="en-US" sz="2800" b="1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	</a:t>
            </a:r>
            <a:r>
              <a:rPr lang="en-US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Đái tháo đường thai kỳ: Mỗi lần mang thai là một lần nguy cơ,</a:t>
            </a:r>
          </a:p>
          <a:p>
            <a:pPr marL="367029" lvl="1" algn="just">
              <a:lnSpc>
                <a:spcPct val="150000"/>
              </a:lnSpc>
            </a:pPr>
            <a:r>
              <a:rPr lang="en-US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	Thay đổi nội tiết tố: Ảnh hưởng lâu dài đến sự chuyển hóa glucose.</a:t>
            </a:r>
          </a:p>
          <a:p>
            <a:pPr marL="367029" lvl="1" algn="just">
              <a:lnSpc>
                <a:spcPct val="150000"/>
              </a:lnSpc>
            </a:pPr>
            <a:r>
              <a:rPr lang="en-US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	Tích lũy nguy cơ: Tác động cộng dồn qua từng lần mang thai.</a:t>
            </a:r>
          </a:p>
          <a:p>
            <a:pPr marL="367029" lvl="1" algn="just">
              <a:lnSpc>
                <a:spcPct val="150000"/>
              </a:lnSpc>
            </a:pPr>
            <a:r>
              <a:rPr lang="en-US" sz="2800" b="1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Ngưỡng quan trọng: </a:t>
            </a:r>
          </a:p>
          <a:p>
            <a:pPr marL="367029" lvl="1" algn="just">
              <a:lnSpc>
                <a:spcPct val="150000"/>
              </a:lnSpc>
            </a:pPr>
            <a:r>
              <a:rPr lang="en-US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	</a:t>
            </a:r>
            <a:r>
              <a:rPr lang="en-US" sz="2800" u="sng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&gt;</a:t>
            </a:r>
            <a:r>
              <a:rPr lang="en-US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4 lần mang thai: Cần tầm soát đái tháo đường tích cực.</a:t>
            </a:r>
          </a:p>
          <a:p>
            <a:pPr marL="367029" lvl="1" algn="just">
              <a:lnSpc>
                <a:spcPct val="150000"/>
              </a:lnSpc>
            </a:pPr>
            <a:r>
              <a:rPr lang="vi-VN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	&gt; </a:t>
            </a:r>
            <a:r>
              <a:rPr lang="en-US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7 lần mang thai: Nguy cơ rất cao, cần có các biện pháp can thiệp sớm.</a:t>
            </a:r>
            <a:endParaRPr lang="en-US" sz="3200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r>
              <a:rPr lang="en-US" sz="3200" b="1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Nhóm mắc bệnh có số lần mang thai trung bình cao hơn so với nhóm khỏe mạnh.</a:t>
            </a:r>
          </a:p>
        </p:txBody>
      </p:sp>
    </p:spTree>
    <p:extLst>
      <p:ext uri="{BB962C8B-B14F-4D97-AF65-F5344CB8AC3E}">
        <p14:creationId xmlns:p14="http://schemas.microsoft.com/office/powerpoint/2010/main" val="24477380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7C770E-ED48-1E2A-DDEF-3976C2640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F3D87F6A-0F62-0326-7F23-A0315F777B38}"/>
              </a:ext>
            </a:extLst>
          </p:cNvPr>
          <p:cNvSpPr txBox="1"/>
          <p:nvPr/>
        </p:nvSpPr>
        <p:spPr>
          <a:xfrm>
            <a:off x="0" y="0"/>
            <a:ext cx="18288000" cy="14599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446"/>
              </a:lnSpc>
            </a:pPr>
            <a:r>
              <a:rPr lang="en-US" sz="5400" b="1">
                <a:solidFill>
                  <a:srgbClr val="0C3571"/>
                </a:solidFill>
                <a:latin typeface="Montserrat" panose="00000500000000000000" pitchFamily="2" charset="0"/>
                <a:ea typeface="Anantason Bold"/>
                <a:cs typeface="Anantason Bold"/>
                <a:sym typeface="Anantason Bold"/>
              </a:rPr>
              <a:t>	Phân tích tương quan và mối quan hệ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5A49902-70A4-2AA9-463C-CE0FF386590E}"/>
              </a:ext>
            </a:extLst>
          </p:cNvPr>
          <p:cNvSpPr txBox="1"/>
          <p:nvPr/>
        </p:nvSpPr>
        <p:spPr>
          <a:xfrm>
            <a:off x="1558102" y="1714500"/>
            <a:ext cx="15171794" cy="8042010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t">
            <a:spAutoFit/>
          </a:bodyPr>
          <a:lstStyle/>
          <a:p>
            <a:pPr marL="367029" lvl="1" algn="just">
              <a:lnSpc>
                <a:spcPct val="150000"/>
              </a:lnSpc>
            </a:pPr>
            <a:r>
              <a:rPr lang="en-US" sz="3200" b="1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Ma trận tương quan</a:t>
            </a: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E28953-A582-3B8E-3CF4-03D2B947A0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6885" y="2583543"/>
            <a:ext cx="7814228" cy="7172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1097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87E288-E818-794F-55C2-014E3C6F2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718E9672-E2F5-2B3F-329E-43B98E3F3F49}"/>
              </a:ext>
            </a:extLst>
          </p:cNvPr>
          <p:cNvSpPr txBox="1"/>
          <p:nvPr/>
        </p:nvSpPr>
        <p:spPr>
          <a:xfrm>
            <a:off x="0" y="0"/>
            <a:ext cx="18288000" cy="14599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446"/>
              </a:lnSpc>
            </a:pPr>
            <a:r>
              <a:rPr lang="en-US" sz="5400" b="1">
                <a:solidFill>
                  <a:srgbClr val="0C3571"/>
                </a:solidFill>
                <a:latin typeface="Montserrat" panose="00000500000000000000" pitchFamily="2" charset="0"/>
                <a:ea typeface="Anantason Bold"/>
                <a:cs typeface="Anantason Bold"/>
                <a:sym typeface="Anantason Bold"/>
              </a:rPr>
              <a:t>	Phân tích tương quan và mối quan hệ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1B471566-F8E7-1026-3B16-0034FFA8E4F6}"/>
              </a:ext>
            </a:extLst>
          </p:cNvPr>
          <p:cNvSpPr txBox="1"/>
          <p:nvPr/>
        </p:nvSpPr>
        <p:spPr>
          <a:xfrm>
            <a:off x="1558103" y="1866900"/>
            <a:ext cx="15171794" cy="5826018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t">
            <a:spAutoFit/>
          </a:bodyPr>
          <a:lstStyle/>
          <a:p>
            <a:pPr marL="367029" lvl="1" algn="just">
              <a:lnSpc>
                <a:spcPct val="150000"/>
              </a:lnSpc>
            </a:pPr>
            <a:r>
              <a:rPr lang="en-US" sz="3200" b="1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Phân tích cặp biến quan trọng</a:t>
            </a:r>
            <a:endParaRPr lang="vi-VN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vi-VN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vi-VN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vi-VN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vi-VN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vi-VN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vi-VN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0DE338-DE33-6272-A0AD-8A165A3506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1885" y="2971800"/>
            <a:ext cx="4984229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4990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6B0B7A-F65A-A4EF-9E00-B2F3E3DE5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03392418-E56F-E83D-2CBF-BA7BD6830F29}"/>
              </a:ext>
            </a:extLst>
          </p:cNvPr>
          <p:cNvSpPr txBox="1"/>
          <p:nvPr/>
        </p:nvSpPr>
        <p:spPr>
          <a:xfrm>
            <a:off x="0" y="0"/>
            <a:ext cx="18288000" cy="14599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446"/>
              </a:lnSpc>
            </a:pPr>
            <a:r>
              <a:rPr lang="en-US" sz="5400" b="1">
                <a:solidFill>
                  <a:srgbClr val="0C3571"/>
                </a:solidFill>
                <a:latin typeface="Montserrat" panose="00000500000000000000" pitchFamily="2" charset="0"/>
                <a:ea typeface="Anantason Bold"/>
                <a:cs typeface="Anantason Bold"/>
                <a:sym typeface="Anantason Bold"/>
              </a:rPr>
              <a:t>	Phân tích tương quan và mối quan hệ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6CBA35DA-D3B9-2496-25F4-C17BB1EAF3EC}"/>
              </a:ext>
            </a:extLst>
          </p:cNvPr>
          <p:cNvSpPr txBox="1"/>
          <p:nvPr/>
        </p:nvSpPr>
        <p:spPr>
          <a:xfrm>
            <a:off x="1558103" y="2230491"/>
            <a:ext cx="15171794" cy="5826018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t">
            <a:spAutoFit/>
          </a:bodyPr>
          <a:lstStyle/>
          <a:p>
            <a:pPr marL="367029" lvl="1" algn="just">
              <a:lnSpc>
                <a:spcPct val="150000"/>
              </a:lnSpc>
            </a:pPr>
            <a:r>
              <a:rPr lang="en-US" sz="3200" b="1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Phân tích tầm quan trọng của đặc trưng</a:t>
            </a: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F3BA18-3B06-1AD8-FAA8-A8FCDA485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8117" y="3528787"/>
            <a:ext cx="6992326" cy="32294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1EA3E83-EB01-AF33-E6CC-4BFA05D940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9884" y="3314701"/>
            <a:ext cx="699157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8950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BB9CAB-45D4-129B-682D-59C30AAD7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09E4F7C4-E88B-5A00-5745-F95367F253F1}"/>
              </a:ext>
            </a:extLst>
          </p:cNvPr>
          <p:cNvSpPr txBox="1"/>
          <p:nvPr/>
        </p:nvSpPr>
        <p:spPr>
          <a:xfrm>
            <a:off x="0" y="0"/>
            <a:ext cx="18288000" cy="14599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446"/>
              </a:lnSpc>
            </a:pPr>
            <a:r>
              <a:rPr lang="en-US" sz="5400" b="1">
                <a:solidFill>
                  <a:srgbClr val="0C3571"/>
                </a:solidFill>
                <a:latin typeface="Montserrat" panose="00000500000000000000" pitchFamily="2" charset="0"/>
                <a:ea typeface="Anantason Bold"/>
                <a:cs typeface="Anantason Bold"/>
                <a:sym typeface="Anantason Bold"/>
              </a:rPr>
              <a:t>	Phân tích tương quan và mối quan hệ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AD50E684-8AD5-DF4E-BDF2-A6422242372A}"/>
              </a:ext>
            </a:extLst>
          </p:cNvPr>
          <p:cNvSpPr txBox="1"/>
          <p:nvPr/>
        </p:nvSpPr>
        <p:spPr>
          <a:xfrm>
            <a:off x="1558103" y="2230491"/>
            <a:ext cx="15171794" cy="6564682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t">
            <a:spAutoFit/>
          </a:bodyPr>
          <a:lstStyle/>
          <a:p>
            <a:pPr marL="367029" lvl="1" algn="just">
              <a:lnSpc>
                <a:spcPct val="150000"/>
              </a:lnSpc>
            </a:pPr>
            <a:r>
              <a:rPr lang="en-US" sz="3200" b="1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Phân tích tầm quan trọng của đặc trưng</a:t>
            </a:r>
            <a:endParaRPr lang="vi-VN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r>
              <a:rPr lang="vi-VN" sz="2800" b="1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Thông tin tương hỗ</a:t>
            </a:r>
            <a:endParaRPr lang="en-US" sz="28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698B4C-6068-20D7-4F68-4F1F991261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1888" y="4000500"/>
            <a:ext cx="8764223" cy="3829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4860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D5A232-AFDC-DD91-407E-8E7001F27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DA737119-3E8F-B286-CD19-BE9CC72A6BD1}"/>
              </a:ext>
            </a:extLst>
          </p:cNvPr>
          <p:cNvSpPr txBox="1"/>
          <p:nvPr/>
        </p:nvSpPr>
        <p:spPr>
          <a:xfrm>
            <a:off x="0" y="0"/>
            <a:ext cx="18288000" cy="14599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446"/>
              </a:lnSpc>
            </a:pPr>
            <a:r>
              <a:rPr lang="en-US" sz="5400" b="1">
                <a:solidFill>
                  <a:srgbClr val="0C3571"/>
                </a:solidFill>
                <a:latin typeface="Montserrat" panose="00000500000000000000" pitchFamily="2" charset="0"/>
                <a:ea typeface="Anantason Bold"/>
                <a:cs typeface="Anantason Bold"/>
                <a:sym typeface="Anantason Bold"/>
              </a:rPr>
              <a:t>	Phân tích tương quan và mối quan hệ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DC7C6D06-C667-D47B-56EB-87DE7FCE693F}"/>
              </a:ext>
            </a:extLst>
          </p:cNvPr>
          <p:cNvSpPr txBox="1"/>
          <p:nvPr/>
        </p:nvSpPr>
        <p:spPr>
          <a:xfrm>
            <a:off x="1558103" y="2230491"/>
            <a:ext cx="15171794" cy="5826018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t">
            <a:spAutoFit/>
          </a:bodyPr>
          <a:lstStyle/>
          <a:p>
            <a:pPr marL="367029" lvl="1" algn="just">
              <a:lnSpc>
                <a:spcPct val="150000"/>
              </a:lnSpc>
            </a:pPr>
            <a:r>
              <a:rPr lang="en-US" sz="3200" b="1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Phân tích tầm quan trọng của đặc trưng</a:t>
            </a: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A7F169-9A76-8A2E-0877-5E4B4CEDC8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3390900"/>
            <a:ext cx="7078063" cy="332468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8A3A94F-C9EE-A384-4D2B-A74EC5AA06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6571" y="3385930"/>
            <a:ext cx="7173326" cy="4020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5594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885750-52F4-857C-D6D0-9B8B6DD01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F28A04FD-DFDB-E744-E1CF-C7F0639E7731}"/>
              </a:ext>
            </a:extLst>
          </p:cNvPr>
          <p:cNvSpPr txBox="1"/>
          <p:nvPr/>
        </p:nvSpPr>
        <p:spPr>
          <a:xfrm>
            <a:off x="0" y="0"/>
            <a:ext cx="18288000" cy="14599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446"/>
              </a:lnSpc>
            </a:pPr>
            <a:r>
              <a:rPr lang="en-US" sz="5400" b="1">
                <a:solidFill>
                  <a:srgbClr val="0C3571"/>
                </a:solidFill>
                <a:latin typeface="Montserrat" panose="00000500000000000000" pitchFamily="2" charset="0"/>
                <a:ea typeface="Anantason Bold"/>
                <a:cs typeface="Anantason Bold"/>
                <a:sym typeface="Anantason Bold"/>
              </a:rPr>
              <a:t>	Phân tích nâng cao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A9257250-CD93-6920-F0EB-70FA741CA9DA}"/>
              </a:ext>
            </a:extLst>
          </p:cNvPr>
          <p:cNvSpPr txBox="1"/>
          <p:nvPr/>
        </p:nvSpPr>
        <p:spPr>
          <a:xfrm>
            <a:off x="1558103" y="1861159"/>
            <a:ext cx="15171794" cy="6564682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t">
            <a:spAutoFit/>
          </a:bodyPr>
          <a:lstStyle/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15789D-AA59-8336-3AAB-FACBFD9FE2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6140" y="2857494"/>
            <a:ext cx="14095719" cy="4572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28569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15C91B-CF91-B21F-6068-2A481B428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850B09A1-7D26-552A-9C38-C2E91167D8D1}"/>
              </a:ext>
            </a:extLst>
          </p:cNvPr>
          <p:cNvSpPr txBox="1"/>
          <p:nvPr/>
        </p:nvSpPr>
        <p:spPr>
          <a:xfrm>
            <a:off x="0" y="0"/>
            <a:ext cx="18288000" cy="14599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446"/>
              </a:lnSpc>
            </a:pPr>
            <a:r>
              <a:rPr lang="en-US" sz="5400" b="1">
                <a:solidFill>
                  <a:srgbClr val="0C3571"/>
                </a:solidFill>
                <a:latin typeface="Montserrat" panose="00000500000000000000" pitchFamily="2" charset="0"/>
                <a:ea typeface="Anantason Bold"/>
                <a:cs typeface="Anantason Bold"/>
                <a:sym typeface="Anantason Bold"/>
              </a:rPr>
              <a:t>	Mô hình dự đoán sơ bộ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7EB6B7B9-CA84-DBDB-FF72-EA185DF67F3C}"/>
              </a:ext>
            </a:extLst>
          </p:cNvPr>
          <p:cNvSpPr txBox="1"/>
          <p:nvPr/>
        </p:nvSpPr>
        <p:spPr>
          <a:xfrm>
            <a:off x="1558103" y="2969154"/>
            <a:ext cx="15171794" cy="5826018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t">
            <a:spAutoFit/>
          </a:bodyPr>
          <a:lstStyle/>
          <a:p>
            <a:pPr marL="367029" lvl="1" algn="just">
              <a:lnSpc>
                <a:spcPct val="150000"/>
              </a:lnSpc>
            </a:pPr>
            <a:r>
              <a:rPr lang="en-US" sz="3200" b="1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So sánh với thuật toán ADAP</a:t>
            </a:r>
            <a:endParaRPr lang="vi-VN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vi-VN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8FC5BAE-2BF8-07C3-BC20-785BC297B5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8071777"/>
              </p:ext>
            </p:extLst>
          </p:nvPr>
        </p:nvGraphicFramePr>
        <p:xfrm>
          <a:off x="3048000" y="3946683"/>
          <a:ext cx="12192000" cy="3870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19729160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70072384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108057165"/>
                    </a:ext>
                  </a:extLst>
                </a:gridCol>
              </a:tblGrid>
              <a:tr h="375920">
                <a:tc>
                  <a:txBody>
                    <a:bodyPr/>
                    <a:lstStyle/>
                    <a:p>
                      <a:r>
                        <a:rPr lang="en-US" sz="2800">
                          <a:latin typeface="Montserrat" panose="00000500000000000000" pitchFamily="2" charset="0"/>
                        </a:rP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latin typeface="Montserrat" panose="00000500000000000000" pitchFamily="2" charset="0"/>
                        </a:rPr>
                        <a:t>Sensitivity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latin typeface="Montserrat" panose="00000500000000000000" pitchFamily="2" charset="0"/>
                        </a:rPr>
                        <a:t>Nhận xét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5877301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r>
                        <a:rPr lang="en-US" sz="2800">
                          <a:latin typeface="Montserrat" panose="00000500000000000000" pitchFamily="2" charset="0"/>
                        </a:rPr>
                        <a:t>Logic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latin typeface="Montserrat" panose="00000500000000000000" pitchFamily="2" charset="0"/>
                        </a:rPr>
                        <a:t>0.522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latin typeface="Montserrat" panose="00000500000000000000" pitchFamily="2" charset="0"/>
                        </a:rPr>
                        <a:t>Thấp hơn ADAP, dễ giải thích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9245068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r>
                        <a:rPr lang="en-US" sz="2800">
                          <a:latin typeface="Montserrat" panose="00000500000000000000" pitchFamily="2" charset="0"/>
                        </a:rPr>
                        <a:t>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latin typeface="Montserrat" panose="00000500000000000000" pitchFamily="2" charset="0"/>
                        </a:rPr>
                        <a:t>0.522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latin typeface="Montserrat" panose="00000500000000000000" pitchFamily="2" charset="0"/>
                        </a:rPr>
                        <a:t>Thấp hơn ADAP, trực quan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9440376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r>
                        <a:rPr lang="en-US" sz="2800">
                          <a:latin typeface="Montserrat" panose="00000500000000000000" pitchFamily="2" charset="0"/>
                        </a:rPr>
                        <a:t>KNN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latin typeface="Montserrat" panose="00000500000000000000" pitchFamily="2" charset="0"/>
                        </a:rPr>
                        <a:t>0.507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latin typeface="Montserrat" panose="00000500000000000000" pitchFamily="2" charset="0"/>
                        </a:rPr>
                        <a:t>Thấp hơn </a:t>
                      </a:r>
                      <a:r>
                        <a:rPr lang="vi-VN" sz="2800">
                          <a:latin typeface="Montserrat" panose="00000500000000000000" pitchFamily="2" charset="0"/>
                        </a:rPr>
                        <a:t>ADAP</a:t>
                      </a:r>
                      <a:endParaRPr lang="en-US" sz="2800">
                        <a:latin typeface="Montserrat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5245257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r>
                        <a:rPr lang="en-US" sz="2800">
                          <a:latin typeface="Montserrat" panose="00000500000000000000" pitchFamily="2" charset="0"/>
                        </a:rPr>
                        <a:t>ADAP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latin typeface="Montserrat" panose="00000500000000000000" pitchFamily="2" charset="0"/>
                        </a:rPr>
                        <a:t>0.76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2800">
                          <a:latin typeface="Montserrat" panose="00000500000000000000" pitchFamily="2" charset="0"/>
                        </a:rPr>
                        <a:t>Neural network, khả năng dự báo cao</a:t>
                      </a:r>
                      <a:endParaRPr lang="en-US" sz="2800">
                        <a:latin typeface="Montserrat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58665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941486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3A13F5-DBB8-A5BF-E0BD-02DDDB978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A427BEBC-0761-9CA2-C558-98833F95280A}"/>
              </a:ext>
            </a:extLst>
          </p:cNvPr>
          <p:cNvSpPr txBox="1"/>
          <p:nvPr/>
        </p:nvSpPr>
        <p:spPr>
          <a:xfrm>
            <a:off x="0" y="0"/>
            <a:ext cx="18288000" cy="14599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446"/>
              </a:lnSpc>
            </a:pPr>
            <a:r>
              <a:rPr lang="en-US" sz="5400" b="1">
                <a:solidFill>
                  <a:srgbClr val="0C3571"/>
                </a:solidFill>
                <a:latin typeface="Montserrat" panose="00000500000000000000" pitchFamily="2" charset="0"/>
                <a:ea typeface="Anantason Bold"/>
                <a:cs typeface="Anantason Bold"/>
                <a:sym typeface="Anantason Bold"/>
              </a:rPr>
              <a:t>	Mô hình dự đoán sơ bộ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9D5A5871-23EA-E112-9BC6-A0B7F0CC3489}"/>
              </a:ext>
            </a:extLst>
          </p:cNvPr>
          <p:cNvSpPr txBox="1"/>
          <p:nvPr/>
        </p:nvSpPr>
        <p:spPr>
          <a:xfrm>
            <a:off x="304800" y="1866900"/>
            <a:ext cx="17602199" cy="8042010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t">
            <a:spAutoFit/>
          </a:bodyPr>
          <a:lstStyle/>
          <a:p>
            <a:pPr marL="367029" lvl="1" algn="just">
              <a:lnSpc>
                <a:spcPct val="150000"/>
              </a:lnSpc>
            </a:pPr>
            <a:r>
              <a:rPr lang="en-US" sz="3200" b="1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Mô hình</a:t>
            </a: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757D7A-1146-5C66-8A86-B185CFB9A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200" y="1868905"/>
            <a:ext cx="5757890" cy="804201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43A454C-44EB-D83A-E10F-BE6F4AE5D8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8316" y="2476500"/>
            <a:ext cx="6172200" cy="7266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5910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D6E010-C137-ED09-75B9-1DB83408F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8219D4C4-68C5-9423-6210-2F3C2535E6D6}"/>
              </a:ext>
            </a:extLst>
          </p:cNvPr>
          <p:cNvSpPr txBox="1"/>
          <p:nvPr/>
        </p:nvSpPr>
        <p:spPr>
          <a:xfrm>
            <a:off x="0" y="0"/>
            <a:ext cx="18288000" cy="14599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446"/>
              </a:lnSpc>
            </a:pPr>
            <a:r>
              <a:rPr lang="en-US" sz="5400" b="1">
                <a:solidFill>
                  <a:srgbClr val="0C3571"/>
                </a:solidFill>
                <a:latin typeface="Montserrat" panose="00000500000000000000" pitchFamily="2" charset="0"/>
                <a:ea typeface="Anantason Bold"/>
                <a:cs typeface="Anantason Bold"/>
                <a:sym typeface="Anantason Bold"/>
              </a:rPr>
              <a:t>	Mô hình dự đoán sơ bộ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9158908D-A918-7415-C6C5-9E179F79772D}"/>
              </a:ext>
            </a:extLst>
          </p:cNvPr>
          <p:cNvSpPr txBox="1"/>
          <p:nvPr/>
        </p:nvSpPr>
        <p:spPr>
          <a:xfrm>
            <a:off x="1558103" y="2825429"/>
            <a:ext cx="15171794" cy="5928803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t">
            <a:spAutoFit/>
          </a:bodyPr>
          <a:lstStyle/>
          <a:p>
            <a:pPr marL="367029" lvl="1" algn="just">
              <a:lnSpc>
                <a:spcPct val="150000"/>
              </a:lnSpc>
            </a:pPr>
            <a:r>
              <a:rPr lang="en-US" sz="3200" b="1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Ý nghĩa lâm sàng</a:t>
            </a:r>
            <a:endParaRPr lang="vi-VN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vi-VN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r>
              <a:rPr lang="vi-VN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Phát hiện sớm: Nhận diện nguy cơ trước khi glucose vượt ngưỡng chẩn đoán.</a:t>
            </a:r>
          </a:p>
          <a:p>
            <a:pPr marL="367029" lvl="1" algn="just">
              <a:lnSpc>
                <a:spcPct val="150000"/>
              </a:lnSpc>
            </a:pPr>
            <a:r>
              <a:rPr lang="vi-VN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Cá nhân hóa sàng lọc: Theo dõi dựa trên hồ sơ nguy cơ tổng hợp.</a:t>
            </a:r>
          </a:p>
          <a:p>
            <a:pPr marL="367029" lvl="1" algn="just">
              <a:lnSpc>
                <a:spcPct val="150000"/>
              </a:lnSpc>
            </a:pPr>
            <a:r>
              <a:rPr lang="vi-VN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Tối ưu hóa nguồn lực: Ưu tiên xét nghiệm/điều trị cho nhóm nguy cơ cao.</a:t>
            </a:r>
          </a:p>
          <a:p>
            <a:pPr marL="367029" lvl="1" algn="just">
              <a:lnSpc>
                <a:spcPct val="150000"/>
              </a:lnSpc>
            </a:pPr>
            <a:r>
              <a:rPr lang="vi-VN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Hỗ trợ quyết định: Giúp bác sĩ có thêm cơ sở khuyến nghị can thiệp và quản lý bệnh nhân</a:t>
            </a:r>
          </a:p>
          <a:p>
            <a:pPr marL="367029" lvl="1" algn="just">
              <a:lnSpc>
                <a:spcPct val="150000"/>
              </a:lnSpc>
            </a:pPr>
            <a:r>
              <a:rPr lang="vi-VN" sz="2800" b="1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Lưu ý: Dữ liệu hoàn toàn là nữ giới 21 tuổi trở lên, đặc biệt đối với phụ nữ từng mang thai.</a:t>
            </a: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</p:txBody>
      </p:sp>
    </p:spTree>
    <p:extLst>
      <p:ext uri="{BB962C8B-B14F-4D97-AF65-F5344CB8AC3E}">
        <p14:creationId xmlns:p14="http://schemas.microsoft.com/office/powerpoint/2010/main" val="32984262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0F909C-A4CB-042E-3323-4882DD8A0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DB69BA72-AC1C-68D9-84CE-744856FE76E3}"/>
              </a:ext>
            </a:extLst>
          </p:cNvPr>
          <p:cNvSpPr txBox="1"/>
          <p:nvPr/>
        </p:nvSpPr>
        <p:spPr>
          <a:xfrm>
            <a:off x="0" y="0"/>
            <a:ext cx="18288000" cy="14599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446"/>
              </a:lnSpc>
            </a:pPr>
            <a:r>
              <a:rPr lang="en-US" sz="5400" b="1">
                <a:solidFill>
                  <a:srgbClr val="0C3571"/>
                </a:solidFill>
                <a:latin typeface="Montserrat" panose="00000500000000000000" pitchFamily="2" charset="0"/>
                <a:ea typeface="Anantason Bold"/>
                <a:cs typeface="Anantason Bold"/>
                <a:sym typeface="Anantason Bold"/>
              </a:rPr>
              <a:t>	Kết luận và khuyến nghị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0FF10F23-2AD3-C7DA-0C6A-C4B4708FA860}"/>
              </a:ext>
            </a:extLst>
          </p:cNvPr>
          <p:cNvSpPr txBox="1"/>
          <p:nvPr/>
        </p:nvSpPr>
        <p:spPr>
          <a:xfrm>
            <a:off x="1558103" y="3430819"/>
            <a:ext cx="15171794" cy="2686698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t">
            <a:spAutoFit/>
          </a:bodyPr>
          <a:lstStyle/>
          <a:p>
            <a:pPr marL="367029" lvl="1" algn="just">
              <a:lnSpc>
                <a:spcPct val="150000"/>
              </a:lnSpc>
            </a:pPr>
            <a:r>
              <a:rPr lang="en-US" sz="3200" b="1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Kết luận</a:t>
            </a:r>
          </a:p>
          <a:p>
            <a:pPr marL="367029" lvl="1" algn="just">
              <a:lnSpc>
                <a:spcPct val="150000"/>
              </a:lnSpc>
            </a:pPr>
            <a:r>
              <a:rPr lang="en-US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Yếu tố nguy cơ chính: Glucose, BMI, tuổi, DPF ảnh hưởng mạnh nhất.</a:t>
            </a:r>
          </a:p>
          <a:p>
            <a:pPr marL="367029" lvl="1" algn="just">
              <a:lnSpc>
                <a:spcPct val="150000"/>
              </a:lnSpc>
            </a:pPr>
            <a:r>
              <a:rPr lang="en-US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Đặc thù dân số Pima: nữ </a:t>
            </a:r>
            <a:r>
              <a:rPr lang="en-US" sz="2800" u="sng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&gt;</a:t>
            </a:r>
            <a:r>
              <a:rPr lang="en-US" sz="2800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 21 tuổi, nguy cơ cao do di truyền &amp; lối sống.</a:t>
            </a: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</p:txBody>
      </p:sp>
    </p:spTree>
    <p:extLst>
      <p:ext uri="{BB962C8B-B14F-4D97-AF65-F5344CB8AC3E}">
        <p14:creationId xmlns:p14="http://schemas.microsoft.com/office/powerpoint/2010/main" val="2797119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92A0C7-0B3C-C3FC-DEF9-71C7E5F42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3C9CB25F-6CE8-C743-15B7-A9D44544AAE7}"/>
              </a:ext>
            </a:extLst>
          </p:cNvPr>
          <p:cNvSpPr txBox="1"/>
          <p:nvPr/>
        </p:nvSpPr>
        <p:spPr>
          <a:xfrm>
            <a:off x="0" y="0"/>
            <a:ext cx="18288000" cy="14599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446"/>
              </a:lnSpc>
            </a:pPr>
            <a:r>
              <a:rPr lang="en-US" sz="5400" b="1">
                <a:solidFill>
                  <a:srgbClr val="0C3571"/>
                </a:solidFill>
                <a:latin typeface="Montserrat" panose="00000500000000000000" pitchFamily="2" charset="0"/>
                <a:ea typeface="Anantason Bold"/>
                <a:cs typeface="Anantason Bold"/>
                <a:sym typeface="Anantason Bold"/>
              </a:rPr>
              <a:t>	Kết luận và khuyến nghị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AD04801B-847E-B43F-42D5-1CA11EC14460}"/>
              </a:ext>
            </a:extLst>
          </p:cNvPr>
          <p:cNvSpPr txBox="1"/>
          <p:nvPr/>
        </p:nvSpPr>
        <p:spPr>
          <a:xfrm>
            <a:off x="1558103" y="3153820"/>
            <a:ext cx="15171794" cy="471641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t">
            <a:spAutoFit/>
          </a:bodyPr>
          <a:lstStyle/>
          <a:p>
            <a:pPr marL="367029" lvl="1" algn="just">
              <a:lnSpc>
                <a:spcPct val="150000"/>
              </a:lnSpc>
            </a:pPr>
            <a:r>
              <a:rPr lang="en-US" sz="3200" b="1">
                <a:solidFill>
                  <a:schemeClr val="tx2"/>
                </a:solidFill>
                <a:latin typeface="Montserrat" panose="00000500000000000000" pitchFamily="2" charset="0"/>
                <a:ea typeface="Cloud"/>
                <a:cs typeface="Cloud"/>
                <a:sym typeface="Cloud"/>
              </a:rPr>
              <a:t>Ứng dụng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chemeClr val="tx2"/>
                </a:solidFill>
                <a:latin typeface="Montserrat" panose="00000500000000000000" pitchFamily="2" charset="0"/>
              </a:rPr>
              <a:t>Sàng lọc tự động:</a:t>
            </a:r>
            <a:r>
              <a:rPr lang="en-US" altLang="en-US" sz="2800">
                <a:solidFill>
                  <a:schemeClr val="tx2"/>
                </a:solidFill>
                <a:latin typeface="Montserrat" panose="00000500000000000000" pitchFamily="2" charset="0"/>
              </a:rPr>
              <a:t> Giúp bác sĩ lọc nhanh những ai có nguy cơ cao mà chưa cần làm xét nghiệm máu phức tạp.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chemeClr val="tx2"/>
                </a:solidFill>
                <a:latin typeface="Montserrat" panose="00000500000000000000" pitchFamily="2" charset="0"/>
              </a:rPr>
              <a:t>Cảnh báo sớm:</a:t>
            </a:r>
            <a:r>
              <a:rPr lang="en-US" altLang="en-US" sz="2800">
                <a:solidFill>
                  <a:schemeClr val="tx2"/>
                </a:solidFill>
                <a:latin typeface="Montserrat" panose="00000500000000000000" pitchFamily="2" charset="0"/>
              </a:rPr>
              <a:t> Người dùng chỉ cần nhập chiều cao, cân nặng, tuổi... là máy có thể dự đoán được nguy cơ mắc bệnh trong 5 năm tới để kịp thời ăn kiêng, tập thể dục.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chemeClr val="tx2"/>
                </a:solidFill>
                <a:latin typeface="Montserrat" panose="00000500000000000000" pitchFamily="2" charset="0"/>
              </a:rPr>
              <a:t>Tiết kiệm:</a:t>
            </a:r>
            <a:r>
              <a:rPr lang="en-US" altLang="en-US" sz="2800">
                <a:solidFill>
                  <a:schemeClr val="tx2"/>
                </a:solidFill>
                <a:latin typeface="Montserrat" panose="00000500000000000000" pitchFamily="2" charset="0"/>
              </a:rPr>
              <a:t> Giảm chi phí xét nghiệm cho những người có nguy cơ thấp.</a:t>
            </a:r>
            <a:endParaRPr lang="en-US" sz="32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ct val="150000"/>
              </a:lnSpc>
            </a:pPr>
            <a:r>
              <a:rPr lang="vi-VN" sz="2800" b="1">
                <a:solidFill>
                  <a:schemeClr val="tx2"/>
                </a:solidFill>
                <a:latin typeface="Montserrat" panose="00000500000000000000" pitchFamily="2" charset="0"/>
              </a:rPr>
              <a:t> Hướng phát triển:</a:t>
            </a:r>
            <a:r>
              <a:rPr lang="vi-VN" sz="2800">
                <a:solidFill>
                  <a:schemeClr val="tx2"/>
                </a:solidFill>
                <a:latin typeface="Montserrat" panose="00000500000000000000" pitchFamily="2" charset="0"/>
              </a:rPr>
              <a:t> Ứng dụng các đặc trưng quan trọng này để xây dựng mô hình học máy dự đoán sớm nguy cơ mắc bệnh.</a:t>
            </a:r>
            <a:endParaRPr lang="en-US" sz="2800" b="1">
              <a:solidFill>
                <a:schemeClr val="tx2"/>
              </a:solidFill>
              <a:latin typeface="Montserrat" panose="00000500000000000000" pitchFamily="2" charset="0"/>
              <a:ea typeface="Cloud"/>
              <a:cs typeface="Cloud"/>
              <a:sym typeface="Cloud"/>
            </a:endParaRPr>
          </a:p>
        </p:txBody>
      </p:sp>
    </p:spTree>
    <p:extLst>
      <p:ext uri="{BB962C8B-B14F-4D97-AF65-F5344CB8AC3E}">
        <p14:creationId xmlns:p14="http://schemas.microsoft.com/office/powerpoint/2010/main" val="278603317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24614" y="6515100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1924574" y="-357188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16200000">
            <a:off x="1067003" y="-1067005"/>
            <a:ext cx="2636425" cy="4770434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25736" r="-127096"/>
            </a:stretch>
          </a:blipFill>
        </p:spPr>
      </p:sp>
      <p:sp>
        <p:nvSpPr>
          <p:cNvPr id="5" name="Freeform 5"/>
          <p:cNvSpPr/>
          <p:nvPr/>
        </p:nvSpPr>
        <p:spPr>
          <a:xfrm rot="16200000" flipH="1" flipV="1">
            <a:off x="15002550" y="7096800"/>
            <a:ext cx="2574203" cy="3996697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6561" t="-50835" r="-116025" b="759"/>
            </a:stretch>
          </a:blipFill>
        </p:spPr>
      </p:sp>
      <p:sp>
        <p:nvSpPr>
          <p:cNvPr id="6" name="Freeform 6"/>
          <p:cNvSpPr/>
          <p:nvPr/>
        </p:nvSpPr>
        <p:spPr>
          <a:xfrm rot="7488824">
            <a:off x="-154836" y="7959209"/>
            <a:ext cx="2285948" cy="3931327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40875" r="-34344" b="-6769"/>
            </a:stretch>
          </a:blipFill>
        </p:spPr>
      </p:sp>
      <p:sp>
        <p:nvSpPr>
          <p:cNvPr id="7" name="Freeform 7"/>
          <p:cNvSpPr/>
          <p:nvPr/>
        </p:nvSpPr>
        <p:spPr>
          <a:xfrm rot="7488824">
            <a:off x="16683390" y="-941957"/>
            <a:ext cx="2343316" cy="3633534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31055" t="-51692" b="-8052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634754" y="3963894"/>
            <a:ext cx="13018493" cy="2130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89"/>
              </a:lnSpc>
            </a:pPr>
            <a:r>
              <a:rPr lang="en-US" sz="12492" b="1">
                <a:solidFill>
                  <a:srgbClr val="0C3571"/>
                </a:solidFill>
                <a:latin typeface="Montserrat" panose="00000500000000000000" pitchFamily="2" charset="0"/>
                <a:ea typeface="Anantason Bold"/>
                <a:cs typeface="Anantason Bold"/>
                <a:sym typeface="Anantason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588</TotalTime>
  <Words>3021</Words>
  <Application>Microsoft Office PowerPoint</Application>
  <PresentationFormat>Custom</PresentationFormat>
  <Paragraphs>412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7" baseType="lpstr">
      <vt:lpstr>Arial</vt:lpstr>
      <vt:lpstr>Calibri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Modern Futuristic Presentation</dc:title>
  <dc:creator>Luu Bao</dc:creator>
  <cp:lastModifiedBy>soundless1200@gmail.com</cp:lastModifiedBy>
  <cp:revision>25</cp:revision>
  <dcterms:created xsi:type="dcterms:W3CDTF">2006-08-16T00:00:00Z</dcterms:created>
  <dcterms:modified xsi:type="dcterms:W3CDTF">2026-04-04T13:46:58Z</dcterms:modified>
  <dc:identifier>DAHCNUvnxOo</dc:identifier>
</cp:coreProperties>
</file>